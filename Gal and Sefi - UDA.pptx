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6858000" cx="12192000"/>
  <p:notesSz cx="6858000" cy="9144000"/>
  <p:embeddedFontLst>
    <p:embeddedFont>
      <p:font typeface="Lato Light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5" roundtripDataSignature="AMtx7miY+2S9RQV3jO13GItOfjdWQGn9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281D4F-7814-41DC-AEF5-D366FE16D3E2}">
  <a:tblStyle styleId="{9B281D4F-7814-41DC-AEF5-D366FE16D3E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LatoLight-bold.fntdata"/><Relationship Id="rId41" Type="http://schemas.openxmlformats.org/officeDocument/2006/relationships/font" Target="fonts/LatoLight-regular.fntdata"/><Relationship Id="rId22" Type="http://schemas.openxmlformats.org/officeDocument/2006/relationships/slide" Target="slides/slide17.xml"/><Relationship Id="rId44" Type="http://schemas.openxmlformats.org/officeDocument/2006/relationships/font" Target="fonts/LatoLight-boldItalic.fntdata"/><Relationship Id="rId21" Type="http://schemas.openxmlformats.org/officeDocument/2006/relationships/slide" Target="slides/slide16.xml"/><Relationship Id="rId43" Type="http://schemas.openxmlformats.org/officeDocument/2006/relationships/font" Target="fonts/LatoLight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4bc63804a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a4bc63804a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4bc63804a_0_1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a4bc63804a_0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4bc63804a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a4bc63804a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a4bc63804a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955f04a97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a955f04a97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9a12b22c6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a9a12b22c6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a9a12b22c6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9a12b22c6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a9a12b22c6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a9a12b22c6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9a12b22c6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a9a12b22c6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a9a12b22c6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9a12b22c6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a9a12b22c6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a9a12b22c6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9a12b22c6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a9a12b22c6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a9a12b22c6_0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955f04a9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a955f04a9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955f04a97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a955f04a97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955f04a97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a955f04a97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9657769a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a9657769a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9657769a9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a9657769a9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9657769a9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a9657769a9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acabe04751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acabe04751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cabe04751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acabe04751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acabe04751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acabe04751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acabe04751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acabe04751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cabe04751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acabe04751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acabe04751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acabe04751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acabe04751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acabe04751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acabe04751_0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acabe04751_0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acabe04751_0_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acabe04751_0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acabe04751_0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acabe04751_0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acabe04751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acabe04751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a4bc63804a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a4bc63804a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cityscapes-dataset.com/" TargetMode="External"/><Relationship Id="rId4" Type="http://schemas.openxmlformats.org/officeDocument/2006/relationships/image" Target="../media/image8.png"/><Relationship Id="rId10" Type="http://schemas.openxmlformats.org/officeDocument/2006/relationships/image" Target="../media/image3.png"/><Relationship Id="rId9" Type="http://schemas.openxmlformats.org/officeDocument/2006/relationships/image" Target="../media/image2.png"/><Relationship Id="rId5" Type="http://schemas.openxmlformats.org/officeDocument/2006/relationships/hyperlink" Target="https://bair.berkeley.edu/blog/2018/05/30/bdd/" TargetMode="External"/><Relationship Id="rId6" Type="http://schemas.openxmlformats.org/officeDocument/2006/relationships/image" Target="../media/image11.png"/><Relationship Id="rId7" Type="http://schemas.openxmlformats.org/officeDocument/2006/relationships/image" Target="../media/image4.png"/><Relationship Id="rId8" Type="http://schemas.openxmlformats.org/officeDocument/2006/relationships/hyperlink" Target="https://arxiv.org/html/2502.12303v1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openaccess.thecvf.com/content_CVPRW_2019/papers/WAD/Biasetton_Unsupervised_Domain_Adaptation_for_Semantic_Segmentation_of_Urban_Scenes_CVPRW_2019_paper.pdf?utm_source=chatgpt.com" TargetMode="External"/><Relationship Id="rId4" Type="http://schemas.openxmlformats.org/officeDocument/2006/relationships/hyperlink" Target="https://arxiv.org/pdf/2111.14887" TargetMode="External"/><Relationship Id="rId10" Type="http://schemas.openxmlformats.org/officeDocument/2006/relationships/hyperlink" Target="https://ieeexplore.ieee.org/stamp/stamp.jsp?arnumber=10839383" TargetMode="External"/><Relationship Id="rId9" Type="http://schemas.openxmlformats.org/officeDocument/2006/relationships/hyperlink" Target="https://arxiv.org/pdf/2405.06502" TargetMode="External"/><Relationship Id="rId5" Type="http://schemas.openxmlformats.org/officeDocument/2006/relationships/hyperlink" Target="https://ieeexplore.ieee.org/stamp/stamp.jsp?arnumber=10973315" TargetMode="External"/><Relationship Id="rId6" Type="http://schemas.openxmlformats.org/officeDocument/2006/relationships/hyperlink" Target="https://arxiv.org/pdf/2406.18809" TargetMode="External"/><Relationship Id="rId7" Type="http://schemas.openxmlformats.org/officeDocument/2006/relationships/hyperlink" Target="https://arxiv.org/pdf/2307.09676" TargetMode="External"/><Relationship Id="rId8" Type="http://schemas.openxmlformats.org/officeDocument/2006/relationships/hyperlink" Target="https://repositorio.unesp.br/server/api/core/bitstreams/46f72f98-aaec-4b99-aca9-fcf55790fda2/content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765258" y="121443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3B71"/>
              </a:buClr>
              <a:buSzPts val="4400"/>
              <a:buFont typeface="Calibri"/>
              <a:buNone/>
            </a:pPr>
            <a:r>
              <a:rPr b="1" i="1" lang="en-US" sz="4400">
                <a:solidFill>
                  <a:srgbClr val="133B71"/>
                </a:solidFill>
              </a:rPr>
              <a:t>Unsupervised Domain Adaptation for Urban Scene Understanding in Autonomous Driving</a:t>
            </a:r>
            <a:endParaRPr b="1" i="1" sz="4400">
              <a:solidFill>
                <a:srgbClr val="133B71"/>
              </a:solidFill>
            </a:endParaRPr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872879" y="3602037"/>
            <a:ext cx="9144000" cy="2387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Project Proposal – Computer Vision Course</a:t>
            </a:r>
            <a:br>
              <a:rPr lang="en-US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Dr. Yehudit Aperstein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Gal Hanuna, 205857675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Sefi Perez, 211485891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grpSp>
        <p:nvGrpSpPr>
          <p:cNvPr id="90" name="Google Shape;90;p1"/>
          <p:cNvGrpSpPr/>
          <p:nvPr/>
        </p:nvGrpSpPr>
        <p:grpSpPr>
          <a:xfrm>
            <a:off x="9837511" y="735"/>
            <a:ext cx="1660977" cy="6857265"/>
            <a:chOff x="457190" y="735"/>
            <a:chExt cx="954077" cy="5142029"/>
          </a:xfrm>
        </p:grpSpPr>
        <p:sp>
          <p:nvSpPr>
            <p:cNvPr id="91" name="Google Shape;91;p1"/>
            <p:cNvSpPr/>
            <p:nvPr/>
          </p:nvSpPr>
          <p:spPr>
            <a:xfrm>
              <a:off x="457190" y="735"/>
              <a:ext cx="954077" cy="5142029"/>
            </a:xfrm>
            <a:custGeom>
              <a:rect b="b" l="l" r="r" t="t"/>
              <a:pathLst>
                <a:path extrusionOk="0" h="11008" w="2040">
                  <a:moveTo>
                    <a:pt x="0" y="0"/>
                  </a:moveTo>
                  <a:lnTo>
                    <a:pt x="2039" y="0"/>
                  </a:lnTo>
                  <a:lnTo>
                    <a:pt x="2039" y="11007"/>
                  </a:lnTo>
                  <a:lnTo>
                    <a:pt x="0" y="11007"/>
                  </a:lnTo>
                  <a:lnTo>
                    <a:pt x="0" y="0"/>
                  </a:lnTo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7F7F7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539614" y="4855"/>
              <a:ext cx="788537" cy="5133319"/>
            </a:xfrm>
            <a:custGeom>
              <a:rect b="b" l="l" r="r" t="t"/>
              <a:pathLst>
                <a:path extrusionOk="0" h="13688850" w="2102766">
                  <a:moveTo>
                    <a:pt x="1032801" y="13205436"/>
                  </a:moveTo>
                  <a:lnTo>
                    <a:pt x="1097456" y="13205436"/>
                  </a:lnTo>
                  <a:lnTo>
                    <a:pt x="1097456" y="13688850"/>
                  </a:lnTo>
                  <a:lnTo>
                    <a:pt x="1032801" y="13688850"/>
                  </a:lnTo>
                  <a:close/>
                  <a:moveTo>
                    <a:pt x="1032801" y="12190016"/>
                  </a:moveTo>
                  <a:lnTo>
                    <a:pt x="1097456" y="12190016"/>
                  </a:lnTo>
                  <a:lnTo>
                    <a:pt x="1097456" y="12698349"/>
                  </a:lnTo>
                  <a:lnTo>
                    <a:pt x="1032801" y="12698349"/>
                  </a:lnTo>
                  <a:close/>
                  <a:moveTo>
                    <a:pt x="1032801" y="11173351"/>
                  </a:moveTo>
                  <a:lnTo>
                    <a:pt x="1097456" y="11173351"/>
                  </a:lnTo>
                  <a:lnTo>
                    <a:pt x="1097456" y="11681684"/>
                  </a:lnTo>
                  <a:lnTo>
                    <a:pt x="1032801" y="11681684"/>
                  </a:lnTo>
                  <a:close/>
                  <a:moveTo>
                    <a:pt x="1032801" y="10157932"/>
                  </a:moveTo>
                  <a:lnTo>
                    <a:pt x="1097456" y="10157932"/>
                  </a:lnTo>
                  <a:lnTo>
                    <a:pt x="1097456" y="10666264"/>
                  </a:lnTo>
                  <a:lnTo>
                    <a:pt x="1032801" y="10666264"/>
                  </a:lnTo>
                  <a:close/>
                  <a:moveTo>
                    <a:pt x="1032801" y="9142512"/>
                  </a:moveTo>
                  <a:lnTo>
                    <a:pt x="1097456" y="9142512"/>
                  </a:lnTo>
                  <a:lnTo>
                    <a:pt x="1097456" y="9649599"/>
                  </a:lnTo>
                  <a:lnTo>
                    <a:pt x="1032801" y="9649599"/>
                  </a:lnTo>
                  <a:close/>
                  <a:moveTo>
                    <a:pt x="1032801" y="8125847"/>
                  </a:moveTo>
                  <a:lnTo>
                    <a:pt x="1097456" y="8125847"/>
                  </a:lnTo>
                  <a:lnTo>
                    <a:pt x="1097456" y="8634180"/>
                  </a:lnTo>
                  <a:lnTo>
                    <a:pt x="1032801" y="8634180"/>
                  </a:lnTo>
                  <a:close/>
                  <a:moveTo>
                    <a:pt x="1032801" y="7110428"/>
                  </a:moveTo>
                  <a:lnTo>
                    <a:pt x="1097456" y="7110428"/>
                  </a:lnTo>
                  <a:lnTo>
                    <a:pt x="1097456" y="7618760"/>
                  </a:lnTo>
                  <a:lnTo>
                    <a:pt x="1032801" y="7618760"/>
                  </a:lnTo>
                  <a:close/>
                  <a:moveTo>
                    <a:pt x="1032801" y="6096255"/>
                  </a:moveTo>
                  <a:lnTo>
                    <a:pt x="1097456" y="6096255"/>
                  </a:lnTo>
                  <a:lnTo>
                    <a:pt x="1097456" y="6603341"/>
                  </a:lnTo>
                  <a:lnTo>
                    <a:pt x="1032801" y="6603341"/>
                  </a:lnTo>
                  <a:close/>
                  <a:moveTo>
                    <a:pt x="1032801" y="5079589"/>
                  </a:moveTo>
                  <a:lnTo>
                    <a:pt x="1097456" y="5079589"/>
                  </a:lnTo>
                  <a:lnTo>
                    <a:pt x="1097456" y="5587922"/>
                  </a:lnTo>
                  <a:lnTo>
                    <a:pt x="1032801" y="5587922"/>
                  </a:lnTo>
                  <a:close/>
                  <a:moveTo>
                    <a:pt x="1032801" y="4064170"/>
                  </a:moveTo>
                  <a:lnTo>
                    <a:pt x="1097456" y="4064170"/>
                  </a:lnTo>
                  <a:lnTo>
                    <a:pt x="1097456" y="4572502"/>
                  </a:lnTo>
                  <a:lnTo>
                    <a:pt x="1032801" y="4572502"/>
                  </a:lnTo>
                  <a:close/>
                  <a:moveTo>
                    <a:pt x="1032801" y="3048751"/>
                  </a:moveTo>
                  <a:lnTo>
                    <a:pt x="1097456" y="3048751"/>
                  </a:lnTo>
                  <a:lnTo>
                    <a:pt x="1097456" y="3555837"/>
                  </a:lnTo>
                  <a:lnTo>
                    <a:pt x="1032801" y="3555837"/>
                  </a:lnTo>
                  <a:close/>
                  <a:moveTo>
                    <a:pt x="1032801" y="2032085"/>
                  </a:moveTo>
                  <a:lnTo>
                    <a:pt x="1097456" y="2032085"/>
                  </a:lnTo>
                  <a:lnTo>
                    <a:pt x="1097456" y="2540418"/>
                  </a:lnTo>
                  <a:lnTo>
                    <a:pt x="1032801" y="2540418"/>
                  </a:lnTo>
                  <a:close/>
                  <a:moveTo>
                    <a:pt x="1032801" y="1016666"/>
                  </a:moveTo>
                  <a:lnTo>
                    <a:pt x="1097456" y="1016666"/>
                  </a:lnTo>
                  <a:lnTo>
                    <a:pt x="1097456" y="1523752"/>
                  </a:lnTo>
                  <a:lnTo>
                    <a:pt x="1032801" y="1523752"/>
                  </a:lnTo>
                  <a:close/>
                  <a:moveTo>
                    <a:pt x="1032801" y="0"/>
                  </a:moveTo>
                  <a:lnTo>
                    <a:pt x="1097456" y="0"/>
                  </a:lnTo>
                  <a:lnTo>
                    <a:pt x="1097456" y="508333"/>
                  </a:lnTo>
                  <a:lnTo>
                    <a:pt x="1032801" y="508333"/>
                  </a:lnTo>
                  <a:close/>
                  <a:moveTo>
                    <a:pt x="0" y="0"/>
                  </a:moveTo>
                  <a:lnTo>
                    <a:pt x="64655" y="0"/>
                  </a:lnTo>
                  <a:lnTo>
                    <a:pt x="64655" y="13688850"/>
                  </a:lnTo>
                  <a:lnTo>
                    <a:pt x="0" y="13688850"/>
                  </a:lnTo>
                  <a:close/>
                  <a:moveTo>
                    <a:pt x="2038135" y="0"/>
                  </a:moveTo>
                  <a:lnTo>
                    <a:pt x="2102766" y="0"/>
                  </a:lnTo>
                  <a:lnTo>
                    <a:pt x="2102766" y="13688850"/>
                  </a:lnTo>
                  <a:lnTo>
                    <a:pt x="2038135" y="136888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7F7F7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4bc63804a_0_6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3B71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133B71"/>
                </a:solidFill>
              </a:rPr>
              <a:t>Autonomous Driving</a:t>
            </a:r>
            <a:endParaRPr b="1">
              <a:solidFill>
                <a:srgbClr val="133B71"/>
              </a:solidFill>
            </a:endParaRPr>
          </a:p>
        </p:txBody>
      </p:sp>
      <p:pic>
        <p:nvPicPr>
          <p:cNvPr id="98" name="Google Shape;98;g3a4bc63804a_0_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1175" y="2292175"/>
            <a:ext cx="4307150" cy="202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3a4bc63804a_0_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1175" y="4528830"/>
            <a:ext cx="4307150" cy="2024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3a4bc63804a_0_62"/>
          <p:cNvPicPr preferRelativeResize="0"/>
          <p:nvPr/>
        </p:nvPicPr>
        <p:blipFill rotWithShape="1">
          <a:blip r:embed="rId5">
            <a:alphaModFix/>
          </a:blip>
          <a:srcRect b="6550" l="0" r="0" t="0"/>
          <a:stretch/>
        </p:blipFill>
        <p:spPr>
          <a:xfrm>
            <a:off x="1827675" y="2199251"/>
            <a:ext cx="3836927" cy="2325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3a4bc63804a_0_62"/>
          <p:cNvPicPr preferRelativeResize="0"/>
          <p:nvPr/>
        </p:nvPicPr>
        <p:blipFill rotWithShape="1">
          <a:blip r:embed="rId6">
            <a:alphaModFix/>
          </a:blip>
          <a:srcRect b="0" l="0" r="-4079" t="0"/>
          <a:stretch/>
        </p:blipFill>
        <p:spPr>
          <a:xfrm>
            <a:off x="1827675" y="4676250"/>
            <a:ext cx="3993500" cy="187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3B71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133B71"/>
                </a:solidFill>
              </a:rPr>
              <a:t>Motivation</a:t>
            </a:r>
            <a:endParaRPr b="1">
              <a:solidFill>
                <a:srgbClr val="133B71"/>
              </a:solidFill>
            </a:endParaRPr>
          </a:p>
        </p:txBody>
      </p:sp>
      <p:sp>
        <p:nvSpPr>
          <p:cNvPr id="107" name="Google Shape;107;p2"/>
          <p:cNvSpPr txBox="1"/>
          <p:nvPr>
            <p:ph idx="1" type="body"/>
          </p:nvPr>
        </p:nvSpPr>
        <p:spPr>
          <a:xfrm>
            <a:off x="1199939" y="1825625"/>
            <a:ext cx="10515600" cy="3630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Developing perception systems requires large labeled datasets, which take significant time and resources to create.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In many regions, data collection is limited by privacy rules, regulations or dependence on external cooperation.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Models trained in one country often struggle when deployed in a different environment and may require additional adaptation.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Performance also drops under challenging weather conditions such as fog, rain, snow or nighttime.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Collecting and labeling data for every possible environment and condition is unrealistic and costly.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616477" y="5354425"/>
            <a:ext cx="5743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 models to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 automatically to new domains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without additional labeled data.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9" name="Google Shape;109;p2"/>
          <p:cNvGrpSpPr/>
          <p:nvPr/>
        </p:nvGrpSpPr>
        <p:grpSpPr>
          <a:xfrm>
            <a:off x="616470" y="1825625"/>
            <a:ext cx="443459" cy="3052899"/>
            <a:chOff x="208925" y="1825625"/>
            <a:chExt cx="443459" cy="3052899"/>
          </a:xfrm>
        </p:grpSpPr>
        <p:grpSp>
          <p:nvGrpSpPr>
            <p:cNvPr id="110" name="Google Shape;110;p2"/>
            <p:cNvGrpSpPr/>
            <p:nvPr/>
          </p:nvGrpSpPr>
          <p:grpSpPr>
            <a:xfrm>
              <a:off x="211879" y="1825625"/>
              <a:ext cx="440505" cy="290018"/>
              <a:chOff x="5727616" y="4204699"/>
              <a:chExt cx="440505" cy="290018"/>
            </a:xfrm>
          </p:grpSpPr>
          <p:sp>
            <p:nvSpPr>
              <p:cNvPr id="111" name="Google Shape;111;p2"/>
              <p:cNvSpPr/>
              <p:nvPr/>
            </p:nvSpPr>
            <p:spPr>
              <a:xfrm>
                <a:off x="5727616" y="4204699"/>
                <a:ext cx="440505" cy="290018"/>
              </a:xfrm>
              <a:custGeom>
                <a:rect b="b" l="l" r="r" t="t"/>
                <a:pathLst>
                  <a:path extrusionOk="0" h="9133" w="13872">
                    <a:moveTo>
                      <a:pt x="13145" y="4465"/>
                    </a:moveTo>
                    <a:lnTo>
                      <a:pt x="13145" y="4870"/>
                    </a:lnTo>
                    <a:lnTo>
                      <a:pt x="12752" y="4870"/>
                    </a:lnTo>
                    <a:lnTo>
                      <a:pt x="12752" y="4465"/>
                    </a:lnTo>
                    <a:close/>
                    <a:moveTo>
                      <a:pt x="1275" y="3941"/>
                    </a:moveTo>
                    <a:lnTo>
                      <a:pt x="1275" y="4430"/>
                    </a:lnTo>
                    <a:cubicBezTo>
                      <a:pt x="1275" y="4775"/>
                      <a:pt x="1013" y="5049"/>
                      <a:pt x="668" y="5049"/>
                    </a:cubicBezTo>
                    <a:lnTo>
                      <a:pt x="418" y="5049"/>
                    </a:lnTo>
                    <a:cubicBezTo>
                      <a:pt x="501" y="4549"/>
                      <a:pt x="810" y="4120"/>
                      <a:pt x="1275" y="3941"/>
                    </a:cubicBezTo>
                    <a:close/>
                    <a:moveTo>
                      <a:pt x="9121" y="417"/>
                    </a:moveTo>
                    <a:cubicBezTo>
                      <a:pt x="9562" y="417"/>
                      <a:pt x="9978" y="620"/>
                      <a:pt x="10252" y="977"/>
                    </a:cubicBezTo>
                    <a:lnTo>
                      <a:pt x="12205" y="3584"/>
                    </a:lnTo>
                    <a:cubicBezTo>
                      <a:pt x="12240" y="3632"/>
                      <a:pt x="12300" y="3656"/>
                      <a:pt x="12360" y="3656"/>
                    </a:cubicBezTo>
                    <a:lnTo>
                      <a:pt x="13312" y="3656"/>
                    </a:lnTo>
                    <a:cubicBezTo>
                      <a:pt x="13431" y="3656"/>
                      <a:pt x="13514" y="3775"/>
                      <a:pt x="13467" y="3882"/>
                    </a:cubicBezTo>
                    <a:lnTo>
                      <a:pt x="13372" y="4060"/>
                    </a:lnTo>
                    <a:lnTo>
                      <a:pt x="12574" y="4060"/>
                    </a:lnTo>
                    <a:cubicBezTo>
                      <a:pt x="12455" y="4060"/>
                      <a:pt x="12360" y="4156"/>
                      <a:pt x="12360" y="4275"/>
                    </a:cubicBezTo>
                    <a:lnTo>
                      <a:pt x="12360" y="5084"/>
                    </a:lnTo>
                    <a:cubicBezTo>
                      <a:pt x="12360" y="5203"/>
                      <a:pt x="12455" y="5299"/>
                      <a:pt x="12574" y="5299"/>
                    </a:cubicBezTo>
                    <a:lnTo>
                      <a:pt x="13181" y="5299"/>
                    </a:lnTo>
                    <a:lnTo>
                      <a:pt x="13181" y="5596"/>
                    </a:lnTo>
                    <a:cubicBezTo>
                      <a:pt x="13181" y="5787"/>
                      <a:pt x="13252" y="5977"/>
                      <a:pt x="13395" y="6096"/>
                    </a:cubicBezTo>
                    <a:cubicBezTo>
                      <a:pt x="13455" y="6156"/>
                      <a:pt x="13479" y="6227"/>
                      <a:pt x="13479" y="6323"/>
                    </a:cubicBezTo>
                    <a:lnTo>
                      <a:pt x="13479" y="6692"/>
                    </a:lnTo>
                    <a:lnTo>
                      <a:pt x="13443" y="6692"/>
                    </a:lnTo>
                    <a:cubicBezTo>
                      <a:pt x="13443" y="7037"/>
                      <a:pt x="13181" y="7311"/>
                      <a:pt x="12836" y="7311"/>
                    </a:cubicBezTo>
                    <a:lnTo>
                      <a:pt x="12526" y="7311"/>
                    </a:lnTo>
                    <a:cubicBezTo>
                      <a:pt x="12419" y="6501"/>
                      <a:pt x="11740" y="5894"/>
                      <a:pt x="10919" y="5894"/>
                    </a:cubicBezTo>
                    <a:cubicBezTo>
                      <a:pt x="10097" y="5894"/>
                      <a:pt x="9419" y="6513"/>
                      <a:pt x="9312" y="7311"/>
                    </a:cubicBezTo>
                    <a:lnTo>
                      <a:pt x="4061" y="7311"/>
                    </a:lnTo>
                    <a:cubicBezTo>
                      <a:pt x="3954" y="6501"/>
                      <a:pt x="3275" y="5894"/>
                      <a:pt x="2454" y="5894"/>
                    </a:cubicBezTo>
                    <a:cubicBezTo>
                      <a:pt x="1632" y="5894"/>
                      <a:pt x="965" y="6501"/>
                      <a:pt x="846" y="7275"/>
                    </a:cubicBezTo>
                    <a:cubicBezTo>
                      <a:pt x="608" y="7204"/>
                      <a:pt x="429" y="6966"/>
                      <a:pt x="429" y="6692"/>
                    </a:cubicBezTo>
                    <a:lnTo>
                      <a:pt x="429" y="5465"/>
                    </a:lnTo>
                    <a:lnTo>
                      <a:pt x="691" y="5465"/>
                    </a:lnTo>
                    <a:cubicBezTo>
                      <a:pt x="1263" y="5465"/>
                      <a:pt x="1703" y="5001"/>
                      <a:pt x="1703" y="4453"/>
                    </a:cubicBezTo>
                    <a:lnTo>
                      <a:pt x="1703" y="3822"/>
                    </a:lnTo>
                    <a:lnTo>
                      <a:pt x="2406" y="3644"/>
                    </a:lnTo>
                    <a:cubicBezTo>
                      <a:pt x="2465" y="3632"/>
                      <a:pt x="2513" y="3596"/>
                      <a:pt x="2525" y="3560"/>
                    </a:cubicBezTo>
                    <a:lnTo>
                      <a:pt x="3954" y="1120"/>
                    </a:lnTo>
                    <a:cubicBezTo>
                      <a:pt x="4204" y="679"/>
                      <a:pt x="4680" y="417"/>
                      <a:pt x="5180" y="417"/>
                    </a:cubicBezTo>
                    <a:close/>
                    <a:moveTo>
                      <a:pt x="2430" y="6275"/>
                    </a:moveTo>
                    <a:cubicBezTo>
                      <a:pt x="3108" y="6275"/>
                      <a:pt x="3656" y="6823"/>
                      <a:pt x="3656" y="7501"/>
                    </a:cubicBezTo>
                    <a:cubicBezTo>
                      <a:pt x="3656" y="8168"/>
                      <a:pt x="3108" y="8716"/>
                      <a:pt x="2430" y="8716"/>
                    </a:cubicBezTo>
                    <a:cubicBezTo>
                      <a:pt x="1763" y="8716"/>
                      <a:pt x="1215" y="8168"/>
                      <a:pt x="1215" y="7501"/>
                    </a:cubicBezTo>
                    <a:cubicBezTo>
                      <a:pt x="1215" y="6823"/>
                      <a:pt x="1763" y="6275"/>
                      <a:pt x="2430" y="6275"/>
                    </a:cubicBezTo>
                    <a:close/>
                    <a:moveTo>
                      <a:pt x="10919" y="6275"/>
                    </a:moveTo>
                    <a:cubicBezTo>
                      <a:pt x="11586" y="6275"/>
                      <a:pt x="12145" y="6823"/>
                      <a:pt x="12145" y="7501"/>
                    </a:cubicBezTo>
                    <a:cubicBezTo>
                      <a:pt x="12145" y="8168"/>
                      <a:pt x="11586" y="8716"/>
                      <a:pt x="10919" y="8716"/>
                    </a:cubicBezTo>
                    <a:cubicBezTo>
                      <a:pt x="10252" y="8716"/>
                      <a:pt x="9693" y="8168"/>
                      <a:pt x="9693" y="7501"/>
                    </a:cubicBezTo>
                    <a:cubicBezTo>
                      <a:pt x="9693" y="6823"/>
                      <a:pt x="10252" y="6275"/>
                      <a:pt x="10919" y="6275"/>
                    </a:cubicBezTo>
                    <a:close/>
                    <a:moveTo>
                      <a:pt x="5144" y="0"/>
                    </a:moveTo>
                    <a:cubicBezTo>
                      <a:pt x="4501" y="0"/>
                      <a:pt x="3894" y="334"/>
                      <a:pt x="3573" y="905"/>
                    </a:cubicBezTo>
                    <a:lnTo>
                      <a:pt x="2180" y="3275"/>
                    </a:lnTo>
                    <a:lnTo>
                      <a:pt x="1430" y="3465"/>
                    </a:lnTo>
                    <a:cubicBezTo>
                      <a:pt x="489" y="3703"/>
                      <a:pt x="1" y="4477"/>
                      <a:pt x="1" y="5251"/>
                    </a:cubicBezTo>
                    <a:lnTo>
                      <a:pt x="1" y="6692"/>
                    </a:lnTo>
                    <a:cubicBezTo>
                      <a:pt x="1" y="7180"/>
                      <a:pt x="358" y="7608"/>
                      <a:pt x="810" y="7692"/>
                    </a:cubicBezTo>
                    <a:cubicBezTo>
                      <a:pt x="906" y="8501"/>
                      <a:pt x="1584" y="9132"/>
                      <a:pt x="2418" y="9132"/>
                    </a:cubicBezTo>
                    <a:cubicBezTo>
                      <a:pt x="3251" y="9132"/>
                      <a:pt x="3930" y="8513"/>
                      <a:pt x="4025" y="7728"/>
                    </a:cubicBezTo>
                    <a:lnTo>
                      <a:pt x="9300" y="7728"/>
                    </a:lnTo>
                    <a:cubicBezTo>
                      <a:pt x="9407" y="8525"/>
                      <a:pt x="10085" y="9132"/>
                      <a:pt x="10907" y="9132"/>
                    </a:cubicBezTo>
                    <a:cubicBezTo>
                      <a:pt x="11740" y="9132"/>
                      <a:pt x="12407" y="8513"/>
                      <a:pt x="12514" y="7728"/>
                    </a:cubicBezTo>
                    <a:lnTo>
                      <a:pt x="12824" y="7728"/>
                    </a:lnTo>
                    <a:cubicBezTo>
                      <a:pt x="13395" y="7728"/>
                      <a:pt x="13836" y="7263"/>
                      <a:pt x="13836" y="6716"/>
                    </a:cubicBezTo>
                    <a:lnTo>
                      <a:pt x="13836" y="6299"/>
                    </a:lnTo>
                    <a:cubicBezTo>
                      <a:pt x="13848" y="6096"/>
                      <a:pt x="13776" y="5918"/>
                      <a:pt x="13645" y="5787"/>
                    </a:cubicBezTo>
                    <a:cubicBezTo>
                      <a:pt x="13586" y="5727"/>
                      <a:pt x="13550" y="5656"/>
                      <a:pt x="13550" y="5561"/>
                    </a:cubicBezTo>
                    <a:lnTo>
                      <a:pt x="13550" y="4572"/>
                    </a:lnTo>
                    <a:lnTo>
                      <a:pt x="13788" y="4037"/>
                    </a:lnTo>
                    <a:cubicBezTo>
                      <a:pt x="13872" y="3846"/>
                      <a:pt x="13872" y="3656"/>
                      <a:pt x="13764" y="3501"/>
                    </a:cubicBezTo>
                    <a:cubicBezTo>
                      <a:pt x="13657" y="3334"/>
                      <a:pt x="13479" y="3239"/>
                      <a:pt x="13288" y="3239"/>
                    </a:cubicBezTo>
                    <a:lnTo>
                      <a:pt x="12443" y="3239"/>
                    </a:lnTo>
                    <a:lnTo>
                      <a:pt x="10550" y="727"/>
                    </a:lnTo>
                    <a:cubicBezTo>
                      <a:pt x="10204" y="262"/>
                      <a:pt x="9657" y="0"/>
                      <a:pt x="908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5779789" y="4416409"/>
                <a:ext cx="52205" cy="51475"/>
              </a:xfrm>
              <a:custGeom>
                <a:rect b="b" l="l" r="r" t="t"/>
                <a:pathLst>
                  <a:path extrusionOk="0" h="1621" w="1644">
                    <a:moveTo>
                      <a:pt x="811" y="1"/>
                    </a:moveTo>
                    <a:cubicBezTo>
                      <a:pt x="584" y="1"/>
                      <a:pt x="394" y="84"/>
                      <a:pt x="239" y="239"/>
                    </a:cubicBezTo>
                    <a:cubicBezTo>
                      <a:pt x="96" y="382"/>
                      <a:pt x="1" y="596"/>
                      <a:pt x="1" y="799"/>
                    </a:cubicBezTo>
                    <a:cubicBezTo>
                      <a:pt x="1" y="1263"/>
                      <a:pt x="382" y="1620"/>
                      <a:pt x="822" y="1620"/>
                    </a:cubicBezTo>
                    <a:cubicBezTo>
                      <a:pt x="1275" y="1620"/>
                      <a:pt x="1644" y="1263"/>
                      <a:pt x="1644" y="799"/>
                    </a:cubicBezTo>
                    <a:cubicBezTo>
                      <a:pt x="1644" y="739"/>
                      <a:pt x="1632" y="668"/>
                      <a:pt x="1608" y="608"/>
                    </a:cubicBezTo>
                    <a:cubicBezTo>
                      <a:pt x="1557" y="546"/>
                      <a:pt x="1478" y="484"/>
                      <a:pt x="1389" y="484"/>
                    </a:cubicBezTo>
                    <a:cubicBezTo>
                      <a:pt x="1375" y="484"/>
                      <a:pt x="1361" y="486"/>
                      <a:pt x="1346" y="489"/>
                    </a:cubicBezTo>
                    <a:cubicBezTo>
                      <a:pt x="1239" y="525"/>
                      <a:pt x="1168" y="620"/>
                      <a:pt x="1192" y="727"/>
                    </a:cubicBezTo>
                    <a:cubicBezTo>
                      <a:pt x="1203" y="763"/>
                      <a:pt x="1203" y="787"/>
                      <a:pt x="1203" y="822"/>
                    </a:cubicBezTo>
                    <a:cubicBezTo>
                      <a:pt x="1203" y="1037"/>
                      <a:pt x="1025" y="1215"/>
                      <a:pt x="811" y="1215"/>
                    </a:cubicBezTo>
                    <a:cubicBezTo>
                      <a:pt x="584" y="1215"/>
                      <a:pt x="406" y="1037"/>
                      <a:pt x="406" y="822"/>
                    </a:cubicBezTo>
                    <a:cubicBezTo>
                      <a:pt x="406" y="596"/>
                      <a:pt x="584" y="418"/>
                      <a:pt x="811" y="418"/>
                    </a:cubicBezTo>
                    <a:cubicBezTo>
                      <a:pt x="930" y="418"/>
                      <a:pt x="1013" y="322"/>
                      <a:pt x="1013" y="203"/>
                    </a:cubicBezTo>
                    <a:cubicBezTo>
                      <a:pt x="1013" y="84"/>
                      <a:pt x="930" y="1"/>
                      <a:pt x="81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6048627" y="4416409"/>
                <a:ext cx="52205" cy="51856"/>
              </a:xfrm>
              <a:custGeom>
                <a:rect b="b" l="l" r="r" t="t"/>
                <a:pathLst>
                  <a:path extrusionOk="0" h="1633" w="1644">
                    <a:moveTo>
                      <a:pt x="822" y="1"/>
                    </a:moveTo>
                    <a:cubicBezTo>
                      <a:pt x="596" y="1"/>
                      <a:pt x="405" y="84"/>
                      <a:pt x="238" y="239"/>
                    </a:cubicBezTo>
                    <a:cubicBezTo>
                      <a:pt x="95" y="382"/>
                      <a:pt x="0" y="596"/>
                      <a:pt x="0" y="822"/>
                    </a:cubicBezTo>
                    <a:cubicBezTo>
                      <a:pt x="0" y="1263"/>
                      <a:pt x="381" y="1632"/>
                      <a:pt x="822" y="1632"/>
                    </a:cubicBezTo>
                    <a:cubicBezTo>
                      <a:pt x="1274" y="1632"/>
                      <a:pt x="1643" y="1275"/>
                      <a:pt x="1643" y="822"/>
                    </a:cubicBezTo>
                    <a:cubicBezTo>
                      <a:pt x="1643" y="763"/>
                      <a:pt x="1631" y="680"/>
                      <a:pt x="1608" y="620"/>
                    </a:cubicBezTo>
                    <a:cubicBezTo>
                      <a:pt x="1577" y="548"/>
                      <a:pt x="1492" y="484"/>
                      <a:pt x="1400" y="484"/>
                    </a:cubicBezTo>
                    <a:cubicBezTo>
                      <a:pt x="1386" y="484"/>
                      <a:pt x="1372" y="486"/>
                      <a:pt x="1358" y="489"/>
                    </a:cubicBezTo>
                    <a:cubicBezTo>
                      <a:pt x="1250" y="525"/>
                      <a:pt x="1179" y="620"/>
                      <a:pt x="1215" y="727"/>
                    </a:cubicBezTo>
                    <a:cubicBezTo>
                      <a:pt x="1227" y="763"/>
                      <a:pt x="1227" y="787"/>
                      <a:pt x="1227" y="822"/>
                    </a:cubicBezTo>
                    <a:cubicBezTo>
                      <a:pt x="1227" y="1037"/>
                      <a:pt x="1048" y="1215"/>
                      <a:pt x="822" y="1215"/>
                    </a:cubicBezTo>
                    <a:cubicBezTo>
                      <a:pt x="596" y="1215"/>
                      <a:pt x="417" y="1037"/>
                      <a:pt x="417" y="822"/>
                    </a:cubicBezTo>
                    <a:cubicBezTo>
                      <a:pt x="417" y="596"/>
                      <a:pt x="596" y="418"/>
                      <a:pt x="822" y="418"/>
                    </a:cubicBezTo>
                    <a:cubicBezTo>
                      <a:pt x="941" y="418"/>
                      <a:pt x="1036" y="322"/>
                      <a:pt x="1036" y="203"/>
                    </a:cubicBezTo>
                    <a:cubicBezTo>
                      <a:pt x="1036" y="84"/>
                      <a:pt x="941" y="1"/>
                      <a:pt x="82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6000995" y="4365379"/>
                <a:ext cx="122892" cy="58016"/>
              </a:xfrm>
              <a:custGeom>
                <a:rect b="b" l="l" r="r" t="t"/>
                <a:pathLst>
                  <a:path extrusionOk="0" h="1827" w="3870">
                    <a:moveTo>
                      <a:pt x="2310" y="1"/>
                    </a:moveTo>
                    <a:cubicBezTo>
                      <a:pt x="1810" y="1"/>
                      <a:pt x="1334" y="143"/>
                      <a:pt x="929" y="429"/>
                    </a:cubicBezTo>
                    <a:cubicBezTo>
                      <a:pt x="524" y="715"/>
                      <a:pt x="226" y="1096"/>
                      <a:pt x="48" y="1548"/>
                    </a:cubicBezTo>
                    <a:cubicBezTo>
                      <a:pt x="0" y="1656"/>
                      <a:pt x="60" y="1775"/>
                      <a:pt x="167" y="1810"/>
                    </a:cubicBezTo>
                    <a:cubicBezTo>
                      <a:pt x="192" y="1822"/>
                      <a:pt x="218" y="1827"/>
                      <a:pt x="244" y="1827"/>
                    </a:cubicBezTo>
                    <a:cubicBezTo>
                      <a:pt x="326" y="1827"/>
                      <a:pt x="404" y="1773"/>
                      <a:pt x="441" y="1691"/>
                    </a:cubicBezTo>
                    <a:cubicBezTo>
                      <a:pt x="738" y="917"/>
                      <a:pt x="1488" y="405"/>
                      <a:pt x="2322" y="405"/>
                    </a:cubicBezTo>
                    <a:cubicBezTo>
                      <a:pt x="2774" y="405"/>
                      <a:pt x="3191" y="536"/>
                      <a:pt x="3548" y="798"/>
                    </a:cubicBezTo>
                    <a:cubicBezTo>
                      <a:pt x="3581" y="831"/>
                      <a:pt x="3624" y="846"/>
                      <a:pt x="3667" y="846"/>
                    </a:cubicBezTo>
                    <a:cubicBezTo>
                      <a:pt x="3732" y="846"/>
                      <a:pt x="3798" y="813"/>
                      <a:pt x="3834" y="763"/>
                    </a:cubicBezTo>
                    <a:cubicBezTo>
                      <a:pt x="3870" y="679"/>
                      <a:pt x="3858" y="560"/>
                      <a:pt x="3774" y="489"/>
                    </a:cubicBezTo>
                    <a:cubicBezTo>
                      <a:pt x="3334" y="179"/>
                      <a:pt x="2846" y="1"/>
                      <a:pt x="2310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5816847" y="4230039"/>
                <a:ext cx="124797" cy="193610"/>
              </a:xfrm>
              <a:custGeom>
                <a:rect b="b" l="l" r="r" t="t"/>
                <a:pathLst>
                  <a:path extrusionOk="0" h="6097" w="3930">
                    <a:moveTo>
                      <a:pt x="3513" y="417"/>
                    </a:moveTo>
                    <a:lnTo>
                      <a:pt x="3513" y="2441"/>
                    </a:lnTo>
                    <a:lnTo>
                      <a:pt x="822" y="2441"/>
                    </a:lnTo>
                    <a:lnTo>
                      <a:pt x="1834" y="714"/>
                    </a:lnTo>
                    <a:cubicBezTo>
                      <a:pt x="1930" y="524"/>
                      <a:pt x="2144" y="417"/>
                      <a:pt x="2346" y="417"/>
                    </a:cubicBezTo>
                    <a:close/>
                    <a:moveTo>
                      <a:pt x="2346" y="0"/>
                    </a:moveTo>
                    <a:cubicBezTo>
                      <a:pt x="1989" y="0"/>
                      <a:pt x="1644" y="203"/>
                      <a:pt x="1465" y="512"/>
                    </a:cubicBezTo>
                    <a:lnTo>
                      <a:pt x="60" y="2917"/>
                    </a:lnTo>
                    <a:cubicBezTo>
                      <a:pt x="1" y="3024"/>
                      <a:pt x="25" y="3143"/>
                      <a:pt x="132" y="3203"/>
                    </a:cubicBezTo>
                    <a:cubicBezTo>
                      <a:pt x="155" y="3215"/>
                      <a:pt x="203" y="3239"/>
                      <a:pt x="239" y="3239"/>
                    </a:cubicBezTo>
                    <a:cubicBezTo>
                      <a:pt x="310" y="3239"/>
                      <a:pt x="370" y="3203"/>
                      <a:pt x="417" y="3131"/>
                    </a:cubicBezTo>
                    <a:lnTo>
                      <a:pt x="572" y="2846"/>
                    </a:lnTo>
                    <a:lnTo>
                      <a:pt x="3513" y="2846"/>
                    </a:lnTo>
                    <a:lnTo>
                      <a:pt x="3513" y="5882"/>
                    </a:lnTo>
                    <a:cubicBezTo>
                      <a:pt x="3513" y="6001"/>
                      <a:pt x="3596" y="6096"/>
                      <a:pt x="3715" y="6096"/>
                    </a:cubicBezTo>
                    <a:cubicBezTo>
                      <a:pt x="3835" y="6096"/>
                      <a:pt x="3930" y="6001"/>
                      <a:pt x="3930" y="5882"/>
                    </a:cubicBezTo>
                    <a:lnTo>
                      <a:pt x="3930" y="203"/>
                    </a:lnTo>
                    <a:cubicBezTo>
                      <a:pt x="3918" y="95"/>
                      <a:pt x="3823" y="0"/>
                      <a:pt x="371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5954474" y="4230039"/>
                <a:ext cx="120256" cy="102854"/>
              </a:xfrm>
              <a:custGeom>
                <a:rect b="b" l="l" r="r" t="t"/>
                <a:pathLst>
                  <a:path extrusionOk="0" h="3239" w="3787">
                    <a:moveTo>
                      <a:pt x="203" y="0"/>
                    </a:moveTo>
                    <a:cubicBezTo>
                      <a:pt x="84" y="0"/>
                      <a:pt x="1" y="95"/>
                      <a:pt x="1" y="214"/>
                    </a:cubicBezTo>
                    <a:lnTo>
                      <a:pt x="1" y="3024"/>
                    </a:lnTo>
                    <a:cubicBezTo>
                      <a:pt x="1" y="3143"/>
                      <a:pt x="84" y="3239"/>
                      <a:pt x="203" y="3239"/>
                    </a:cubicBezTo>
                    <a:cubicBezTo>
                      <a:pt x="322" y="3239"/>
                      <a:pt x="417" y="3143"/>
                      <a:pt x="417" y="3024"/>
                    </a:cubicBezTo>
                    <a:lnTo>
                      <a:pt x="417" y="405"/>
                    </a:lnTo>
                    <a:lnTo>
                      <a:pt x="1977" y="405"/>
                    </a:lnTo>
                    <a:cubicBezTo>
                      <a:pt x="2132" y="405"/>
                      <a:pt x="2322" y="512"/>
                      <a:pt x="2429" y="655"/>
                    </a:cubicBezTo>
                    <a:lnTo>
                      <a:pt x="3287" y="1786"/>
                    </a:lnTo>
                    <a:cubicBezTo>
                      <a:pt x="3346" y="1869"/>
                      <a:pt x="3358" y="1941"/>
                      <a:pt x="3358" y="2024"/>
                    </a:cubicBezTo>
                    <a:cubicBezTo>
                      <a:pt x="3358" y="2250"/>
                      <a:pt x="3180" y="2429"/>
                      <a:pt x="2953" y="2429"/>
                    </a:cubicBezTo>
                    <a:lnTo>
                      <a:pt x="1013" y="2429"/>
                    </a:lnTo>
                    <a:cubicBezTo>
                      <a:pt x="894" y="2429"/>
                      <a:pt x="798" y="2524"/>
                      <a:pt x="798" y="2643"/>
                    </a:cubicBezTo>
                    <a:cubicBezTo>
                      <a:pt x="798" y="2762"/>
                      <a:pt x="882" y="2846"/>
                      <a:pt x="1013" y="2846"/>
                    </a:cubicBezTo>
                    <a:lnTo>
                      <a:pt x="2977" y="2846"/>
                    </a:lnTo>
                    <a:cubicBezTo>
                      <a:pt x="3418" y="2846"/>
                      <a:pt x="3787" y="2489"/>
                      <a:pt x="3787" y="2024"/>
                    </a:cubicBezTo>
                    <a:cubicBezTo>
                      <a:pt x="3787" y="1846"/>
                      <a:pt x="3727" y="1691"/>
                      <a:pt x="3632" y="1536"/>
                    </a:cubicBezTo>
                    <a:lnTo>
                      <a:pt x="2775" y="405"/>
                    </a:lnTo>
                    <a:cubicBezTo>
                      <a:pt x="2584" y="155"/>
                      <a:pt x="2287" y="0"/>
                      <a:pt x="196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5876198" y="4333243"/>
                <a:ext cx="39376" cy="13274"/>
              </a:xfrm>
              <a:custGeom>
                <a:rect b="b" l="l" r="r" t="t"/>
                <a:pathLst>
                  <a:path extrusionOk="0" h="418" w="1240">
                    <a:moveTo>
                      <a:pt x="215" y="1"/>
                    </a:moveTo>
                    <a:cubicBezTo>
                      <a:pt x="96" y="1"/>
                      <a:pt x="1" y="84"/>
                      <a:pt x="1" y="203"/>
                    </a:cubicBezTo>
                    <a:cubicBezTo>
                      <a:pt x="1" y="322"/>
                      <a:pt x="96" y="417"/>
                      <a:pt x="215" y="417"/>
                    </a:cubicBezTo>
                    <a:lnTo>
                      <a:pt x="1025" y="417"/>
                    </a:lnTo>
                    <a:cubicBezTo>
                      <a:pt x="1144" y="417"/>
                      <a:pt x="1239" y="322"/>
                      <a:pt x="1239" y="203"/>
                    </a:cubicBezTo>
                    <a:cubicBezTo>
                      <a:pt x="1239" y="84"/>
                      <a:pt x="1156" y="1"/>
                      <a:pt x="1025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5979433" y="4333243"/>
                <a:ext cx="39344" cy="13274"/>
              </a:xfrm>
              <a:custGeom>
                <a:rect b="b" l="l" r="r" t="t"/>
                <a:pathLst>
                  <a:path extrusionOk="0" h="418" w="1239">
                    <a:moveTo>
                      <a:pt x="203" y="1"/>
                    </a:moveTo>
                    <a:cubicBezTo>
                      <a:pt x="84" y="1"/>
                      <a:pt x="0" y="84"/>
                      <a:pt x="0" y="203"/>
                    </a:cubicBezTo>
                    <a:cubicBezTo>
                      <a:pt x="0" y="322"/>
                      <a:pt x="84" y="417"/>
                      <a:pt x="203" y="417"/>
                    </a:cubicBezTo>
                    <a:lnTo>
                      <a:pt x="1024" y="417"/>
                    </a:lnTo>
                    <a:cubicBezTo>
                      <a:pt x="1143" y="417"/>
                      <a:pt x="1239" y="322"/>
                      <a:pt x="1239" y="203"/>
                    </a:cubicBezTo>
                    <a:cubicBezTo>
                      <a:pt x="1239" y="84"/>
                      <a:pt x="1143" y="1"/>
                      <a:pt x="1024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9" name="Google Shape;119;p2"/>
            <p:cNvGrpSpPr/>
            <p:nvPr/>
          </p:nvGrpSpPr>
          <p:grpSpPr>
            <a:xfrm>
              <a:off x="243837" y="3095096"/>
              <a:ext cx="334634" cy="333904"/>
              <a:chOff x="7429366" y="3223183"/>
              <a:chExt cx="334634" cy="333904"/>
            </a:xfrm>
          </p:grpSpPr>
          <p:sp>
            <p:nvSpPr>
              <p:cNvPr id="120" name="Google Shape;120;p2"/>
              <p:cNvSpPr/>
              <p:nvPr/>
            </p:nvSpPr>
            <p:spPr>
              <a:xfrm>
                <a:off x="7429366" y="3223183"/>
                <a:ext cx="334634" cy="333904"/>
              </a:xfrm>
              <a:custGeom>
                <a:rect b="b" l="l" r="r" t="t"/>
                <a:pathLst>
                  <a:path extrusionOk="0" h="10515" w="10538">
                    <a:moveTo>
                      <a:pt x="6978" y="322"/>
                    </a:moveTo>
                    <a:cubicBezTo>
                      <a:pt x="7930" y="322"/>
                      <a:pt x="8716" y="1096"/>
                      <a:pt x="8716" y="2061"/>
                    </a:cubicBezTo>
                    <a:cubicBezTo>
                      <a:pt x="8716" y="2334"/>
                      <a:pt x="8633" y="2644"/>
                      <a:pt x="8478" y="2942"/>
                    </a:cubicBezTo>
                    <a:cubicBezTo>
                      <a:pt x="8478" y="2954"/>
                      <a:pt x="8466" y="2977"/>
                      <a:pt x="8466" y="2977"/>
                    </a:cubicBezTo>
                    <a:cubicBezTo>
                      <a:pt x="8061" y="3823"/>
                      <a:pt x="7276" y="4704"/>
                      <a:pt x="6978" y="5025"/>
                    </a:cubicBezTo>
                    <a:cubicBezTo>
                      <a:pt x="6680" y="4716"/>
                      <a:pt x="5894" y="3835"/>
                      <a:pt x="5490" y="2989"/>
                    </a:cubicBezTo>
                    <a:cubicBezTo>
                      <a:pt x="5490" y="2977"/>
                      <a:pt x="5478" y="2954"/>
                      <a:pt x="5478" y="2942"/>
                    </a:cubicBezTo>
                    <a:cubicBezTo>
                      <a:pt x="5323" y="2632"/>
                      <a:pt x="5240" y="2334"/>
                      <a:pt x="5240" y="2061"/>
                    </a:cubicBezTo>
                    <a:cubicBezTo>
                      <a:pt x="5240" y="1096"/>
                      <a:pt x="6025" y="322"/>
                      <a:pt x="6978" y="322"/>
                    </a:cubicBezTo>
                    <a:close/>
                    <a:moveTo>
                      <a:pt x="5252" y="3227"/>
                    </a:moveTo>
                    <a:cubicBezTo>
                      <a:pt x="5728" y="4192"/>
                      <a:pt x="6597" y="5121"/>
                      <a:pt x="6811" y="5335"/>
                    </a:cubicBezTo>
                    <a:lnTo>
                      <a:pt x="6811" y="5811"/>
                    </a:lnTo>
                    <a:lnTo>
                      <a:pt x="3751" y="6728"/>
                    </a:lnTo>
                    <a:lnTo>
                      <a:pt x="3751" y="3668"/>
                    </a:lnTo>
                    <a:lnTo>
                      <a:pt x="5252" y="3227"/>
                    </a:lnTo>
                    <a:close/>
                    <a:moveTo>
                      <a:pt x="8704" y="3239"/>
                    </a:moveTo>
                    <a:lnTo>
                      <a:pt x="10205" y="3668"/>
                    </a:lnTo>
                    <a:lnTo>
                      <a:pt x="10205" y="6728"/>
                    </a:lnTo>
                    <a:lnTo>
                      <a:pt x="7145" y="5811"/>
                    </a:lnTo>
                    <a:lnTo>
                      <a:pt x="7145" y="5335"/>
                    </a:lnTo>
                    <a:cubicBezTo>
                      <a:pt x="7371" y="5121"/>
                      <a:pt x="8228" y="4192"/>
                      <a:pt x="8704" y="3239"/>
                    </a:cubicBezTo>
                    <a:close/>
                    <a:moveTo>
                      <a:pt x="358" y="2763"/>
                    </a:moveTo>
                    <a:lnTo>
                      <a:pt x="3418" y="3668"/>
                    </a:lnTo>
                    <a:lnTo>
                      <a:pt x="3418" y="6728"/>
                    </a:lnTo>
                    <a:lnTo>
                      <a:pt x="2263" y="6383"/>
                    </a:lnTo>
                    <a:cubicBezTo>
                      <a:pt x="2244" y="6375"/>
                      <a:pt x="2225" y="6372"/>
                      <a:pt x="2208" y="6372"/>
                    </a:cubicBezTo>
                    <a:cubicBezTo>
                      <a:pt x="2136" y="6372"/>
                      <a:pt x="2077" y="6425"/>
                      <a:pt x="2049" y="6502"/>
                    </a:cubicBezTo>
                    <a:cubicBezTo>
                      <a:pt x="2025" y="6585"/>
                      <a:pt x="2084" y="6680"/>
                      <a:pt x="2168" y="6704"/>
                    </a:cubicBezTo>
                    <a:lnTo>
                      <a:pt x="3418" y="7085"/>
                    </a:lnTo>
                    <a:lnTo>
                      <a:pt x="3418" y="10121"/>
                    </a:lnTo>
                    <a:lnTo>
                      <a:pt x="358" y="9204"/>
                    </a:lnTo>
                    <a:lnTo>
                      <a:pt x="358" y="6168"/>
                    </a:lnTo>
                    <a:lnTo>
                      <a:pt x="1513" y="6514"/>
                    </a:lnTo>
                    <a:lnTo>
                      <a:pt x="1561" y="6514"/>
                    </a:lnTo>
                    <a:cubicBezTo>
                      <a:pt x="1632" y="6514"/>
                      <a:pt x="1692" y="6466"/>
                      <a:pt x="1727" y="6394"/>
                    </a:cubicBezTo>
                    <a:cubicBezTo>
                      <a:pt x="1751" y="6311"/>
                      <a:pt x="1692" y="6216"/>
                      <a:pt x="1608" y="6192"/>
                    </a:cubicBezTo>
                    <a:lnTo>
                      <a:pt x="358" y="5811"/>
                    </a:lnTo>
                    <a:lnTo>
                      <a:pt x="358" y="2763"/>
                    </a:lnTo>
                    <a:close/>
                    <a:moveTo>
                      <a:pt x="7145" y="6156"/>
                    </a:moveTo>
                    <a:lnTo>
                      <a:pt x="10205" y="7061"/>
                    </a:lnTo>
                    <a:lnTo>
                      <a:pt x="10205" y="10121"/>
                    </a:lnTo>
                    <a:lnTo>
                      <a:pt x="7145" y="9204"/>
                    </a:lnTo>
                    <a:lnTo>
                      <a:pt x="7145" y="7990"/>
                    </a:lnTo>
                    <a:cubicBezTo>
                      <a:pt x="7145" y="7895"/>
                      <a:pt x="7073" y="7823"/>
                      <a:pt x="6978" y="7823"/>
                    </a:cubicBezTo>
                    <a:cubicBezTo>
                      <a:pt x="6895" y="7823"/>
                      <a:pt x="6811" y="7895"/>
                      <a:pt x="6811" y="7990"/>
                    </a:cubicBezTo>
                    <a:lnTo>
                      <a:pt x="6811" y="9204"/>
                    </a:lnTo>
                    <a:lnTo>
                      <a:pt x="3751" y="10121"/>
                    </a:lnTo>
                    <a:lnTo>
                      <a:pt x="3751" y="7061"/>
                    </a:lnTo>
                    <a:lnTo>
                      <a:pt x="6811" y="6156"/>
                    </a:lnTo>
                    <a:lnTo>
                      <a:pt x="6811" y="7311"/>
                    </a:lnTo>
                    <a:cubicBezTo>
                      <a:pt x="6811" y="7407"/>
                      <a:pt x="6895" y="7478"/>
                      <a:pt x="6978" y="7478"/>
                    </a:cubicBezTo>
                    <a:cubicBezTo>
                      <a:pt x="7073" y="7478"/>
                      <a:pt x="7145" y="7407"/>
                      <a:pt x="7145" y="7311"/>
                    </a:cubicBezTo>
                    <a:lnTo>
                      <a:pt x="7145" y="6156"/>
                    </a:lnTo>
                    <a:close/>
                    <a:moveTo>
                      <a:pt x="6966" y="1"/>
                    </a:moveTo>
                    <a:cubicBezTo>
                      <a:pt x="5823" y="1"/>
                      <a:pt x="4894" y="918"/>
                      <a:pt x="4894" y="2061"/>
                    </a:cubicBezTo>
                    <a:cubicBezTo>
                      <a:pt x="4894" y="2334"/>
                      <a:pt x="4966" y="2632"/>
                      <a:pt x="5085" y="2930"/>
                    </a:cubicBezTo>
                    <a:lnTo>
                      <a:pt x="3573" y="3370"/>
                    </a:lnTo>
                    <a:lnTo>
                      <a:pt x="215" y="2382"/>
                    </a:lnTo>
                    <a:cubicBezTo>
                      <a:pt x="205" y="2375"/>
                      <a:pt x="192" y="2372"/>
                      <a:pt x="179" y="2372"/>
                    </a:cubicBezTo>
                    <a:cubicBezTo>
                      <a:pt x="146" y="2372"/>
                      <a:pt x="106" y="2389"/>
                      <a:pt x="72" y="2406"/>
                    </a:cubicBezTo>
                    <a:cubicBezTo>
                      <a:pt x="25" y="2442"/>
                      <a:pt x="1" y="2477"/>
                      <a:pt x="1" y="2537"/>
                    </a:cubicBezTo>
                    <a:lnTo>
                      <a:pt x="1" y="5954"/>
                    </a:lnTo>
                    <a:lnTo>
                      <a:pt x="1" y="9335"/>
                    </a:lnTo>
                    <a:cubicBezTo>
                      <a:pt x="1" y="9419"/>
                      <a:pt x="37" y="9478"/>
                      <a:pt x="120" y="9502"/>
                    </a:cubicBezTo>
                    <a:lnTo>
                      <a:pt x="3513" y="10514"/>
                    </a:lnTo>
                    <a:lnTo>
                      <a:pt x="3573" y="10514"/>
                    </a:lnTo>
                    <a:lnTo>
                      <a:pt x="6847" y="9550"/>
                    </a:lnTo>
                    <a:cubicBezTo>
                      <a:pt x="6859" y="9562"/>
                      <a:pt x="6883" y="9562"/>
                      <a:pt x="6918" y="9562"/>
                    </a:cubicBezTo>
                    <a:cubicBezTo>
                      <a:pt x="6942" y="9562"/>
                      <a:pt x="6966" y="9562"/>
                      <a:pt x="6990" y="9550"/>
                    </a:cubicBezTo>
                    <a:lnTo>
                      <a:pt x="10264" y="10514"/>
                    </a:lnTo>
                    <a:lnTo>
                      <a:pt x="10312" y="10514"/>
                    </a:lnTo>
                    <a:cubicBezTo>
                      <a:pt x="10335" y="10514"/>
                      <a:pt x="10383" y="10502"/>
                      <a:pt x="10419" y="10490"/>
                    </a:cubicBezTo>
                    <a:cubicBezTo>
                      <a:pt x="10455" y="10454"/>
                      <a:pt x="10490" y="10407"/>
                      <a:pt x="10490" y="10347"/>
                    </a:cubicBezTo>
                    <a:lnTo>
                      <a:pt x="10538" y="6942"/>
                    </a:lnTo>
                    <a:lnTo>
                      <a:pt x="10538" y="3549"/>
                    </a:lnTo>
                    <a:cubicBezTo>
                      <a:pt x="10538" y="3477"/>
                      <a:pt x="10490" y="3418"/>
                      <a:pt x="10419" y="3394"/>
                    </a:cubicBezTo>
                    <a:lnTo>
                      <a:pt x="8835" y="2930"/>
                    </a:lnTo>
                    <a:cubicBezTo>
                      <a:pt x="8954" y="2632"/>
                      <a:pt x="9038" y="2334"/>
                      <a:pt x="9038" y="2061"/>
                    </a:cubicBezTo>
                    <a:cubicBezTo>
                      <a:pt x="9038" y="918"/>
                      <a:pt x="8109" y="1"/>
                      <a:pt x="6966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>
                <a:off x="7613514" y="3251541"/>
                <a:ext cx="74878" cy="74529"/>
              </a:xfrm>
              <a:custGeom>
                <a:rect b="b" l="l" r="r" t="t"/>
                <a:pathLst>
                  <a:path extrusionOk="0" h="2347" w="2358">
                    <a:moveTo>
                      <a:pt x="1179" y="322"/>
                    </a:moveTo>
                    <a:cubicBezTo>
                      <a:pt x="1643" y="322"/>
                      <a:pt x="2012" y="691"/>
                      <a:pt x="2012" y="1156"/>
                    </a:cubicBezTo>
                    <a:cubicBezTo>
                      <a:pt x="2012" y="1620"/>
                      <a:pt x="1643" y="1989"/>
                      <a:pt x="1179" y="1989"/>
                    </a:cubicBezTo>
                    <a:cubicBezTo>
                      <a:pt x="715" y="1989"/>
                      <a:pt x="345" y="1620"/>
                      <a:pt x="345" y="1156"/>
                    </a:cubicBezTo>
                    <a:cubicBezTo>
                      <a:pt x="334" y="703"/>
                      <a:pt x="715" y="322"/>
                      <a:pt x="1179" y="322"/>
                    </a:cubicBezTo>
                    <a:close/>
                    <a:moveTo>
                      <a:pt x="1179" y="1"/>
                    </a:moveTo>
                    <a:cubicBezTo>
                      <a:pt x="524" y="1"/>
                      <a:pt x="0" y="513"/>
                      <a:pt x="0" y="1168"/>
                    </a:cubicBezTo>
                    <a:cubicBezTo>
                      <a:pt x="0" y="1811"/>
                      <a:pt x="524" y="2346"/>
                      <a:pt x="1179" y="2346"/>
                    </a:cubicBezTo>
                    <a:cubicBezTo>
                      <a:pt x="1834" y="2346"/>
                      <a:pt x="2358" y="1822"/>
                      <a:pt x="2358" y="1168"/>
                    </a:cubicBezTo>
                    <a:cubicBezTo>
                      <a:pt x="2358" y="513"/>
                      <a:pt x="1834" y="1"/>
                      <a:pt x="1179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2" name="Google Shape;122;p2"/>
            <p:cNvGrpSpPr/>
            <p:nvPr/>
          </p:nvGrpSpPr>
          <p:grpSpPr>
            <a:xfrm>
              <a:off x="208925" y="3819254"/>
              <a:ext cx="370169" cy="325966"/>
              <a:chOff x="1404617" y="3226962"/>
              <a:chExt cx="370169" cy="325966"/>
            </a:xfrm>
          </p:grpSpPr>
          <p:sp>
            <p:nvSpPr>
              <p:cNvPr id="123" name="Google Shape;123;p2"/>
              <p:cNvSpPr/>
              <p:nvPr/>
            </p:nvSpPr>
            <p:spPr>
              <a:xfrm>
                <a:off x="1535067" y="3226962"/>
                <a:ext cx="12130" cy="37090"/>
              </a:xfrm>
              <a:custGeom>
                <a:rect b="b" l="l" r="r" t="t"/>
                <a:pathLst>
                  <a:path extrusionOk="0" h="1168" w="382">
                    <a:moveTo>
                      <a:pt x="191" y="1"/>
                    </a:moveTo>
                    <a:cubicBezTo>
                      <a:pt x="84" y="1"/>
                      <a:pt x="0" y="84"/>
                      <a:pt x="0" y="191"/>
                    </a:cubicBezTo>
                    <a:lnTo>
                      <a:pt x="0" y="977"/>
                    </a:lnTo>
                    <a:cubicBezTo>
                      <a:pt x="0" y="1084"/>
                      <a:pt x="84" y="1168"/>
                      <a:pt x="191" y="1168"/>
                    </a:cubicBezTo>
                    <a:cubicBezTo>
                      <a:pt x="298" y="1168"/>
                      <a:pt x="381" y="1084"/>
                      <a:pt x="381" y="977"/>
                    </a:cubicBezTo>
                    <a:lnTo>
                      <a:pt x="381" y="191"/>
                    </a:lnTo>
                    <a:cubicBezTo>
                      <a:pt x="381" y="84"/>
                      <a:pt x="298" y="1"/>
                      <a:pt x="19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1472287" y="3243221"/>
                <a:ext cx="25753" cy="34073"/>
              </a:xfrm>
              <a:custGeom>
                <a:rect b="b" l="l" r="r" t="t"/>
                <a:pathLst>
                  <a:path extrusionOk="0" h="1073" w="811">
                    <a:moveTo>
                      <a:pt x="217" y="1"/>
                    </a:moveTo>
                    <a:cubicBezTo>
                      <a:pt x="185" y="1"/>
                      <a:pt x="152" y="9"/>
                      <a:pt x="120" y="25"/>
                    </a:cubicBezTo>
                    <a:cubicBezTo>
                      <a:pt x="25" y="72"/>
                      <a:pt x="1" y="179"/>
                      <a:pt x="37" y="287"/>
                    </a:cubicBezTo>
                    <a:lnTo>
                      <a:pt x="442" y="989"/>
                    </a:lnTo>
                    <a:cubicBezTo>
                      <a:pt x="477" y="1049"/>
                      <a:pt x="549" y="1072"/>
                      <a:pt x="608" y="1072"/>
                    </a:cubicBezTo>
                    <a:cubicBezTo>
                      <a:pt x="632" y="1072"/>
                      <a:pt x="668" y="1061"/>
                      <a:pt x="692" y="1049"/>
                    </a:cubicBezTo>
                    <a:cubicBezTo>
                      <a:pt x="787" y="989"/>
                      <a:pt x="811" y="882"/>
                      <a:pt x="775" y="775"/>
                    </a:cubicBezTo>
                    <a:lnTo>
                      <a:pt x="382" y="96"/>
                    </a:lnTo>
                    <a:cubicBezTo>
                      <a:pt x="342" y="33"/>
                      <a:pt x="281" y="1"/>
                      <a:pt x="217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1426179" y="3289266"/>
                <a:ext cx="35947" cy="24705"/>
              </a:xfrm>
              <a:custGeom>
                <a:rect b="b" l="l" r="r" t="t"/>
                <a:pathLst>
                  <a:path extrusionOk="0" h="778" w="1132">
                    <a:moveTo>
                      <a:pt x="229" y="1"/>
                    </a:moveTo>
                    <a:cubicBezTo>
                      <a:pt x="159" y="1"/>
                      <a:pt x="89" y="41"/>
                      <a:pt x="48" y="99"/>
                    </a:cubicBezTo>
                    <a:cubicBezTo>
                      <a:pt x="0" y="194"/>
                      <a:pt x="36" y="301"/>
                      <a:pt x="143" y="361"/>
                    </a:cubicBezTo>
                    <a:lnTo>
                      <a:pt x="822" y="742"/>
                    </a:lnTo>
                    <a:cubicBezTo>
                      <a:pt x="858" y="754"/>
                      <a:pt x="881" y="777"/>
                      <a:pt x="917" y="777"/>
                    </a:cubicBezTo>
                    <a:cubicBezTo>
                      <a:pt x="977" y="777"/>
                      <a:pt x="1048" y="742"/>
                      <a:pt x="1072" y="682"/>
                    </a:cubicBezTo>
                    <a:cubicBezTo>
                      <a:pt x="1132" y="599"/>
                      <a:pt x="1096" y="480"/>
                      <a:pt x="1001" y="420"/>
                    </a:cubicBezTo>
                    <a:lnTo>
                      <a:pt x="322" y="27"/>
                    </a:lnTo>
                    <a:cubicBezTo>
                      <a:pt x="292" y="9"/>
                      <a:pt x="261" y="1"/>
                      <a:pt x="229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1410682" y="3350997"/>
                <a:ext cx="37439" cy="12511"/>
              </a:xfrm>
              <a:custGeom>
                <a:rect b="b" l="l" r="r" t="t"/>
                <a:pathLst>
                  <a:path extrusionOk="0" h="394" w="1179">
                    <a:moveTo>
                      <a:pt x="191" y="0"/>
                    </a:moveTo>
                    <a:cubicBezTo>
                      <a:pt x="96" y="0"/>
                      <a:pt x="0" y="95"/>
                      <a:pt x="0" y="203"/>
                    </a:cubicBezTo>
                    <a:cubicBezTo>
                      <a:pt x="0" y="298"/>
                      <a:pt x="84" y="393"/>
                      <a:pt x="191" y="393"/>
                    </a:cubicBezTo>
                    <a:lnTo>
                      <a:pt x="988" y="393"/>
                    </a:lnTo>
                    <a:cubicBezTo>
                      <a:pt x="1084" y="393"/>
                      <a:pt x="1179" y="298"/>
                      <a:pt x="1179" y="203"/>
                    </a:cubicBezTo>
                    <a:cubicBezTo>
                      <a:pt x="1179" y="95"/>
                      <a:pt x="1084" y="0"/>
                      <a:pt x="988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1426179" y="3400980"/>
                <a:ext cx="35566" cy="24896"/>
              </a:xfrm>
              <a:custGeom>
                <a:rect b="b" l="l" r="r" t="t"/>
                <a:pathLst>
                  <a:path extrusionOk="0" h="784" w="1120">
                    <a:moveTo>
                      <a:pt x="904" y="0"/>
                    </a:moveTo>
                    <a:cubicBezTo>
                      <a:pt x="874" y="0"/>
                      <a:pt x="843" y="7"/>
                      <a:pt x="810" y="22"/>
                    </a:cubicBezTo>
                    <a:lnTo>
                      <a:pt x="119" y="414"/>
                    </a:lnTo>
                    <a:cubicBezTo>
                      <a:pt x="36" y="486"/>
                      <a:pt x="0" y="593"/>
                      <a:pt x="60" y="688"/>
                    </a:cubicBezTo>
                    <a:cubicBezTo>
                      <a:pt x="96" y="748"/>
                      <a:pt x="167" y="784"/>
                      <a:pt x="227" y="784"/>
                    </a:cubicBezTo>
                    <a:cubicBezTo>
                      <a:pt x="262" y="784"/>
                      <a:pt x="286" y="760"/>
                      <a:pt x="322" y="748"/>
                    </a:cubicBezTo>
                    <a:lnTo>
                      <a:pt x="1001" y="367"/>
                    </a:lnTo>
                    <a:cubicBezTo>
                      <a:pt x="1096" y="307"/>
                      <a:pt x="1120" y="200"/>
                      <a:pt x="1072" y="93"/>
                    </a:cubicBezTo>
                    <a:cubicBezTo>
                      <a:pt x="1031" y="35"/>
                      <a:pt x="972" y="0"/>
                      <a:pt x="904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1620138" y="3289043"/>
                <a:ext cx="35566" cy="24928"/>
              </a:xfrm>
              <a:custGeom>
                <a:rect b="b" l="l" r="r" t="t"/>
                <a:pathLst>
                  <a:path extrusionOk="0" h="785" w="1120">
                    <a:moveTo>
                      <a:pt x="895" y="1"/>
                    </a:moveTo>
                    <a:cubicBezTo>
                      <a:pt x="864" y="1"/>
                      <a:pt x="831" y="8"/>
                      <a:pt x="798" y="22"/>
                    </a:cubicBezTo>
                    <a:lnTo>
                      <a:pt x="119" y="403"/>
                    </a:lnTo>
                    <a:cubicBezTo>
                      <a:pt x="24" y="463"/>
                      <a:pt x="0" y="570"/>
                      <a:pt x="48" y="677"/>
                    </a:cubicBezTo>
                    <a:cubicBezTo>
                      <a:pt x="107" y="749"/>
                      <a:pt x="167" y="784"/>
                      <a:pt x="227" y="784"/>
                    </a:cubicBezTo>
                    <a:cubicBezTo>
                      <a:pt x="250" y="784"/>
                      <a:pt x="286" y="761"/>
                      <a:pt x="310" y="749"/>
                    </a:cubicBezTo>
                    <a:lnTo>
                      <a:pt x="1000" y="368"/>
                    </a:lnTo>
                    <a:cubicBezTo>
                      <a:pt x="1084" y="308"/>
                      <a:pt x="1120" y="201"/>
                      <a:pt x="1072" y="94"/>
                    </a:cubicBezTo>
                    <a:cubicBezTo>
                      <a:pt x="1031" y="36"/>
                      <a:pt x="966" y="1"/>
                      <a:pt x="895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1584224" y="3243507"/>
                <a:ext cx="26103" cy="33787"/>
              </a:xfrm>
              <a:custGeom>
                <a:rect b="b" l="l" r="r" t="t"/>
                <a:pathLst>
                  <a:path extrusionOk="0" h="1064" w="822">
                    <a:moveTo>
                      <a:pt x="594" y="1"/>
                    </a:moveTo>
                    <a:cubicBezTo>
                      <a:pt x="527" y="1"/>
                      <a:pt x="458" y="41"/>
                      <a:pt x="417" y="99"/>
                    </a:cubicBezTo>
                    <a:lnTo>
                      <a:pt x="24" y="790"/>
                    </a:lnTo>
                    <a:cubicBezTo>
                      <a:pt x="0" y="873"/>
                      <a:pt x="24" y="992"/>
                      <a:pt x="119" y="1040"/>
                    </a:cubicBezTo>
                    <a:cubicBezTo>
                      <a:pt x="143" y="1052"/>
                      <a:pt x="179" y="1063"/>
                      <a:pt x="203" y="1063"/>
                    </a:cubicBezTo>
                    <a:cubicBezTo>
                      <a:pt x="262" y="1063"/>
                      <a:pt x="346" y="1040"/>
                      <a:pt x="369" y="980"/>
                    </a:cubicBezTo>
                    <a:lnTo>
                      <a:pt x="762" y="290"/>
                    </a:lnTo>
                    <a:cubicBezTo>
                      <a:pt x="822" y="206"/>
                      <a:pt x="774" y="87"/>
                      <a:pt x="679" y="28"/>
                    </a:cubicBezTo>
                    <a:cubicBezTo>
                      <a:pt x="653" y="9"/>
                      <a:pt x="624" y="1"/>
                      <a:pt x="594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1404617" y="3271197"/>
                <a:ext cx="285859" cy="281349"/>
              </a:xfrm>
              <a:custGeom>
                <a:rect b="b" l="l" r="r" t="t"/>
                <a:pathLst>
                  <a:path extrusionOk="0" h="8860" w="9002">
                    <a:moveTo>
                      <a:pt x="4525" y="1013"/>
                    </a:moveTo>
                    <a:lnTo>
                      <a:pt x="4573" y="1025"/>
                    </a:lnTo>
                    <a:lnTo>
                      <a:pt x="4704" y="1025"/>
                    </a:lnTo>
                    <a:lnTo>
                      <a:pt x="4787" y="1061"/>
                    </a:lnTo>
                    <a:lnTo>
                      <a:pt x="4811" y="1061"/>
                    </a:lnTo>
                    <a:lnTo>
                      <a:pt x="4823" y="1072"/>
                    </a:lnTo>
                    <a:cubicBezTo>
                      <a:pt x="4835" y="1072"/>
                      <a:pt x="4835" y="1084"/>
                      <a:pt x="4847" y="1084"/>
                    </a:cubicBezTo>
                    <a:cubicBezTo>
                      <a:pt x="4847" y="1084"/>
                      <a:pt x="4870" y="1084"/>
                      <a:pt x="4870" y="1096"/>
                    </a:cubicBezTo>
                    <a:lnTo>
                      <a:pt x="4942" y="1132"/>
                    </a:lnTo>
                    <a:lnTo>
                      <a:pt x="4954" y="1132"/>
                    </a:lnTo>
                    <a:lnTo>
                      <a:pt x="4989" y="1144"/>
                    </a:lnTo>
                    <a:cubicBezTo>
                      <a:pt x="4989" y="1144"/>
                      <a:pt x="5001" y="1144"/>
                      <a:pt x="5001" y="1156"/>
                    </a:cubicBezTo>
                    <a:cubicBezTo>
                      <a:pt x="5001" y="1156"/>
                      <a:pt x="5013" y="1156"/>
                      <a:pt x="5013" y="1180"/>
                    </a:cubicBezTo>
                    <a:lnTo>
                      <a:pt x="5049" y="1192"/>
                    </a:lnTo>
                    <a:cubicBezTo>
                      <a:pt x="5049" y="1192"/>
                      <a:pt x="5061" y="1192"/>
                      <a:pt x="5061" y="1203"/>
                    </a:cubicBezTo>
                    <a:cubicBezTo>
                      <a:pt x="5061" y="1203"/>
                      <a:pt x="5073" y="1203"/>
                      <a:pt x="5073" y="1215"/>
                    </a:cubicBezTo>
                    <a:lnTo>
                      <a:pt x="5085" y="1239"/>
                    </a:lnTo>
                    <a:cubicBezTo>
                      <a:pt x="5085" y="1239"/>
                      <a:pt x="5109" y="1239"/>
                      <a:pt x="5109" y="1251"/>
                    </a:cubicBezTo>
                    <a:cubicBezTo>
                      <a:pt x="5109" y="1251"/>
                      <a:pt x="5120" y="1251"/>
                      <a:pt x="5120" y="1263"/>
                    </a:cubicBezTo>
                    <a:cubicBezTo>
                      <a:pt x="5120" y="1263"/>
                      <a:pt x="5132" y="1263"/>
                      <a:pt x="5132" y="1275"/>
                    </a:cubicBezTo>
                    <a:lnTo>
                      <a:pt x="5144" y="1299"/>
                    </a:lnTo>
                    <a:cubicBezTo>
                      <a:pt x="5144" y="1299"/>
                      <a:pt x="5168" y="1299"/>
                      <a:pt x="5168" y="1311"/>
                    </a:cubicBezTo>
                    <a:lnTo>
                      <a:pt x="5263" y="1394"/>
                    </a:lnTo>
                    <a:lnTo>
                      <a:pt x="5299" y="1430"/>
                    </a:lnTo>
                    <a:cubicBezTo>
                      <a:pt x="5382" y="1501"/>
                      <a:pt x="5466" y="1596"/>
                      <a:pt x="5537" y="1680"/>
                    </a:cubicBezTo>
                    <a:cubicBezTo>
                      <a:pt x="5561" y="1715"/>
                      <a:pt x="5585" y="1739"/>
                      <a:pt x="5597" y="1787"/>
                    </a:cubicBezTo>
                    <a:lnTo>
                      <a:pt x="5597" y="1799"/>
                    </a:lnTo>
                    <a:cubicBezTo>
                      <a:pt x="5609" y="1834"/>
                      <a:pt x="5644" y="1858"/>
                      <a:pt x="5656" y="1894"/>
                    </a:cubicBezTo>
                    <a:lnTo>
                      <a:pt x="5656" y="1906"/>
                    </a:lnTo>
                    <a:cubicBezTo>
                      <a:pt x="5668" y="1930"/>
                      <a:pt x="5680" y="1965"/>
                      <a:pt x="5704" y="2013"/>
                    </a:cubicBezTo>
                    <a:lnTo>
                      <a:pt x="5704" y="2025"/>
                    </a:lnTo>
                    <a:cubicBezTo>
                      <a:pt x="5716" y="2049"/>
                      <a:pt x="5728" y="2096"/>
                      <a:pt x="5740" y="2132"/>
                    </a:cubicBezTo>
                    <a:lnTo>
                      <a:pt x="5740" y="2144"/>
                    </a:lnTo>
                    <a:cubicBezTo>
                      <a:pt x="5763" y="2168"/>
                      <a:pt x="5775" y="2215"/>
                      <a:pt x="5775" y="2251"/>
                    </a:cubicBezTo>
                    <a:lnTo>
                      <a:pt x="5775" y="2263"/>
                    </a:lnTo>
                    <a:cubicBezTo>
                      <a:pt x="5787" y="2287"/>
                      <a:pt x="5787" y="2335"/>
                      <a:pt x="5799" y="2382"/>
                    </a:cubicBezTo>
                    <a:lnTo>
                      <a:pt x="5799" y="2394"/>
                    </a:lnTo>
                    <a:cubicBezTo>
                      <a:pt x="5799" y="2442"/>
                      <a:pt x="5823" y="2466"/>
                      <a:pt x="5823" y="2513"/>
                    </a:cubicBezTo>
                    <a:lnTo>
                      <a:pt x="5823" y="2525"/>
                    </a:lnTo>
                    <a:lnTo>
                      <a:pt x="5823" y="2549"/>
                    </a:lnTo>
                    <a:cubicBezTo>
                      <a:pt x="5728" y="2620"/>
                      <a:pt x="5466" y="2739"/>
                      <a:pt x="5240" y="2894"/>
                    </a:cubicBezTo>
                    <a:cubicBezTo>
                      <a:pt x="5216" y="2894"/>
                      <a:pt x="5216" y="2906"/>
                      <a:pt x="5216" y="2906"/>
                    </a:cubicBezTo>
                    <a:cubicBezTo>
                      <a:pt x="5192" y="2918"/>
                      <a:pt x="5180" y="2930"/>
                      <a:pt x="5144" y="2966"/>
                    </a:cubicBezTo>
                    <a:cubicBezTo>
                      <a:pt x="5120" y="2977"/>
                      <a:pt x="5085" y="3013"/>
                      <a:pt x="5061" y="3037"/>
                    </a:cubicBezTo>
                    <a:cubicBezTo>
                      <a:pt x="5025" y="3049"/>
                      <a:pt x="5013" y="3085"/>
                      <a:pt x="4978" y="3097"/>
                    </a:cubicBezTo>
                    <a:cubicBezTo>
                      <a:pt x="4620" y="3406"/>
                      <a:pt x="4347" y="3823"/>
                      <a:pt x="4204" y="4299"/>
                    </a:cubicBezTo>
                    <a:cubicBezTo>
                      <a:pt x="4180" y="4299"/>
                      <a:pt x="4144" y="4287"/>
                      <a:pt x="4132" y="4287"/>
                    </a:cubicBezTo>
                    <a:cubicBezTo>
                      <a:pt x="4061" y="4275"/>
                      <a:pt x="3966" y="4275"/>
                      <a:pt x="3894" y="4275"/>
                    </a:cubicBezTo>
                    <a:lnTo>
                      <a:pt x="3632" y="4275"/>
                    </a:lnTo>
                    <a:cubicBezTo>
                      <a:pt x="3608" y="4275"/>
                      <a:pt x="3596" y="4251"/>
                      <a:pt x="3585" y="4251"/>
                    </a:cubicBezTo>
                    <a:lnTo>
                      <a:pt x="3573" y="4251"/>
                    </a:lnTo>
                    <a:cubicBezTo>
                      <a:pt x="3549" y="4240"/>
                      <a:pt x="3537" y="4240"/>
                      <a:pt x="3525" y="4228"/>
                    </a:cubicBezTo>
                    <a:cubicBezTo>
                      <a:pt x="3513" y="4216"/>
                      <a:pt x="3489" y="4216"/>
                      <a:pt x="3465" y="4192"/>
                    </a:cubicBezTo>
                    <a:lnTo>
                      <a:pt x="3454" y="4180"/>
                    </a:lnTo>
                    <a:cubicBezTo>
                      <a:pt x="3430" y="4168"/>
                      <a:pt x="3418" y="4168"/>
                      <a:pt x="3406" y="4156"/>
                    </a:cubicBezTo>
                    <a:lnTo>
                      <a:pt x="3394" y="4156"/>
                    </a:lnTo>
                    <a:cubicBezTo>
                      <a:pt x="3370" y="4132"/>
                      <a:pt x="3358" y="4120"/>
                      <a:pt x="3346" y="4120"/>
                    </a:cubicBezTo>
                    <a:lnTo>
                      <a:pt x="3335" y="4109"/>
                    </a:lnTo>
                    <a:cubicBezTo>
                      <a:pt x="3311" y="4097"/>
                      <a:pt x="3299" y="4097"/>
                      <a:pt x="3287" y="4073"/>
                    </a:cubicBezTo>
                    <a:lnTo>
                      <a:pt x="3275" y="4073"/>
                    </a:lnTo>
                    <a:lnTo>
                      <a:pt x="3227" y="4037"/>
                    </a:lnTo>
                    <a:lnTo>
                      <a:pt x="3215" y="4013"/>
                    </a:lnTo>
                    <a:cubicBezTo>
                      <a:pt x="3192" y="4001"/>
                      <a:pt x="3180" y="3990"/>
                      <a:pt x="3168" y="3990"/>
                    </a:cubicBezTo>
                    <a:lnTo>
                      <a:pt x="3156" y="3990"/>
                    </a:lnTo>
                    <a:lnTo>
                      <a:pt x="3108" y="3942"/>
                    </a:lnTo>
                    <a:lnTo>
                      <a:pt x="3096" y="3930"/>
                    </a:lnTo>
                    <a:lnTo>
                      <a:pt x="3061" y="3894"/>
                    </a:lnTo>
                    <a:lnTo>
                      <a:pt x="3049" y="3882"/>
                    </a:lnTo>
                    <a:lnTo>
                      <a:pt x="3001" y="3835"/>
                    </a:lnTo>
                    <a:lnTo>
                      <a:pt x="2989" y="3823"/>
                    </a:lnTo>
                    <a:lnTo>
                      <a:pt x="2989" y="3811"/>
                    </a:lnTo>
                    <a:cubicBezTo>
                      <a:pt x="2870" y="3680"/>
                      <a:pt x="2775" y="3525"/>
                      <a:pt x="2715" y="3358"/>
                    </a:cubicBezTo>
                    <a:cubicBezTo>
                      <a:pt x="2715" y="3347"/>
                      <a:pt x="2703" y="3335"/>
                      <a:pt x="2703" y="3323"/>
                    </a:cubicBezTo>
                    <a:lnTo>
                      <a:pt x="2703" y="3299"/>
                    </a:lnTo>
                    <a:cubicBezTo>
                      <a:pt x="2703" y="3287"/>
                      <a:pt x="2692" y="3275"/>
                      <a:pt x="2692" y="3263"/>
                    </a:cubicBezTo>
                    <a:lnTo>
                      <a:pt x="2692" y="3239"/>
                    </a:lnTo>
                    <a:cubicBezTo>
                      <a:pt x="2692" y="3228"/>
                      <a:pt x="2680" y="3204"/>
                      <a:pt x="2680" y="3180"/>
                    </a:cubicBezTo>
                    <a:cubicBezTo>
                      <a:pt x="2656" y="3108"/>
                      <a:pt x="2644" y="3049"/>
                      <a:pt x="2632" y="2977"/>
                    </a:cubicBezTo>
                    <a:lnTo>
                      <a:pt x="2632" y="2930"/>
                    </a:lnTo>
                    <a:lnTo>
                      <a:pt x="2632" y="2882"/>
                    </a:lnTo>
                    <a:cubicBezTo>
                      <a:pt x="2632" y="2823"/>
                      <a:pt x="2620" y="2763"/>
                      <a:pt x="2620" y="2704"/>
                    </a:cubicBezTo>
                    <a:lnTo>
                      <a:pt x="2620" y="2644"/>
                    </a:lnTo>
                    <a:lnTo>
                      <a:pt x="2620" y="2632"/>
                    </a:lnTo>
                    <a:lnTo>
                      <a:pt x="2620" y="2573"/>
                    </a:lnTo>
                    <a:lnTo>
                      <a:pt x="2620" y="2513"/>
                    </a:lnTo>
                    <a:lnTo>
                      <a:pt x="2620" y="2501"/>
                    </a:lnTo>
                    <a:cubicBezTo>
                      <a:pt x="2620" y="2454"/>
                      <a:pt x="2632" y="2430"/>
                      <a:pt x="2632" y="2382"/>
                    </a:cubicBezTo>
                    <a:lnTo>
                      <a:pt x="2632" y="2370"/>
                    </a:lnTo>
                    <a:cubicBezTo>
                      <a:pt x="2632" y="2335"/>
                      <a:pt x="2644" y="2287"/>
                      <a:pt x="2656" y="2263"/>
                    </a:cubicBezTo>
                    <a:lnTo>
                      <a:pt x="2656" y="2251"/>
                    </a:lnTo>
                    <a:cubicBezTo>
                      <a:pt x="2680" y="2215"/>
                      <a:pt x="2680" y="2168"/>
                      <a:pt x="2692" y="2144"/>
                    </a:cubicBezTo>
                    <a:lnTo>
                      <a:pt x="2692" y="2132"/>
                    </a:lnTo>
                    <a:cubicBezTo>
                      <a:pt x="2703" y="2096"/>
                      <a:pt x="2715" y="2049"/>
                      <a:pt x="2739" y="2025"/>
                    </a:cubicBezTo>
                    <a:lnTo>
                      <a:pt x="2739" y="2013"/>
                    </a:lnTo>
                    <a:cubicBezTo>
                      <a:pt x="2751" y="1977"/>
                      <a:pt x="2763" y="1930"/>
                      <a:pt x="2775" y="1906"/>
                    </a:cubicBezTo>
                    <a:lnTo>
                      <a:pt x="2775" y="1894"/>
                    </a:lnTo>
                    <a:cubicBezTo>
                      <a:pt x="2799" y="1858"/>
                      <a:pt x="2811" y="1834"/>
                      <a:pt x="2834" y="1799"/>
                    </a:cubicBezTo>
                    <a:lnTo>
                      <a:pt x="2858" y="1787"/>
                    </a:lnTo>
                    <a:cubicBezTo>
                      <a:pt x="2870" y="1751"/>
                      <a:pt x="2894" y="1727"/>
                      <a:pt x="2918" y="1692"/>
                    </a:cubicBezTo>
                    <a:cubicBezTo>
                      <a:pt x="2989" y="1608"/>
                      <a:pt x="3061" y="1513"/>
                      <a:pt x="3156" y="1442"/>
                    </a:cubicBezTo>
                    <a:lnTo>
                      <a:pt x="3180" y="1418"/>
                    </a:lnTo>
                    <a:lnTo>
                      <a:pt x="3299" y="1311"/>
                    </a:lnTo>
                    <a:cubicBezTo>
                      <a:pt x="3299" y="1311"/>
                      <a:pt x="3311" y="1311"/>
                      <a:pt x="3311" y="1299"/>
                    </a:cubicBezTo>
                    <a:cubicBezTo>
                      <a:pt x="3311" y="1299"/>
                      <a:pt x="3335" y="1299"/>
                      <a:pt x="3335" y="1275"/>
                    </a:cubicBezTo>
                    <a:lnTo>
                      <a:pt x="3346" y="1263"/>
                    </a:lnTo>
                    <a:cubicBezTo>
                      <a:pt x="3346" y="1263"/>
                      <a:pt x="3358" y="1263"/>
                      <a:pt x="3358" y="1251"/>
                    </a:cubicBezTo>
                    <a:cubicBezTo>
                      <a:pt x="3358" y="1251"/>
                      <a:pt x="3370" y="1251"/>
                      <a:pt x="3370" y="1239"/>
                    </a:cubicBezTo>
                    <a:cubicBezTo>
                      <a:pt x="3370" y="1239"/>
                      <a:pt x="3394" y="1239"/>
                      <a:pt x="3394" y="1215"/>
                    </a:cubicBezTo>
                    <a:cubicBezTo>
                      <a:pt x="3394" y="1215"/>
                      <a:pt x="3406" y="1215"/>
                      <a:pt x="3406" y="1203"/>
                    </a:cubicBezTo>
                    <a:lnTo>
                      <a:pt x="3430" y="1192"/>
                    </a:lnTo>
                    <a:cubicBezTo>
                      <a:pt x="3430" y="1192"/>
                      <a:pt x="3454" y="1192"/>
                      <a:pt x="3454" y="1180"/>
                    </a:cubicBezTo>
                    <a:cubicBezTo>
                      <a:pt x="3454" y="1180"/>
                      <a:pt x="3465" y="1180"/>
                      <a:pt x="3465" y="1156"/>
                    </a:cubicBezTo>
                    <a:lnTo>
                      <a:pt x="3489" y="1144"/>
                    </a:lnTo>
                    <a:cubicBezTo>
                      <a:pt x="3489" y="1144"/>
                      <a:pt x="3513" y="1144"/>
                      <a:pt x="3513" y="1132"/>
                    </a:cubicBezTo>
                    <a:lnTo>
                      <a:pt x="3585" y="1096"/>
                    </a:lnTo>
                    <a:cubicBezTo>
                      <a:pt x="3585" y="1096"/>
                      <a:pt x="3596" y="1096"/>
                      <a:pt x="3596" y="1084"/>
                    </a:cubicBezTo>
                    <a:cubicBezTo>
                      <a:pt x="3608" y="1084"/>
                      <a:pt x="3608" y="1072"/>
                      <a:pt x="3632" y="1072"/>
                    </a:cubicBezTo>
                    <a:lnTo>
                      <a:pt x="3644" y="1061"/>
                    </a:lnTo>
                    <a:lnTo>
                      <a:pt x="3656" y="1061"/>
                    </a:lnTo>
                    <a:lnTo>
                      <a:pt x="3763" y="1025"/>
                    </a:lnTo>
                    <a:lnTo>
                      <a:pt x="3882" y="1025"/>
                    </a:lnTo>
                    <a:lnTo>
                      <a:pt x="3930" y="1013"/>
                    </a:lnTo>
                    <a:close/>
                    <a:moveTo>
                      <a:pt x="4347" y="418"/>
                    </a:moveTo>
                    <a:cubicBezTo>
                      <a:pt x="4847" y="418"/>
                      <a:pt x="5335" y="584"/>
                      <a:pt x="5740" y="882"/>
                    </a:cubicBezTo>
                    <a:cubicBezTo>
                      <a:pt x="6156" y="1192"/>
                      <a:pt x="6454" y="1620"/>
                      <a:pt x="6585" y="2108"/>
                    </a:cubicBezTo>
                    <a:cubicBezTo>
                      <a:pt x="6621" y="2227"/>
                      <a:pt x="6644" y="2370"/>
                      <a:pt x="6668" y="2489"/>
                    </a:cubicBezTo>
                    <a:lnTo>
                      <a:pt x="6442" y="2489"/>
                    </a:lnTo>
                    <a:cubicBezTo>
                      <a:pt x="6442" y="2442"/>
                      <a:pt x="6430" y="2394"/>
                      <a:pt x="6430" y="2346"/>
                    </a:cubicBezTo>
                    <a:lnTo>
                      <a:pt x="6430" y="2335"/>
                    </a:lnTo>
                    <a:cubicBezTo>
                      <a:pt x="6406" y="2287"/>
                      <a:pt x="6406" y="2251"/>
                      <a:pt x="6394" y="2204"/>
                    </a:cubicBezTo>
                    <a:lnTo>
                      <a:pt x="6394" y="2192"/>
                    </a:lnTo>
                    <a:lnTo>
                      <a:pt x="6347" y="2049"/>
                    </a:lnTo>
                    <a:lnTo>
                      <a:pt x="6347" y="2037"/>
                    </a:lnTo>
                    <a:lnTo>
                      <a:pt x="6311" y="1906"/>
                    </a:lnTo>
                    <a:lnTo>
                      <a:pt x="6311" y="1894"/>
                    </a:lnTo>
                    <a:cubicBezTo>
                      <a:pt x="6287" y="1846"/>
                      <a:pt x="6263" y="1799"/>
                      <a:pt x="6252" y="1775"/>
                    </a:cubicBezTo>
                    <a:lnTo>
                      <a:pt x="6228" y="1751"/>
                    </a:lnTo>
                    <a:cubicBezTo>
                      <a:pt x="6216" y="1715"/>
                      <a:pt x="6192" y="1680"/>
                      <a:pt x="6156" y="1632"/>
                    </a:cubicBezTo>
                    <a:lnTo>
                      <a:pt x="6144" y="1620"/>
                    </a:lnTo>
                    <a:cubicBezTo>
                      <a:pt x="6109" y="1573"/>
                      <a:pt x="6085" y="1549"/>
                      <a:pt x="6073" y="1501"/>
                    </a:cubicBezTo>
                    <a:cubicBezTo>
                      <a:pt x="5978" y="1382"/>
                      <a:pt x="5894" y="1275"/>
                      <a:pt x="5787" y="1192"/>
                    </a:cubicBezTo>
                    <a:lnTo>
                      <a:pt x="5775" y="1180"/>
                    </a:lnTo>
                    <a:lnTo>
                      <a:pt x="5751" y="1156"/>
                    </a:lnTo>
                    <a:lnTo>
                      <a:pt x="5740" y="1144"/>
                    </a:lnTo>
                    <a:lnTo>
                      <a:pt x="5680" y="1084"/>
                    </a:lnTo>
                    <a:lnTo>
                      <a:pt x="5668" y="1072"/>
                    </a:lnTo>
                    <a:lnTo>
                      <a:pt x="5621" y="1037"/>
                    </a:lnTo>
                    <a:lnTo>
                      <a:pt x="5609" y="1025"/>
                    </a:lnTo>
                    <a:lnTo>
                      <a:pt x="5597" y="1013"/>
                    </a:lnTo>
                    <a:lnTo>
                      <a:pt x="5573" y="1001"/>
                    </a:lnTo>
                    <a:lnTo>
                      <a:pt x="5561" y="977"/>
                    </a:lnTo>
                    <a:lnTo>
                      <a:pt x="5549" y="965"/>
                    </a:lnTo>
                    <a:lnTo>
                      <a:pt x="5537" y="953"/>
                    </a:lnTo>
                    <a:lnTo>
                      <a:pt x="5513" y="942"/>
                    </a:lnTo>
                    <a:cubicBezTo>
                      <a:pt x="5513" y="942"/>
                      <a:pt x="5501" y="918"/>
                      <a:pt x="5490" y="918"/>
                    </a:cubicBezTo>
                    <a:lnTo>
                      <a:pt x="5442" y="894"/>
                    </a:lnTo>
                    <a:cubicBezTo>
                      <a:pt x="5430" y="894"/>
                      <a:pt x="5430" y="882"/>
                      <a:pt x="5430" y="882"/>
                    </a:cubicBezTo>
                    <a:cubicBezTo>
                      <a:pt x="5430" y="882"/>
                      <a:pt x="5418" y="858"/>
                      <a:pt x="5394" y="858"/>
                    </a:cubicBezTo>
                    <a:lnTo>
                      <a:pt x="5359" y="834"/>
                    </a:lnTo>
                    <a:cubicBezTo>
                      <a:pt x="5359" y="834"/>
                      <a:pt x="5335" y="834"/>
                      <a:pt x="5335" y="822"/>
                    </a:cubicBezTo>
                    <a:lnTo>
                      <a:pt x="5299" y="787"/>
                    </a:lnTo>
                    <a:cubicBezTo>
                      <a:pt x="5299" y="787"/>
                      <a:pt x="5275" y="787"/>
                      <a:pt x="5275" y="775"/>
                    </a:cubicBezTo>
                    <a:lnTo>
                      <a:pt x="5251" y="763"/>
                    </a:lnTo>
                    <a:cubicBezTo>
                      <a:pt x="5251" y="763"/>
                      <a:pt x="5240" y="763"/>
                      <a:pt x="5216" y="739"/>
                    </a:cubicBezTo>
                    <a:cubicBezTo>
                      <a:pt x="5204" y="739"/>
                      <a:pt x="5192" y="727"/>
                      <a:pt x="5180" y="727"/>
                    </a:cubicBezTo>
                    <a:lnTo>
                      <a:pt x="5144" y="727"/>
                    </a:lnTo>
                    <a:cubicBezTo>
                      <a:pt x="5144" y="727"/>
                      <a:pt x="5132" y="727"/>
                      <a:pt x="5120" y="715"/>
                    </a:cubicBezTo>
                    <a:lnTo>
                      <a:pt x="5037" y="715"/>
                    </a:lnTo>
                    <a:lnTo>
                      <a:pt x="5013" y="703"/>
                    </a:lnTo>
                    <a:lnTo>
                      <a:pt x="5001" y="703"/>
                    </a:lnTo>
                    <a:cubicBezTo>
                      <a:pt x="4978" y="703"/>
                      <a:pt x="4978" y="703"/>
                      <a:pt x="4966" y="680"/>
                    </a:cubicBezTo>
                    <a:lnTo>
                      <a:pt x="3989" y="680"/>
                    </a:lnTo>
                    <a:lnTo>
                      <a:pt x="3942" y="703"/>
                    </a:lnTo>
                    <a:lnTo>
                      <a:pt x="3727" y="703"/>
                    </a:lnTo>
                    <a:cubicBezTo>
                      <a:pt x="3716" y="703"/>
                      <a:pt x="3716" y="703"/>
                      <a:pt x="3704" y="715"/>
                    </a:cubicBezTo>
                    <a:lnTo>
                      <a:pt x="3585" y="715"/>
                    </a:lnTo>
                    <a:cubicBezTo>
                      <a:pt x="3573" y="715"/>
                      <a:pt x="3573" y="715"/>
                      <a:pt x="3549" y="727"/>
                    </a:cubicBezTo>
                    <a:lnTo>
                      <a:pt x="3525" y="727"/>
                    </a:lnTo>
                    <a:cubicBezTo>
                      <a:pt x="3513" y="727"/>
                      <a:pt x="3489" y="751"/>
                      <a:pt x="3477" y="751"/>
                    </a:cubicBezTo>
                    <a:cubicBezTo>
                      <a:pt x="3465" y="751"/>
                      <a:pt x="3465" y="751"/>
                      <a:pt x="3454" y="763"/>
                    </a:cubicBezTo>
                    <a:lnTo>
                      <a:pt x="3418" y="775"/>
                    </a:lnTo>
                    <a:cubicBezTo>
                      <a:pt x="3418" y="775"/>
                      <a:pt x="3406" y="775"/>
                      <a:pt x="3406" y="787"/>
                    </a:cubicBezTo>
                    <a:lnTo>
                      <a:pt x="3370" y="811"/>
                    </a:lnTo>
                    <a:lnTo>
                      <a:pt x="3358" y="822"/>
                    </a:lnTo>
                    <a:cubicBezTo>
                      <a:pt x="3358" y="822"/>
                      <a:pt x="3346" y="822"/>
                      <a:pt x="3346" y="834"/>
                    </a:cubicBezTo>
                    <a:lnTo>
                      <a:pt x="3299" y="870"/>
                    </a:lnTo>
                    <a:lnTo>
                      <a:pt x="3287" y="882"/>
                    </a:lnTo>
                    <a:cubicBezTo>
                      <a:pt x="3275" y="882"/>
                      <a:pt x="3275" y="894"/>
                      <a:pt x="3251" y="894"/>
                    </a:cubicBezTo>
                    <a:lnTo>
                      <a:pt x="3215" y="930"/>
                    </a:lnTo>
                    <a:lnTo>
                      <a:pt x="3192" y="942"/>
                    </a:lnTo>
                    <a:lnTo>
                      <a:pt x="3180" y="953"/>
                    </a:lnTo>
                    <a:cubicBezTo>
                      <a:pt x="3180" y="953"/>
                      <a:pt x="3168" y="965"/>
                      <a:pt x="3156" y="965"/>
                    </a:cubicBezTo>
                    <a:lnTo>
                      <a:pt x="3132" y="989"/>
                    </a:lnTo>
                    <a:lnTo>
                      <a:pt x="3120" y="1001"/>
                    </a:lnTo>
                    <a:lnTo>
                      <a:pt x="3108" y="1013"/>
                    </a:lnTo>
                    <a:cubicBezTo>
                      <a:pt x="3096" y="1013"/>
                      <a:pt x="3096" y="1025"/>
                      <a:pt x="3096" y="1025"/>
                    </a:cubicBezTo>
                    <a:lnTo>
                      <a:pt x="3073" y="1049"/>
                    </a:lnTo>
                    <a:lnTo>
                      <a:pt x="3037" y="1072"/>
                    </a:lnTo>
                    <a:lnTo>
                      <a:pt x="3013" y="1084"/>
                    </a:lnTo>
                    <a:lnTo>
                      <a:pt x="2954" y="1144"/>
                    </a:lnTo>
                    <a:lnTo>
                      <a:pt x="2942" y="1168"/>
                    </a:lnTo>
                    <a:lnTo>
                      <a:pt x="2930" y="1180"/>
                    </a:lnTo>
                    <a:lnTo>
                      <a:pt x="2918" y="1192"/>
                    </a:lnTo>
                    <a:cubicBezTo>
                      <a:pt x="2811" y="1287"/>
                      <a:pt x="2715" y="1382"/>
                      <a:pt x="2632" y="1501"/>
                    </a:cubicBezTo>
                    <a:cubicBezTo>
                      <a:pt x="2596" y="1549"/>
                      <a:pt x="2573" y="1584"/>
                      <a:pt x="2561" y="1620"/>
                    </a:cubicBezTo>
                    <a:lnTo>
                      <a:pt x="2537" y="1644"/>
                    </a:lnTo>
                    <a:cubicBezTo>
                      <a:pt x="2513" y="1680"/>
                      <a:pt x="2501" y="1715"/>
                      <a:pt x="2465" y="1763"/>
                    </a:cubicBezTo>
                    <a:lnTo>
                      <a:pt x="2465" y="1775"/>
                    </a:lnTo>
                    <a:cubicBezTo>
                      <a:pt x="2453" y="1823"/>
                      <a:pt x="2418" y="1846"/>
                      <a:pt x="2406" y="1894"/>
                    </a:cubicBezTo>
                    <a:lnTo>
                      <a:pt x="2406" y="1906"/>
                    </a:lnTo>
                    <a:lnTo>
                      <a:pt x="2358" y="2037"/>
                    </a:lnTo>
                    <a:lnTo>
                      <a:pt x="2358" y="2061"/>
                    </a:lnTo>
                    <a:lnTo>
                      <a:pt x="2322" y="2192"/>
                    </a:lnTo>
                    <a:lnTo>
                      <a:pt x="2322" y="2204"/>
                    </a:lnTo>
                    <a:cubicBezTo>
                      <a:pt x="2299" y="2251"/>
                      <a:pt x="2287" y="2299"/>
                      <a:pt x="2287" y="2335"/>
                    </a:cubicBezTo>
                    <a:lnTo>
                      <a:pt x="2287" y="2358"/>
                    </a:lnTo>
                    <a:cubicBezTo>
                      <a:pt x="2275" y="2394"/>
                      <a:pt x="2275" y="2442"/>
                      <a:pt x="2275" y="2489"/>
                    </a:cubicBezTo>
                    <a:lnTo>
                      <a:pt x="2275" y="2501"/>
                    </a:lnTo>
                    <a:lnTo>
                      <a:pt x="2275" y="2573"/>
                    </a:lnTo>
                    <a:lnTo>
                      <a:pt x="2275" y="2656"/>
                    </a:lnTo>
                    <a:lnTo>
                      <a:pt x="2275" y="2668"/>
                    </a:lnTo>
                    <a:lnTo>
                      <a:pt x="2275" y="2739"/>
                    </a:lnTo>
                    <a:cubicBezTo>
                      <a:pt x="2275" y="2811"/>
                      <a:pt x="2275" y="2894"/>
                      <a:pt x="2287" y="2954"/>
                    </a:cubicBezTo>
                    <a:lnTo>
                      <a:pt x="2287" y="2989"/>
                    </a:lnTo>
                    <a:cubicBezTo>
                      <a:pt x="2287" y="3013"/>
                      <a:pt x="2287" y="3037"/>
                      <a:pt x="2299" y="3049"/>
                    </a:cubicBezTo>
                    <a:cubicBezTo>
                      <a:pt x="2322" y="3144"/>
                      <a:pt x="2334" y="3228"/>
                      <a:pt x="2358" y="3311"/>
                    </a:cubicBezTo>
                    <a:cubicBezTo>
                      <a:pt x="2358" y="3335"/>
                      <a:pt x="2382" y="3347"/>
                      <a:pt x="2394" y="3382"/>
                    </a:cubicBezTo>
                    <a:lnTo>
                      <a:pt x="2394" y="3394"/>
                    </a:lnTo>
                    <a:cubicBezTo>
                      <a:pt x="2394" y="3406"/>
                      <a:pt x="2406" y="3442"/>
                      <a:pt x="2406" y="3454"/>
                    </a:cubicBezTo>
                    <a:lnTo>
                      <a:pt x="2406" y="3466"/>
                    </a:lnTo>
                    <a:cubicBezTo>
                      <a:pt x="2418" y="3489"/>
                      <a:pt x="2418" y="3513"/>
                      <a:pt x="2442" y="3525"/>
                    </a:cubicBezTo>
                    <a:lnTo>
                      <a:pt x="2442" y="3549"/>
                    </a:lnTo>
                    <a:cubicBezTo>
                      <a:pt x="2513" y="3739"/>
                      <a:pt x="2632" y="3918"/>
                      <a:pt x="2763" y="4085"/>
                    </a:cubicBezTo>
                    <a:lnTo>
                      <a:pt x="2775" y="4097"/>
                    </a:lnTo>
                    <a:lnTo>
                      <a:pt x="2799" y="4109"/>
                    </a:lnTo>
                    <a:lnTo>
                      <a:pt x="2799" y="4120"/>
                    </a:lnTo>
                    <a:lnTo>
                      <a:pt x="2811" y="4144"/>
                    </a:lnTo>
                    <a:cubicBezTo>
                      <a:pt x="2823" y="4156"/>
                      <a:pt x="2834" y="4168"/>
                      <a:pt x="2858" y="4204"/>
                    </a:cubicBezTo>
                    <a:lnTo>
                      <a:pt x="2870" y="4216"/>
                    </a:lnTo>
                    <a:lnTo>
                      <a:pt x="2918" y="4263"/>
                    </a:lnTo>
                    <a:lnTo>
                      <a:pt x="2930" y="4275"/>
                    </a:lnTo>
                    <a:cubicBezTo>
                      <a:pt x="2942" y="4287"/>
                      <a:pt x="2954" y="4299"/>
                      <a:pt x="2989" y="4323"/>
                    </a:cubicBezTo>
                    <a:lnTo>
                      <a:pt x="3001" y="4335"/>
                    </a:lnTo>
                    <a:lnTo>
                      <a:pt x="3049" y="4382"/>
                    </a:lnTo>
                    <a:lnTo>
                      <a:pt x="3061" y="4394"/>
                    </a:lnTo>
                    <a:cubicBezTo>
                      <a:pt x="3073" y="4406"/>
                      <a:pt x="3108" y="4418"/>
                      <a:pt x="3120" y="4442"/>
                    </a:cubicBezTo>
                    <a:lnTo>
                      <a:pt x="3132" y="4442"/>
                    </a:lnTo>
                    <a:cubicBezTo>
                      <a:pt x="3156" y="4454"/>
                      <a:pt x="3168" y="4466"/>
                      <a:pt x="3192" y="4478"/>
                    </a:cubicBezTo>
                    <a:lnTo>
                      <a:pt x="3215" y="4501"/>
                    </a:lnTo>
                    <a:lnTo>
                      <a:pt x="3227" y="4501"/>
                    </a:lnTo>
                    <a:cubicBezTo>
                      <a:pt x="3215" y="4501"/>
                      <a:pt x="3215" y="4513"/>
                      <a:pt x="3192" y="4513"/>
                    </a:cubicBezTo>
                    <a:cubicBezTo>
                      <a:pt x="3156" y="4537"/>
                      <a:pt x="3096" y="4573"/>
                      <a:pt x="3049" y="4597"/>
                    </a:cubicBezTo>
                    <a:cubicBezTo>
                      <a:pt x="3037" y="4597"/>
                      <a:pt x="3037" y="4621"/>
                      <a:pt x="3013" y="4621"/>
                    </a:cubicBezTo>
                    <a:cubicBezTo>
                      <a:pt x="2977" y="4585"/>
                      <a:pt x="2942" y="4561"/>
                      <a:pt x="2894" y="4525"/>
                    </a:cubicBezTo>
                    <a:lnTo>
                      <a:pt x="2858" y="4478"/>
                    </a:lnTo>
                    <a:lnTo>
                      <a:pt x="2811" y="4442"/>
                    </a:lnTo>
                    <a:lnTo>
                      <a:pt x="2799" y="4418"/>
                    </a:lnTo>
                    <a:lnTo>
                      <a:pt x="2763" y="4394"/>
                    </a:lnTo>
                    <a:lnTo>
                      <a:pt x="2751" y="4382"/>
                    </a:lnTo>
                    <a:cubicBezTo>
                      <a:pt x="2620" y="4347"/>
                      <a:pt x="2608" y="4335"/>
                      <a:pt x="2608" y="4335"/>
                    </a:cubicBezTo>
                    <a:lnTo>
                      <a:pt x="2584" y="4311"/>
                    </a:lnTo>
                    <a:lnTo>
                      <a:pt x="2561" y="4287"/>
                    </a:lnTo>
                    <a:lnTo>
                      <a:pt x="2537" y="4275"/>
                    </a:lnTo>
                    <a:lnTo>
                      <a:pt x="2513" y="4240"/>
                    </a:lnTo>
                    <a:lnTo>
                      <a:pt x="2501" y="4228"/>
                    </a:lnTo>
                    <a:cubicBezTo>
                      <a:pt x="2501" y="4216"/>
                      <a:pt x="2477" y="4216"/>
                      <a:pt x="2477" y="4192"/>
                    </a:cubicBezTo>
                    <a:lnTo>
                      <a:pt x="2465" y="4180"/>
                    </a:lnTo>
                    <a:cubicBezTo>
                      <a:pt x="2465" y="4168"/>
                      <a:pt x="2453" y="4168"/>
                      <a:pt x="2453" y="4156"/>
                    </a:cubicBezTo>
                    <a:lnTo>
                      <a:pt x="2442" y="4132"/>
                    </a:lnTo>
                    <a:cubicBezTo>
                      <a:pt x="2442" y="4120"/>
                      <a:pt x="2418" y="4120"/>
                      <a:pt x="2418" y="4109"/>
                    </a:cubicBezTo>
                    <a:lnTo>
                      <a:pt x="2406" y="4097"/>
                    </a:lnTo>
                    <a:cubicBezTo>
                      <a:pt x="2406" y="4073"/>
                      <a:pt x="2394" y="4073"/>
                      <a:pt x="2394" y="4061"/>
                    </a:cubicBezTo>
                    <a:lnTo>
                      <a:pt x="2382" y="4049"/>
                    </a:lnTo>
                    <a:cubicBezTo>
                      <a:pt x="2358" y="4037"/>
                      <a:pt x="2358" y="4013"/>
                      <a:pt x="2346" y="4001"/>
                    </a:cubicBezTo>
                    <a:lnTo>
                      <a:pt x="2346" y="3990"/>
                    </a:lnTo>
                    <a:cubicBezTo>
                      <a:pt x="2334" y="3978"/>
                      <a:pt x="2334" y="3954"/>
                      <a:pt x="2322" y="3942"/>
                    </a:cubicBezTo>
                    <a:lnTo>
                      <a:pt x="2299" y="3930"/>
                    </a:lnTo>
                    <a:cubicBezTo>
                      <a:pt x="2299" y="3918"/>
                      <a:pt x="2287" y="3894"/>
                      <a:pt x="2287" y="3894"/>
                    </a:cubicBezTo>
                    <a:lnTo>
                      <a:pt x="2275" y="3882"/>
                    </a:lnTo>
                    <a:cubicBezTo>
                      <a:pt x="2275" y="3870"/>
                      <a:pt x="2263" y="3870"/>
                      <a:pt x="2263" y="3859"/>
                    </a:cubicBezTo>
                    <a:lnTo>
                      <a:pt x="2239" y="3835"/>
                    </a:lnTo>
                    <a:cubicBezTo>
                      <a:pt x="2239" y="3823"/>
                      <a:pt x="2227" y="3823"/>
                      <a:pt x="2227" y="3811"/>
                    </a:cubicBezTo>
                    <a:lnTo>
                      <a:pt x="2215" y="3775"/>
                    </a:lnTo>
                    <a:cubicBezTo>
                      <a:pt x="2215" y="3763"/>
                      <a:pt x="2203" y="3763"/>
                      <a:pt x="2203" y="3751"/>
                    </a:cubicBezTo>
                    <a:cubicBezTo>
                      <a:pt x="2203" y="3739"/>
                      <a:pt x="2203" y="3739"/>
                      <a:pt x="2180" y="3716"/>
                    </a:cubicBezTo>
                    <a:cubicBezTo>
                      <a:pt x="2180" y="3704"/>
                      <a:pt x="2168" y="3704"/>
                      <a:pt x="2168" y="3692"/>
                    </a:cubicBezTo>
                    <a:cubicBezTo>
                      <a:pt x="2168" y="3692"/>
                      <a:pt x="2168" y="3680"/>
                      <a:pt x="2156" y="3680"/>
                    </a:cubicBezTo>
                    <a:cubicBezTo>
                      <a:pt x="2156" y="3656"/>
                      <a:pt x="2144" y="3656"/>
                      <a:pt x="2144" y="3644"/>
                    </a:cubicBezTo>
                    <a:cubicBezTo>
                      <a:pt x="2144" y="3632"/>
                      <a:pt x="2144" y="3632"/>
                      <a:pt x="2120" y="3620"/>
                    </a:cubicBezTo>
                    <a:cubicBezTo>
                      <a:pt x="2120" y="3597"/>
                      <a:pt x="2108" y="3597"/>
                      <a:pt x="2108" y="3585"/>
                    </a:cubicBezTo>
                    <a:lnTo>
                      <a:pt x="2096" y="3561"/>
                    </a:lnTo>
                    <a:cubicBezTo>
                      <a:pt x="2096" y="3537"/>
                      <a:pt x="2084" y="3537"/>
                      <a:pt x="2084" y="3525"/>
                    </a:cubicBezTo>
                    <a:lnTo>
                      <a:pt x="2061" y="3501"/>
                    </a:lnTo>
                    <a:cubicBezTo>
                      <a:pt x="2061" y="3478"/>
                      <a:pt x="2049" y="3466"/>
                      <a:pt x="2049" y="3454"/>
                    </a:cubicBezTo>
                    <a:lnTo>
                      <a:pt x="2049" y="3442"/>
                    </a:lnTo>
                    <a:cubicBezTo>
                      <a:pt x="2049" y="3418"/>
                      <a:pt x="2037" y="3394"/>
                      <a:pt x="2037" y="3382"/>
                    </a:cubicBezTo>
                    <a:lnTo>
                      <a:pt x="2037" y="3358"/>
                    </a:lnTo>
                    <a:cubicBezTo>
                      <a:pt x="2037" y="3347"/>
                      <a:pt x="2025" y="3335"/>
                      <a:pt x="2025" y="3323"/>
                    </a:cubicBezTo>
                    <a:lnTo>
                      <a:pt x="2025" y="3287"/>
                    </a:lnTo>
                    <a:cubicBezTo>
                      <a:pt x="2025" y="3275"/>
                      <a:pt x="2025" y="3263"/>
                      <a:pt x="2001" y="3239"/>
                    </a:cubicBezTo>
                    <a:lnTo>
                      <a:pt x="2001" y="3216"/>
                    </a:lnTo>
                    <a:lnTo>
                      <a:pt x="2001" y="3180"/>
                    </a:lnTo>
                    <a:lnTo>
                      <a:pt x="2001" y="3156"/>
                    </a:lnTo>
                    <a:lnTo>
                      <a:pt x="2001" y="3120"/>
                    </a:lnTo>
                    <a:lnTo>
                      <a:pt x="2001" y="3097"/>
                    </a:lnTo>
                    <a:lnTo>
                      <a:pt x="2001" y="3061"/>
                    </a:lnTo>
                    <a:lnTo>
                      <a:pt x="2001" y="3037"/>
                    </a:lnTo>
                    <a:lnTo>
                      <a:pt x="2001" y="3001"/>
                    </a:lnTo>
                    <a:lnTo>
                      <a:pt x="2001" y="2977"/>
                    </a:lnTo>
                    <a:lnTo>
                      <a:pt x="2001" y="2942"/>
                    </a:lnTo>
                    <a:lnTo>
                      <a:pt x="2001" y="2930"/>
                    </a:lnTo>
                    <a:lnTo>
                      <a:pt x="2001" y="2906"/>
                    </a:lnTo>
                    <a:lnTo>
                      <a:pt x="2001" y="2870"/>
                    </a:lnTo>
                    <a:lnTo>
                      <a:pt x="2001" y="2823"/>
                    </a:lnTo>
                    <a:lnTo>
                      <a:pt x="2001" y="2811"/>
                    </a:lnTo>
                    <a:lnTo>
                      <a:pt x="2001" y="2751"/>
                    </a:lnTo>
                    <a:cubicBezTo>
                      <a:pt x="2001" y="2525"/>
                      <a:pt x="2037" y="2323"/>
                      <a:pt x="2096" y="2108"/>
                    </a:cubicBezTo>
                    <a:cubicBezTo>
                      <a:pt x="2227" y="1620"/>
                      <a:pt x="2537" y="1192"/>
                      <a:pt x="2942" y="882"/>
                    </a:cubicBezTo>
                    <a:cubicBezTo>
                      <a:pt x="3346" y="584"/>
                      <a:pt x="3835" y="418"/>
                      <a:pt x="4347" y="418"/>
                    </a:cubicBezTo>
                    <a:close/>
                    <a:moveTo>
                      <a:pt x="4251" y="1"/>
                    </a:moveTo>
                    <a:cubicBezTo>
                      <a:pt x="3656" y="1"/>
                      <a:pt x="3096" y="191"/>
                      <a:pt x="2620" y="537"/>
                    </a:cubicBezTo>
                    <a:cubicBezTo>
                      <a:pt x="2144" y="894"/>
                      <a:pt x="1787" y="1406"/>
                      <a:pt x="1620" y="1977"/>
                    </a:cubicBezTo>
                    <a:cubicBezTo>
                      <a:pt x="1549" y="2215"/>
                      <a:pt x="1513" y="2477"/>
                      <a:pt x="1513" y="2727"/>
                    </a:cubicBezTo>
                    <a:lnTo>
                      <a:pt x="1513" y="2799"/>
                    </a:lnTo>
                    <a:lnTo>
                      <a:pt x="1513" y="2811"/>
                    </a:lnTo>
                    <a:lnTo>
                      <a:pt x="1513" y="2835"/>
                    </a:lnTo>
                    <a:lnTo>
                      <a:pt x="1513" y="2870"/>
                    </a:lnTo>
                    <a:lnTo>
                      <a:pt x="1513" y="2906"/>
                    </a:lnTo>
                    <a:lnTo>
                      <a:pt x="1513" y="2954"/>
                    </a:lnTo>
                    <a:lnTo>
                      <a:pt x="1513" y="2977"/>
                    </a:lnTo>
                    <a:lnTo>
                      <a:pt x="1513" y="3025"/>
                    </a:lnTo>
                    <a:lnTo>
                      <a:pt x="1513" y="3049"/>
                    </a:lnTo>
                    <a:lnTo>
                      <a:pt x="1513" y="3097"/>
                    </a:lnTo>
                    <a:lnTo>
                      <a:pt x="1513" y="3132"/>
                    </a:lnTo>
                    <a:lnTo>
                      <a:pt x="1513" y="3168"/>
                    </a:lnTo>
                    <a:lnTo>
                      <a:pt x="1513" y="3204"/>
                    </a:lnTo>
                    <a:lnTo>
                      <a:pt x="1513" y="3251"/>
                    </a:lnTo>
                    <a:lnTo>
                      <a:pt x="1513" y="3275"/>
                    </a:lnTo>
                    <a:cubicBezTo>
                      <a:pt x="1513" y="3287"/>
                      <a:pt x="1513" y="3311"/>
                      <a:pt x="1537" y="3323"/>
                    </a:cubicBezTo>
                    <a:lnTo>
                      <a:pt x="1537" y="3335"/>
                    </a:lnTo>
                    <a:lnTo>
                      <a:pt x="1537" y="3347"/>
                    </a:lnTo>
                    <a:cubicBezTo>
                      <a:pt x="1537" y="3370"/>
                      <a:pt x="1537" y="3382"/>
                      <a:pt x="1549" y="3394"/>
                    </a:cubicBezTo>
                    <a:lnTo>
                      <a:pt x="1549" y="3430"/>
                    </a:lnTo>
                    <a:cubicBezTo>
                      <a:pt x="1549" y="3442"/>
                      <a:pt x="1560" y="3454"/>
                      <a:pt x="1560" y="3489"/>
                    </a:cubicBezTo>
                    <a:lnTo>
                      <a:pt x="1560" y="3501"/>
                    </a:lnTo>
                    <a:cubicBezTo>
                      <a:pt x="1560" y="3525"/>
                      <a:pt x="1572" y="3549"/>
                      <a:pt x="1572" y="3573"/>
                    </a:cubicBezTo>
                    <a:lnTo>
                      <a:pt x="1572" y="3585"/>
                    </a:lnTo>
                    <a:cubicBezTo>
                      <a:pt x="1572" y="3609"/>
                      <a:pt x="1596" y="3620"/>
                      <a:pt x="1596" y="3632"/>
                    </a:cubicBezTo>
                    <a:lnTo>
                      <a:pt x="1596" y="3644"/>
                    </a:lnTo>
                    <a:lnTo>
                      <a:pt x="1596" y="3668"/>
                    </a:lnTo>
                    <a:cubicBezTo>
                      <a:pt x="1596" y="3680"/>
                      <a:pt x="1608" y="3692"/>
                      <a:pt x="1608" y="3704"/>
                    </a:cubicBezTo>
                    <a:lnTo>
                      <a:pt x="1608" y="3728"/>
                    </a:lnTo>
                    <a:lnTo>
                      <a:pt x="1608" y="3739"/>
                    </a:lnTo>
                    <a:cubicBezTo>
                      <a:pt x="1608" y="3751"/>
                      <a:pt x="1620" y="3763"/>
                      <a:pt x="1620" y="3787"/>
                    </a:cubicBezTo>
                    <a:cubicBezTo>
                      <a:pt x="1620" y="3799"/>
                      <a:pt x="1632" y="3799"/>
                      <a:pt x="1632" y="3811"/>
                    </a:cubicBezTo>
                    <a:cubicBezTo>
                      <a:pt x="1632" y="3823"/>
                      <a:pt x="1656" y="3847"/>
                      <a:pt x="1656" y="3847"/>
                    </a:cubicBezTo>
                    <a:cubicBezTo>
                      <a:pt x="1656" y="3859"/>
                      <a:pt x="1656" y="3859"/>
                      <a:pt x="1668" y="3870"/>
                    </a:cubicBezTo>
                    <a:cubicBezTo>
                      <a:pt x="1668" y="3882"/>
                      <a:pt x="1680" y="3906"/>
                      <a:pt x="1680" y="3906"/>
                    </a:cubicBezTo>
                    <a:cubicBezTo>
                      <a:pt x="1680" y="3918"/>
                      <a:pt x="1691" y="3918"/>
                      <a:pt x="1691" y="3930"/>
                    </a:cubicBezTo>
                    <a:cubicBezTo>
                      <a:pt x="1691" y="3942"/>
                      <a:pt x="1715" y="3966"/>
                      <a:pt x="1715" y="3966"/>
                    </a:cubicBezTo>
                    <a:lnTo>
                      <a:pt x="1727" y="3990"/>
                    </a:lnTo>
                    <a:cubicBezTo>
                      <a:pt x="1727" y="4001"/>
                      <a:pt x="1739" y="4025"/>
                      <a:pt x="1739" y="4025"/>
                    </a:cubicBezTo>
                    <a:cubicBezTo>
                      <a:pt x="1739" y="4025"/>
                      <a:pt x="1739" y="4037"/>
                      <a:pt x="1751" y="4037"/>
                    </a:cubicBezTo>
                    <a:cubicBezTo>
                      <a:pt x="1751" y="4049"/>
                      <a:pt x="1775" y="4061"/>
                      <a:pt x="1775" y="4061"/>
                    </a:cubicBezTo>
                    <a:cubicBezTo>
                      <a:pt x="1775" y="4061"/>
                      <a:pt x="1775" y="4085"/>
                      <a:pt x="1787" y="4085"/>
                    </a:cubicBezTo>
                    <a:cubicBezTo>
                      <a:pt x="1799" y="4097"/>
                      <a:pt x="1799" y="4109"/>
                      <a:pt x="1811" y="4120"/>
                    </a:cubicBezTo>
                    <a:lnTo>
                      <a:pt x="1834" y="4144"/>
                    </a:lnTo>
                    <a:cubicBezTo>
                      <a:pt x="1846" y="4156"/>
                      <a:pt x="1858" y="4180"/>
                      <a:pt x="1858" y="4204"/>
                    </a:cubicBezTo>
                    <a:lnTo>
                      <a:pt x="1858" y="4216"/>
                    </a:lnTo>
                    <a:cubicBezTo>
                      <a:pt x="1870" y="4228"/>
                      <a:pt x="1870" y="4240"/>
                      <a:pt x="1894" y="4263"/>
                    </a:cubicBezTo>
                    <a:lnTo>
                      <a:pt x="1906" y="4287"/>
                    </a:lnTo>
                    <a:cubicBezTo>
                      <a:pt x="1918" y="4299"/>
                      <a:pt x="1918" y="4323"/>
                      <a:pt x="1930" y="4323"/>
                    </a:cubicBezTo>
                    <a:lnTo>
                      <a:pt x="1953" y="4335"/>
                    </a:lnTo>
                    <a:cubicBezTo>
                      <a:pt x="1965" y="4347"/>
                      <a:pt x="1965" y="4359"/>
                      <a:pt x="1977" y="4359"/>
                    </a:cubicBezTo>
                    <a:cubicBezTo>
                      <a:pt x="1977" y="4382"/>
                      <a:pt x="1989" y="4382"/>
                      <a:pt x="1989" y="4394"/>
                    </a:cubicBezTo>
                    <a:lnTo>
                      <a:pt x="2025" y="4418"/>
                    </a:lnTo>
                    <a:lnTo>
                      <a:pt x="2037" y="4442"/>
                    </a:lnTo>
                    <a:lnTo>
                      <a:pt x="2072" y="4466"/>
                    </a:lnTo>
                    <a:cubicBezTo>
                      <a:pt x="2072" y="4478"/>
                      <a:pt x="2084" y="4478"/>
                      <a:pt x="2084" y="4501"/>
                    </a:cubicBezTo>
                    <a:lnTo>
                      <a:pt x="2108" y="4525"/>
                    </a:lnTo>
                    <a:cubicBezTo>
                      <a:pt x="2108" y="4537"/>
                      <a:pt x="2132" y="4537"/>
                      <a:pt x="2132" y="4537"/>
                    </a:cubicBezTo>
                    <a:lnTo>
                      <a:pt x="2156" y="4573"/>
                    </a:lnTo>
                    <a:lnTo>
                      <a:pt x="2168" y="4585"/>
                    </a:lnTo>
                    <a:lnTo>
                      <a:pt x="2203" y="4621"/>
                    </a:lnTo>
                    <a:lnTo>
                      <a:pt x="2215" y="4632"/>
                    </a:lnTo>
                    <a:lnTo>
                      <a:pt x="2251" y="4656"/>
                    </a:lnTo>
                    <a:lnTo>
                      <a:pt x="2263" y="4680"/>
                    </a:lnTo>
                    <a:lnTo>
                      <a:pt x="2311" y="4716"/>
                    </a:lnTo>
                    <a:lnTo>
                      <a:pt x="2346" y="4763"/>
                    </a:lnTo>
                    <a:cubicBezTo>
                      <a:pt x="2382" y="4775"/>
                      <a:pt x="2406" y="4811"/>
                      <a:pt x="2430" y="4823"/>
                    </a:cubicBezTo>
                    <a:lnTo>
                      <a:pt x="2406" y="4835"/>
                    </a:lnTo>
                    <a:cubicBezTo>
                      <a:pt x="2287" y="4811"/>
                      <a:pt x="2156" y="4811"/>
                      <a:pt x="2025" y="4811"/>
                    </a:cubicBezTo>
                    <a:cubicBezTo>
                      <a:pt x="906" y="4811"/>
                      <a:pt x="1" y="5716"/>
                      <a:pt x="1" y="6835"/>
                    </a:cubicBezTo>
                    <a:cubicBezTo>
                      <a:pt x="1" y="7954"/>
                      <a:pt x="906" y="8859"/>
                      <a:pt x="2025" y="8859"/>
                    </a:cubicBezTo>
                    <a:lnTo>
                      <a:pt x="8633" y="8859"/>
                    </a:lnTo>
                    <a:cubicBezTo>
                      <a:pt x="8740" y="8859"/>
                      <a:pt x="8823" y="8764"/>
                      <a:pt x="8823" y="8669"/>
                    </a:cubicBezTo>
                    <a:cubicBezTo>
                      <a:pt x="9002" y="8573"/>
                      <a:pt x="8919" y="8490"/>
                      <a:pt x="8811" y="8490"/>
                    </a:cubicBezTo>
                    <a:lnTo>
                      <a:pt x="2203" y="8490"/>
                    </a:lnTo>
                    <a:cubicBezTo>
                      <a:pt x="1299" y="8490"/>
                      <a:pt x="560" y="7752"/>
                      <a:pt x="560" y="6847"/>
                    </a:cubicBezTo>
                    <a:cubicBezTo>
                      <a:pt x="560" y="5942"/>
                      <a:pt x="1299" y="5216"/>
                      <a:pt x="2203" y="5216"/>
                    </a:cubicBezTo>
                    <a:cubicBezTo>
                      <a:pt x="2334" y="5216"/>
                      <a:pt x="2489" y="5228"/>
                      <a:pt x="2620" y="5275"/>
                    </a:cubicBezTo>
                    <a:cubicBezTo>
                      <a:pt x="2629" y="5277"/>
                      <a:pt x="2639" y="5278"/>
                      <a:pt x="2649" y="5278"/>
                    </a:cubicBezTo>
                    <a:cubicBezTo>
                      <a:pt x="2715" y="5278"/>
                      <a:pt x="2791" y="5244"/>
                      <a:pt x="2823" y="5192"/>
                    </a:cubicBezTo>
                    <a:cubicBezTo>
                      <a:pt x="2882" y="5109"/>
                      <a:pt x="2954" y="5037"/>
                      <a:pt x="3037" y="4978"/>
                    </a:cubicBezTo>
                    <a:cubicBezTo>
                      <a:pt x="3049" y="4954"/>
                      <a:pt x="3061" y="4942"/>
                      <a:pt x="3096" y="4930"/>
                    </a:cubicBezTo>
                    <a:lnTo>
                      <a:pt x="3108" y="4930"/>
                    </a:lnTo>
                    <a:cubicBezTo>
                      <a:pt x="3120" y="4918"/>
                      <a:pt x="3132" y="4894"/>
                      <a:pt x="3168" y="4882"/>
                    </a:cubicBezTo>
                    <a:cubicBezTo>
                      <a:pt x="3215" y="4859"/>
                      <a:pt x="3251" y="4823"/>
                      <a:pt x="3299" y="4811"/>
                    </a:cubicBezTo>
                    <a:cubicBezTo>
                      <a:pt x="3311" y="4799"/>
                      <a:pt x="3346" y="4799"/>
                      <a:pt x="3358" y="4775"/>
                    </a:cubicBezTo>
                    <a:cubicBezTo>
                      <a:pt x="3406" y="4763"/>
                      <a:pt x="3454" y="4740"/>
                      <a:pt x="3489" y="4716"/>
                    </a:cubicBezTo>
                    <a:cubicBezTo>
                      <a:pt x="3513" y="4716"/>
                      <a:pt x="3537" y="4704"/>
                      <a:pt x="3549" y="4704"/>
                    </a:cubicBezTo>
                    <a:lnTo>
                      <a:pt x="3573" y="4704"/>
                    </a:lnTo>
                    <a:cubicBezTo>
                      <a:pt x="3585" y="4704"/>
                      <a:pt x="3608" y="4692"/>
                      <a:pt x="3632" y="4692"/>
                    </a:cubicBezTo>
                    <a:lnTo>
                      <a:pt x="3930" y="4692"/>
                    </a:lnTo>
                    <a:cubicBezTo>
                      <a:pt x="3989" y="4692"/>
                      <a:pt x="4025" y="4704"/>
                      <a:pt x="4085" y="4704"/>
                    </a:cubicBezTo>
                    <a:cubicBezTo>
                      <a:pt x="4120" y="4704"/>
                      <a:pt x="4132" y="4716"/>
                      <a:pt x="4168" y="4716"/>
                    </a:cubicBezTo>
                    <a:lnTo>
                      <a:pt x="4180" y="4716"/>
                    </a:lnTo>
                    <a:cubicBezTo>
                      <a:pt x="4204" y="4716"/>
                      <a:pt x="4227" y="4740"/>
                      <a:pt x="4251" y="4740"/>
                    </a:cubicBezTo>
                    <a:lnTo>
                      <a:pt x="4394" y="4740"/>
                    </a:lnTo>
                    <a:cubicBezTo>
                      <a:pt x="4394" y="4740"/>
                      <a:pt x="4406" y="4740"/>
                      <a:pt x="4406" y="4716"/>
                    </a:cubicBezTo>
                    <a:lnTo>
                      <a:pt x="4454" y="4680"/>
                    </a:lnTo>
                    <a:cubicBezTo>
                      <a:pt x="4478" y="4644"/>
                      <a:pt x="4489" y="4621"/>
                      <a:pt x="4489" y="4585"/>
                    </a:cubicBezTo>
                    <a:cubicBezTo>
                      <a:pt x="4489" y="4561"/>
                      <a:pt x="4513" y="4525"/>
                      <a:pt x="4513" y="4513"/>
                    </a:cubicBezTo>
                    <a:cubicBezTo>
                      <a:pt x="4513" y="4501"/>
                      <a:pt x="4525" y="4478"/>
                      <a:pt x="4525" y="4466"/>
                    </a:cubicBezTo>
                    <a:cubicBezTo>
                      <a:pt x="4525" y="4454"/>
                      <a:pt x="4525" y="4442"/>
                      <a:pt x="4537" y="4418"/>
                    </a:cubicBezTo>
                    <a:cubicBezTo>
                      <a:pt x="4537" y="4406"/>
                      <a:pt x="4549" y="4382"/>
                      <a:pt x="4549" y="4359"/>
                    </a:cubicBezTo>
                    <a:lnTo>
                      <a:pt x="4549" y="4347"/>
                    </a:lnTo>
                    <a:cubicBezTo>
                      <a:pt x="4811" y="3609"/>
                      <a:pt x="5442" y="3049"/>
                      <a:pt x="6216" y="2894"/>
                    </a:cubicBezTo>
                    <a:lnTo>
                      <a:pt x="6240" y="2894"/>
                    </a:lnTo>
                    <a:cubicBezTo>
                      <a:pt x="6371" y="2858"/>
                      <a:pt x="6513" y="2847"/>
                      <a:pt x="6668" y="2847"/>
                    </a:cubicBezTo>
                    <a:lnTo>
                      <a:pt x="6799" y="2847"/>
                    </a:lnTo>
                    <a:cubicBezTo>
                      <a:pt x="7228" y="2870"/>
                      <a:pt x="7633" y="3013"/>
                      <a:pt x="7978" y="3263"/>
                    </a:cubicBezTo>
                    <a:cubicBezTo>
                      <a:pt x="8012" y="3287"/>
                      <a:pt x="8051" y="3300"/>
                      <a:pt x="8090" y="3300"/>
                    </a:cubicBezTo>
                    <a:cubicBezTo>
                      <a:pt x="8148" y="3300"/>
                      <a:pt x="8204" y="3272"/>
                      <a:pt x="8240" y="3216"/>
                    </a:cubicBezTo>
                    <a:cubicBezTo>
                      <a:pt x="8299" y="3132"/>
                      <a:pt x="8288" y="3013"/>
                      <a:pt x="8204" y="2954"/>
                    </a:cubicBezTo>
                    <a:cubicBezTo>
                      <a:pt x="7847" y="2680"/>
                      <a:pt x="7430" y="2513"/>
                      <a:pt x="6978" y="2477"/>
                    </a:cubicBezTo>
                    <a:cubicBezTo>
                      <a:pt x="6966" y="2311"/>
                      <a:pt x="6930" y="2132"/>
                      <a:pt x="6894" y="1977"/>
                    </a:cubicBezTo>
                    <a:cubicBezTo>
                      <a:pt x="6728" y="1418"/>
                      <a:pt x="6371" y="894"/>
                      <a:pt x="5894" y="537"/>
                    </a:cubicBezTo>
                    <a:cubicBezTo>
                      <a:pt x="5418" y="180"/>
                      <a:pt x="4847" y="1"/>
                      <a:pt x="425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1670026" y="3377672"/>
                <a:ext cx="104760" cy="175256"/>
              </a:xfrm>
              <a:custGeom>
                <a:rect b="b" l="l" r="r" t="t"/>
                <a:pathLst>
                  <a:path extrusionOk="0" h="5519" w="3299">
                    <a:moveTo>
                      <a:pt x="210" y="0"/>
                    </a:moveTo>
                    <a:cubicBezTo>
                      <a:pt x="169" y="0"/>
                      <a:pt x="128" y="15"/>
                      <a:pt x="96" y="41"/>
                    </a:cubicBezTo>
                    <a:cubicBezTo>
                      <a:pt x="1" y="113"/>
                      <a:pt x="1" y="232"/>
                      <a:pt x="60" y="303"/>
                    </a:cubicBezTo>
                    <a:cubicBezTo>
                      <a:pt x="394" y="708"/>
                      <a:pt x="572" y="1196"/>
                      <a:pt x="572" y="1720"/>
                    </a:cubicBezTo>
                    <a:lnTo>
                      <a:pt x="572" y="1780"/>
                    </a:lnTo>
                    <a:lnTo>
                      <a:pt x="572" y="1791"/>
                    </a:lnTo>
                    <a:cubicBezTo>
                      <a:pt x="572" y="1851"/>
                      <a:pt x="596" y="1910"/>
                      <a:pt x="644" y="1958"/>
                    </a:cubicBezTo>
                    <a:cubicBezTo>
                      <a:pt x="676" y="1990"/>
                      <a:pt x="718" y="2000"/>
                      <a:pt x="760" y="2000"/>
                    </a:cubicBezTo>
                    <a:cubicBezTo>
                      <a:pt x="781" y="2000"/>
                      <a:pt x="803" y="1998"/>
                      <a:pt x="822" y="1994"/>
                    </a:cubicBezTo>
                    <a:cubicBezTo>
                      <a:pt x="977" y="1946"/>
                      <a:pt x="1132" y="1922"/>
                      <a:pt x="1299" y="1922"/>
                    </a:cubicBezTo>
                    <a:cubicBezTo>
                      <a:pt x="2192" y="1922"/>
                      <a:pt x="2906" y="2649"/>
                      <a:pt x="2906" y="3530"/>
                    </a:cubicBezTo>
                    <a:cubicBezTo>
                      <a:pt x="2906" y="4423"/>
                      <a:pt x="2180" y="5125"/>
                      <a:pt x="1299" y="5125"/>
                    </a:cubicBezTo>
                    <a:lnTo>
                      <a:pt x="1168" y="5125"/>
                    </a:lnTo>
                    <a:cubicBezTo>
                      <a:pt x="1061" y="5125"/>
                      <a:pt x="977" y="5220"/>
                      <a:pt x="977" y="5328"/>
                    </a:cubicBezTo>
                    <a:cubicBezTo>
                      <a:pt x="977" y="5423"/>
                      <a:pt x="1061" y="5518"/>
                      <a:pt x="1168" y="5518"/>
                    </a:cubicBezTo>
                    <a:lnTo>
                      <a:pt x="1299" y="5518"/>
                    </a:lnTo>
                    <a:cubicBezTo>
                      <a:pt x="2394" y="5518"/>
                      <a:pt x="3287" y="4625"/>
                      <a:pt x="3287" y="3518"/>
                    </a:cubicBezTo>
                    <a:cubicBezTo>
                      <a:pt x="3299" y="2422"/>
                      <a:pt x="2406" y="1529"/>
                      <a:pt x="1299" y="1529"/>
                    </a:cubicBezTo>
                    <a:cubicBezTo>
                      <a:pt x="1180" y="1529"/>
                      <a:pt x="1061" y="1541"/>
                      <a:pt x="942" y="1565"/>
                    </a:cubicBezTo>
                    <a:cubicBezTo>
                      <a:pt x="918" y="1029"/>
                      <a:pt x="703" y="494"/>
                      <a:pt x="358" y="77"/>
                    </a:cubicBezTo>
                    <a:cubicBezTo>
                      <a:pt x="318" y="24"/>
                      <a:pt x="263" y="0"/>
                      <a:pt x="210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" name="Google Shape;132;p2"/>
            <p:cNvGrpSpPr/>
            <p:nvPr/>
          </p:nvGrpSpPr>
          <p:grpSpPr>
            <a:xfrm>
              <a:off x="225689" y="2420095"/>
              <a:ext cx="370930" cy="370550"/>
              <a:chOff x="2497275" y="2744159"/>
              <a:chExt cx="370930" cy="370550"/>
            </a:xfrm>
          </p:grpSpPr>
          <p:sp>
            <p:nvSpPr>
              <p:cNvPr id="133" name="Google Shape;133;p2"/>
              <p:cNvSpPr/>
              <p:nvPr/>
            </p:nvSpPr>
            <p:spPr>
              <a:xfrm>
                <a:off x="2497275" y="2744159"/>
                <a:ext cx="284366" cy="284747"/>
              </a:xfrm>
              <a:custGeom>
                <a:rect b="b" l="l" r="r" t="t"/>
                <a:pathLst>
                  <a:path extrusionOk="0" h="8967" w="8955">
                    <a:moveTo>
                      <a:pt x="4204" y="1"/>
                    </a:moveTo>
                    <a:cubicBezTo>
                      <a:pt x="3942" y="1"/>
                      <a:pt x="3704" y="203"/>
                      <a:pt x="3644" y="465"/>
                    </a:cubicBezTo>
                    <a:lnTo>
                      <a:pt x="3466" y="1334"/>
                    </a:lnTo>
                    <a:cubicBezTo>
                      <a:pt x="3287" y="1394"/>
                      <a:pt x="3108" y="1465"/>
                      <a:pt x="2942" y="1537"/>
                    </a:cubicBezTo>
                    <a:lnTo>
                      <a:pt x="2215" y="1048"/>
                    </a:lnTo>
                    <a:cubicBezTo>
                      <a:pt x="2120" y="983"/>
                      <a:pt x="2009" y="952"/>
                      <a:pt x="1899" y="952"/>
                    </a:cubicBezTo>
                    <a:cubicBezTo>
                      <a:pt x="1749" y="952"/>
                      <a:pt x="1599" y="1010"/>
                      <a:pt x="1489" y="1120"/>
                    </a:cubicBezTo>
                    <a:lnTo>
                      <a:pt x="1108" y="1489"/>
                    </a:lnTo>
                    <a:cubicBezTo>
                      <a:pt x="918" y="1691"/>
                      <a:pt x="894" y="1989"/>
                      <a:pt x="1037" y="2227"/>
                    </a:cubicBezTo>
                    <a:lnTo>
                      <a:pt x="1525" y="2953"/>
                    </a:lnTo>
                    <a:cubicBezTo>
                      <a:pt x="1441" y="3120"/>
                      <a:pt x="1370" y="3287"/>
                      <a:pt x="1322" y="3465"/>
                    </a:cubicBezTo>
                    <a:lnTo>
                      <a:pt x="453" y="3644"/>
                    </a:lnTo>
                    <a:cubicBezTo>
                      <a:pt x="191" y="3703"/>
                      <a:pt x="1" y="3930"/>
                      <a:pt x="1" y="4215"/>
                    </a:cubicBezTo>
                    <a:lnTo>
                      <a:pt x="1" y="4751"/>
                    </a:lnTo>
                    <a:cubicBezTo>
                      <a:pt x="1" y="5025"/>
                      <a:pt x="191" y="5251"/>
                      <a:pt x="453" y="5323"/>
                    </a:cubicBezTo>
                    <a:lnTo>
                      <a:pt x="1322" y="5501"/>
                    </a:lnTo>
                    <a:cubicBezTo>
                      <a:pt x="1382" y="5668"/>
                      <a:pt x="1453" y="5847"/>
                      <a:pt x="1525" y="6013"/>
                    </a:cubicBezTo>
                    <a:lnTo>
                      <a:pt x="1037" y="6740"/>
                    </a:lnTo>
                    <a:cubicBezTo>
                      <a:pt x="894" y="6966"/>
                      <a:pt x="918" y="7287"/>
                      <a:pt x="1108" y="7478"/>
                    </a:cubicBezTo>
                    <a:lnTo>
                      <a:pt x="1489" y="7847"/>
                    </a:lnTo>
                    <a:cubicBezTo>
                      <a:pt x="1599" y="7957"/>
                      <a:pt x="1745" y="8015"/>
                      <a:pt x="1894" y="8015"/>
                    </a:cubicBezTo>
                    <a:cubicBezTo>
                      <a:pt x="2003" y="8015"/>
                      <a:pt x="2115" y="7984"/>
                      <a:pt x="2215" y="7918"/>
                    </a:cubicBezTo>
                    <a:lnTo>
                      <a:pt x="2942" y="7430"/>
                    </a:lnTo>
                    <a:cubicBezTo>
                      <a:pt x="3108" y="7513"/>
                      <a:pt x="3287" y="7597"/>
                      <a:pt x="3466" y="7633"/>
                    </a:cubicBezTo>
                    <a:lnTo>
                      <a:pt x="3644" y="8502"/>
                    </a:lnTo>
                    <a:cubicBezTo>
                      <a:pt x="3704" y="8764"/>
                      <a:pt x="3930" y="8966"/>
                      <a:pt x="4204" y="8966"/>
                    </a:cubicBezTo>
                    <a:lnTo>
                      <a:pt x="4740" y="8966"/>
                    </a:lnTo>
                    <a:cubicBezTo>
                      <a:pt x="5013" y="8966"/>
                      <a:pt x="5251" y="8764"/>
                      <a:pt x="5311" y="8502"/>
                    </a:cubicBezTo>
                    <a:lnTo>
                      <a:pt x="5490" y="7633"/>
                    </a:lnTo>
                    <a:cubicBezTo>
                      <a:pt x="5621" y="7597"/>
                      <a:pt x="5775" y="7537"/>
                      <a:pt x="5906" y="7478"/>
                    </a:cubicBezTo>
                    <a:cubicBezTo>
                      <a:pt x="6002" y="7442"/>
                      <a:pt x="6037" y="7323"/>
                      <a:pt x="6002" y="7240"/>
                    </a:cubicBezTo>
                    <a:cubicBezTo>
                      <a:pt x="5966" y="7169"/>
                      <a:pt x="5898" y="7131"/>
                      <a:pt x="5831" y="7131"/>
                    </a:cubicBezTo>
                    <a:cubicBezTo>
                      <a:pt x="5808" y="7131"/>
                      <a:pt x="5785" y="7135"/>
                      <a:pt x="5763" y="7144"/>
                    </a:cubicBezTo>
                    <a:cubicBezTo>
                      <a:pt x="5609" y="7228"/>
                      <a:pt x="5466" y="7287"/>
                      <a:pt x="5299" y="7323"/>
                    </a:cubicBezTo>
                    <a:cubicBezTo>
                      <a:pt x="5240" y="7347"/>
                      <a:pt x="5180" y="7406"/>
                      <a:pt x="5168" y="7454"/>
                    </a:cubicBezTo>
                    <a:lnTo>
                      <a:pt x="4966" y="8430"/>
                    </a:lnTo>
                    <a:cubicBezTo>
                      <a:pt x="4954" y="8514"/>
                      <a:pt x="4870" y="8597"/>
                      <a:pt x="4763" y="8597"/>
                    </a:cubicBezTo>
                    <a:lnTo>
                      <a:pt x="4228" y="8597"/>
                    </a:lnTo>
                    <a:cubicBezTo>
                      <a:pt x="4120" y="8597"/>
                      <a:pt x="4049" y="8514"/>
                      <a:pt x="4013" y="8430"/>
                    </a:cubicBezTo>
                    <a:lnTo>
                      <a:pt x="3823" y="7454"/>
                    </a:lnTo>
                    <a:cubicBezTo>
                      <a:pt x="3811" y="7383"/>
                      <a:pt x="3763" y="7335"/>
                      <a:pt x="3692" y="7323"/>
                    </a:cubicBezTo>
                    <a:cubicBezTo>
                      <a:pt x="3466" y="7263"/>
                      <a:pt x="3239" y="7180"/>
                      <a:pt x="3049" y="7061"/>
                    </a:cubicBezTo>
                    <a:cubicBezTo>
                      <a:pt x="3019" y="7043"/>
                      <a:pt x="2986" y="7034"/>
                      <a:pt x="2954" y="7034"/>
                    </a:cubicBezTo>
                    <a:cubicBezTo>
                      <a:pt x="2921" y="7034"/>
                      <a:pt x="2888" y="7043"/>
                      <a:pt x="2858" y="7061"/>
                    </a:cubicBezTo>
                    <a:lnTo>
                      <a:pt x="2037" y="7609"/>
                    </a:lnTo>
                    <a:cubicBezTo>
                      <a:pt x="2006" y="7634"/>
                      <a:pt x="1966" y="7647"/>
                      <a:pt x="1926" y="7647"/>
                    </a:cubicBezTo>
                    <a:cubicBezTo>
                      <a:pt x="1874" y="7647"/>
                      <a:pt x="1821" y="7625"/>
                      <a:pt x="1787" y="7585"/>
                    </a:cubicBezTo>
                    <a:lnTo>
                      <a:pt x="1418" y="7204"/>
                    </a:lnTo>
                    <a:cubicBezTo>
                      <a:pt x="1334" y="7132"/>
                      <a:pt x="1334" y="7025"/>
                      <a:pt x="1382" y="6954"/>
                    </a:cubicBezTo>
                    <a:lnTo>
                      <a:pt x="1930" y="6132"/>
                    </a:lnTo>
                    <a:cubicBezTo>
                      <a:pt x="1977" y="6073"/>
                      <a:pt x="1977" y="6001"/>
                      <a:pt x="1930" y="5942"/>
                    </a:cubicBezTo>
                    <a:cubicBezTo>
                      <a:pt x="1811" y="5739"/>
                      <a:pt x="1727" y="5525"/>
                      <a:pt x="1668" y="5299"/>
                    </a:cubicBezTo>
                    <a:cubicBezTo>
                      <a:pt x="1656" y="5239"/>
                      <a:pt x="1596" y="5180"/>
                      <a:pt x="1537" y="5168"/>
                    </a:cubicBezTo>
                    <a:lnTo>
                      <a:pt x="560" y="4977"/>
                    </a:lnTo>
                    <a:cubicBezTo>
                      <a:pt x="477" y="4954"/>
                      <a:pt x="406" y="4870"/>
                      <a:pt x="406" y="4763"/>
                    </a:cubicBezTo>
                    <a:lnTo>
                      <a:pt x="406" y="4227"/>
                    </a:lnTo>
                    <a:cubicBezTo>
                      <a:pt x="406" y="4132"/>
                      <a:pt x="477" y="4049"/>
                      <a:pt x="560" y="4025"/>
                    </a:cubicBezTo>
                    <a:lnTo>
                      <a:pt x="1537" y="3834"/>
                    </a:lnTo>
                    <a:cubicBezTo>
                      <a:pt x="1608" y="3811"/>
                      <a:pt x="1656" y="3775"/>
                      <a:pt x="1668" y="3692"/>
                    </a:cubicBezTo>
                    <a:cubicBezTo>
                      <a:pt x="1727" y="3477"/>
                      <a:pt x="1811" y="3251"/>
                      <a:pt x="1930" y="3061"/>
                    </a:cubicBezTo>
                    <a:cubicBezTo>
                      <a:pt x="1965" y="3001"/>
                      <a:pt x="1965" y="2918"/>
                      <a:pt x="1930" y="2858"/>
                    </a:cubicBezTo>
                    <a:lnTo>
                      <a:pt x="1382" y="2049"/>
                    </a:lnTo>
                    <a:cubicBezTo>
                      <a:pt x="1322" y="1965"/>
                      <a:pt x="1334" y="1846"/>
                      <a:pt x="1418" y="1787"/>
                    </a:cubicBezTo>
                    <a:lnTo>
                      <a:pt x="1787" y="1417"/>
                    </a:lnTo>
                    <a:cubicBezTo>
                      <a:pt x="1826" y="1378"/>
                      <a:pt x="1876" y="1360"/>
                      <a:pt x="1925" y="1360"/>
                    </a:cubicBezTo>
                    <a:cubicBezTo>
                      <a:pt x="1965" y="1360"/>
                      <a:pt x="2005" y="1372"/>
                      <a:pt x="2037" y="1394"/>
                    </a:cubicBezTo>
                    <a:lnTo>
                      <a:pt x="2858" y="1941"/>
                    </a:lnTo>
                    <a:cubicBezTo>
                      <a:pt x="2888" y="1965"/>
                      <a:pt x="2921" y="1977"/>
                      <a:pt x="2954" y="1977"/>
                    </a:cubicBezTo>
                    <a:cubicBezTo>
                      <a:pt x="2986" y="1977"/>
                      <a:pt x="3019" y="1965"/>
                      <a:pt x="3049" y="1941"/>
                    </a:cubicBezTo>
                    <a:cubicBezTo>
                      <a:pt x="3263" y="1822"/>
                      <a:pt x="3466" y="1727"/>
                      <a:pt x="3692" y="1668"/>
                    </a:cubicBezTo>
                    <a:cubicBezTo>
                      <a:pt x="3751" y="1656"/>
                      <a:pt x="3811" y="1596"/>
                      <a:pt x="3823" y="1537"/>
                    </a:cubicBezTo>
                    <a:lnTo>
                      <a:pt x="4013" y="572"/>
                    </a:lnTo>
                    <a:cubicBezTo>
                      <a:pt x="4037" y="477"/>
                      <a:pt x="4120" y="405"/>
                      <a:pt x="4228" y="405"/>
                    </a:cubicBezTo>
                    <a:lnTo>
                      <a:pt x="4763" y="405"/>
                    </a:lnTo>
                    <a:cubicBezTo>
                      <a:pt x="4870" y="405"/>
                      <a:pt x="4942" y="477"/>
                      <a:pt x="4966" y="572"/>
                    </a:cubicBezTo>
                    <a:lnTo>
                      <a:pt x="5168" y="1537"/>
                    </a:lnTo>
                    <a:cubicBezTo>
                      <a:pt x="5180" y="1608"/>
                      <a:pt x="5216" y="1656"/>
                      <a:pt x="5299" y="1668"/>
                    </a:cubicBezTo>
                    <a:cubicBezTo>
                      <a:pt x="5513" y="1727"/>
                      <a:pt x="5740" y="1822"/>
                      <a:pt x="5930" y="1941"/>
                    </a:cubicBezTo>
                    <a:cubicBezTo>
                      <a:pt x="5960" y="1953"/>
                      <a:pt x="5996" y="1959"/>
                      <a:pt x="6031" y="1959"/>
                    </a:cubicBezTo>
                    <a:cubicBezTo>
                      <a:pt x="6067" y="1959"/>
                      <a:pt x="6103" y="1953"/>
                      <a:pt x="6133" y="1941"/>
                    </a:cubicBezTo>
                    <a:lnTo>
                      <a:pt x="6942" y="1394"/>
                    </a:lnTo>
                    <a:cubicBezTo>
                      <a:pt x="6978" y="1368"/>
                      <a:pt x="7021" y="1356"/>
                      <a:pt x="7063" y="1356"/>
                    </a:cubicBezTo>
                    <a:cubicBezTo>
                      <a:pt x="7117" y="1356"/>
                      <a:pt x="7170" y="1377"/>
                      <a:pt x="7204" y="1417"/>
                    </a:cubicBezTo>
                    <a:lnTo>
                      <a:pt x="7573" y="1787"/>
                    </a:lnTo>
                    <a:cubicBezTo>
                      <a:pt x="7645" y="1870"/>
                      <a:pt x="7645" y="1965"/>
                      <a:pt x="7597" y="2049"/>
                    </a:cubicBezTo>
                    <a:lnTo>
                      <a:pt x="7049" y="2858"/>
                    </a:lnTo>
                    <a:cubicBezTo>
                      <a:pt x="7002" y="2918"/>
                      <a:pt x="7002" y="2989"/>
                      <a:pt x="7049" y="3061"/>
                    </a:cubicBezTo>
                    <a:cubicBezTo>
                      <a:pt x="7168" y="3263"/>
                      <a:pt x="7264" y="3477"/>
                      <a:pt x="7323" y="3692"/>
                    </a:cubicBezTo>
                    <a:cubicBezTo>
                      <a:pt x="7335" y="3751"/>
                      <a:pt x="7395" y="3811"/>
                      <a:pt x="7454" y="3834"/>
                    </a:cubicBezTo>
                    <a:lnTo>
                      <a:pt x="8419" y="4025"/>
                    </a:lnTo>
                    <a:cubicBezTo>
                      <a:pt x="8514" y="4037"/>
                      <a:pt x="8585" y="4132"/>
                      <a:pt x="8585" y="4227"/>
                    </a:cubicBezTo>
                    <a:lnTo>
                      <a:pt x="8585" y="4763"/>
                    </a:lnTo>
                    <a:cubicBezTo>
                      <a:pt x="8585" y="4870"/>
                      <a:pt x="8514" y="4942"/>
                      <a:pt x="8419" y="4977"/>
                    </a:cubicBezTo>
                    <a:lnTo>
                      <a:pt x="7454" y="5168"/>
                    </a:lnTo>
                    <a:cubicBezTo>
                      <a:pt x="7383" y="5180"/>
                      <a:pt x="7335" y="5227"/>
                      <a:pt x="7323" y="5299"/>
                    </a:cubicBezTo>
                    <a:cubicBezTo>
                      <a:pt x="7276" y="5466"/>
                      <a:pt x="7216" y="5632"/>
                      <a:pt x="7145" y="5775"/>
                    </a:cubicBezTo>
                    <a:cubicBezTo>
                      <a:pt x="7097" y="5870"/>
                      <a:pt x="7145" y="5966"/>
                      <a:pt x="7228" y="6013"/>
                    </a:cubicBezTo>
                    <a:cubicBezTo>
                      <a:pt x="7254" y="6026"/>
                      <a:pt x="7280" y="6032"/>
                      <a:pt x="7305" y="6032"/>
                    </a:cubicBezTo>
                    <a:cubicBezTo>
                      <a:pt x="7372" y="6032"/>
                      <a:pt x="7431" y="5991"/>
                      <a:pt x="7466" y="5930"/>
                    </a:cubicBezTo>
                    <a:cubicBezTo>
                      <a:pt x="7526" y="5799"/>
                      <a:pt x="7585" y="5644"/>
                      <a:pt x="7633" y="5501"/>
                    </a:cubicBezTo>
                    <a:lnTo>
                      <a:pt x="8490" y="5323"/>
                    </a:lnTo>
                    <a:cubicBezTo>
                      <a:pt x="8764" y="5263"/>
                      <a:pt x="8954" y="5037"/>
                      <a:pt x="8954" y="4751"/>
                    </a:cubicBezTo>
                    <a:lnTo>
                      <a:pt x="8954" y="4215"/>
                    </a:lnTo>
                    <a:cubicBezTo>
                      <a:pt x="8954" y="3942"/>
                      <a:pt x="8764" y="3715"/>
                      <a:pt x="8490" y="3644"/>
                    </a:cubicBezTo>
                    <a:lnTo>
                      <a:pt x="7633" y="3465"/>
                    </a:lnTo>
                    <a:cubicBezTo>
                      <a:pt x="7573" y="3287"/>
                      <a:pt x="7502" y="3120"/>
                      <a:pt x="7418" y="2953"/>
                    </a:cubicBezTo>
                    <a:lnTo>
                      <a:pt x="7918" y="2227"/>
                    </a:lnTo>
                    <a:cubicBezTo>
                      <a:pt x="8061" y="2001"/>
                      <a:pt x="8038" y="1679"/>
                      <a:pt x="7835" y="1489"/>
                    </a:cubicBezTo>
                    <a:lnTo>
                      <a:pt x="7466" y="1120"/>
                    </a:lnTo>
                    <a:cubicBezTo>
                      <a:pt x="7356" y="1010"/>
                      <a:pt x="7211" y="952"/>
                      <a:pt x="7061" y="952"/>
                    </a:cubicBezTo>
                    <a:cubicBezTo>
                      <a:pt x="6952" y="952"/>
                      <a:pt x="6840" y="983"/>
                      <a:pt x="6740" y="1048"/>
                    </a:cubicBezTo>
                    <a:lnTo>
                      <a:pt x="6013" y="1537"/>
                    </a:lnTo>
                    <a:cubicBezTo>
                      <a:pt x="5847" y="1453"/>
                      <a:pt x="5668" y="1370"/>
                      <a:pt x="5490" y="1334"/>
                    </a:cubicBezTo>
                    <a:lnTo>
                      <a:pt x="5311" y="465"/>
                    </a:lnTo>
                    <a:cubicBezTo>
                      <a:pt x="5251" y="203"/>
                      <a:pt x="5025" y="1"/>
                      <a:pt x="4740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2592191" y="2821673"/>
                <a:ext cx="113461" cy="98345"/>
              </a:xfrm>
              <a:custGeom>
                <a:rect b="b" l="l" r="r" t="t"/>
                <a:pathLst>
                  <a:path extrusionOk="0" h="3097" w="3573">
                    <a:moveTo>
                      <a:pt x="1524" y="0"/>
                    </a:moveTo>
                    <a:cubicBezTo>
                      <a:pt x="989" y="0"/>
                      <a:pt x="465" y="215"/>
                      <a:pt x="72" y="584"/>
                    </a:cubicBezTo>
                    <a:cubicBezTo>
                      <a:pt x="0" y="655"/>
                      <a:pt x="0" y="774"/>
                      <a:pt x="72" y="834"/>
                    </a:cubicBezTo>
                    <a:cubicBezTo>
                      <a:pt x="113" y="876"/>
                      <a:pt x="164" y="896"/>
                      <a:pt x="212" y="896"/>
                    </a:cubicBezTo>
                    <a:cubicBezTo>
                      <a:pt x="259" y="896"/>
                      <a:pt x="304" y="876"/>
                      <a:pt x="334" y="834"/>
                    </a:cubicBezTo>
                    <a:cubicBezTo>
                      <a:pt x="643" y="524"/>
                      <a:pt x="1072" y="358"/>
                      <a:pt x="1500" y="358"/>
                    </a:cubicBezTo>
                    <a:cubicBezTo>
                      <a:pt x="2441" y="358"/>
                      <a:pt x="3203" y="1120"/>
                      <a:pt x="3203" y="2060"/>
                    </a:cubicBezTo>
                    <a:cubicBezTo>
                      <a:pt x="3203" y="2322"/>
                      <a:pt x="3144" y="2596"/>
                      <a:pt x="3024" y="2834"/>
                    </a:cubicBezTo>
                    <a:cubicBezTo>
                      <a:pt x="2965" y="2941"/>
                      <a:pt x="3013" y="3037"/>
                      <a:pt x="3096" y="3084"/>
                    </a:cubicBezTo>
                    <a:cubicBezTo>
                      <a:pt x="3132" y="3096"/>
                      <a:pt x="3155" y="3096"/>
                      <a:pt x="3191" y="3096"/>
                    </a:cubicBezTo>
                    <a:cubicBezTo>
                      <a:pt x="3251" y="3096"/>
                      <a:pt x="3322" y="3072"/>
                      <a:pt x="3346" y="3001"/>
                    </a:cubicBezTo>
                    <a:cubicBezTo>
                      <a:pt x="3501" y="2715"/>
                      <a:pt x="3572" y="2382"/>
                      <a:pt x="3572" y="2060"/>
                    </a:cubicBezTo>
                    <a:cubicBezTo>
                      <a:pt x="3572" y="929"/>
                      <a:pt x="2655" y="0"/>
                      <a:pt x="1524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>
                <a:off x="2574408" y="2862129"/>
                <a:ext cx="106665" cy="90756"/>
              </a:xfrm>
              <a:custGeom>
                <a:rect b="b" l="l" r="r" t="t"/>
                <a:pathLst>
                  <a:path extrusionOk="0" h="2858" w="3359">
                    <a:moveTo>
                      <a:pt x="294" y="1"/>
                    </a:moveTo>
                    <a:cubicBezTo>
                      <a:pt x="218" y="1"/>
                      <a:pt x="145" y="48"/>
                      <a:pt x="108" y="131"/>
                    </a:cubicBezTo>
                    <a:cubicBezTo>
                      <a:pt x="36" y="334"/>
                      <a:pt x="1" y="572"/>
                      <a:pt x="1" y="798"/>
                    </a:cubicBezTo>
                    <a:cubicBezTo>
                      <a:pt x="1" y="1929"/>
                      <a:pt x="917" y="2858"/>
                      <a:pt x="2049" y="2858"/>
                    </a:cubicBezTo>
                    <a:cubicBezTo>
                      <a:pt x="2477" y="2858"/>
                      <a:pt x="2894" y="2715"/>
                      <a:pt x="3251" y="2465"/>
                    </a:cubicBezTo>
                    <a:cubicBezTo>
                      <a:pt x="3346" y="2405"/>
                      <a:pt x="3358" y="2286"/>
                      <a:pt x="3299" y="2215"/>
                    </a:cubicBezTo>
                    <a:cubicBezTo>
                      <a:pt x="3263" y="2158"/>
                      <a:pt x="3206" y="2131"/>
                      <a:pt x="3151" y="2131"/>
                    </a:cubicBezTo>
                    <a:cubicBezTo>
                      <a:pt x="3114" y="2131"/>
                      <a:pt x="3077" y="2143"/>
                      <a:pt x="3049" y="2167"/>
                    </a:cubicBezTo>
                    <a:cubicBezTo>
                      <a:pt x="2763" y="2382"/>
                      <a:pt x="2406" y="2501"/>
                      <a:pt x="2049" y="2501"/>
                    </a:cubicBezTo>
                    <a:cubicBezTo>
                      <a:pt x="1108" y="2501"/>
                      <a:pt x="346" y="1739"/>
                      <a:pt x="346" y="798"/>
                    </a:cubicBezTo>
                    <a:cubicBezTo>
                      <a:pt x="346" y="608"/>
                      <a:pt x="382" y="429"/>
                      <a:pt x="441" y="250"/>
                    </a:cubicBezTo>
                    <a:cubicBezTo>
                      <a:pt x="501" y="143"/>
                      <a:pt x="441" y="36"/>
                      <a:pt x="358" y="12"/>
                    </a:cubicBezTo>
                    <a:cubicBezTo>
                      <a:pt x="337" y="4"/>
                      <a:pt x="315" y="1"/>
                      <a:pt x="294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>
                <a:off x="2676881" y="2923385"/>
                <a:ext cx="191324" cy="191324"/>
              </a:xfrm>
              <a:custGeom>
                <a:rect b="b" l="l" r="r" t="t"/>
                <a:pathLst>
                  <a:path extrusionOk="0" h="6025" w="6025">
                    <a:moveTo>
                      <a:pt x="2810" y="0"/>
                    </a:moveTo>
                    <a:cubicBezTo>
                      <a:pt x="2608" y="0"/>
                      <a:pt x="2429" y="155"/>
                      <a:pt x="2382" y="357"/>
                    </a:cubicBezTo>
                    <a:lnTo>
                      <a:pt x="2274" y="893"/>
                    </a:lnTo>
                    <a:cubicBezTo>
                      <a:pt x="2191" y="929"/>
                      <a:pt x="2084" y="965"/>
                      <a:pt x="1989" y="1012"/>
                    </a:cubicBezTo>
                    <a:lnTo>
                      <a:pt x="1548" y="715"/>
                    </a:lnTo>
                    <a:cubicBezTo>
                      <a:pt x="1475" y="666"/>
                      <a:pt x="1393" y="643"/>
                      <a:pt x="1313" y="643"/>
                    </a:cubicBezTo>
                    <a:cubicBezTo>
                      <a:pt x="1198" y="643"/>
                      <a:pt x="1085" y="690"/>
                      <a:pt x="1000" y="774"/>
                    </a:cubicBezTo>
                    <a:lnTo>
                      <a:pt x="738" y="1024"/>
                    </a:lnTo>
                    <a:cubicBezTo>
                      <a:pt x="596" y="1179"/>
                      <a:pt x="572" y="1417"/>
                      <a:pt x="679" y="1584"/>
                    </a:cubicBezTo>
                    <a:lnTo>
                      <a:pt x="977" y="2024"/>
                    </a:lnTo>
                    <a:cubicBezTo>
                      <a:pt x="917" y="2143"/>
                      <a:pt x="858" y="2274"/>
                      <a:pt x="834" y="2417"/>
                    </a:cubicBezTo>
                    <a:cubicBezTo>
                      <a:pt x="798" y="2512"/>
                      <a:pt x="858" y="2608"/>
                      <a:pt x="965" y="2631"/>
                    </a:cubicBezTo>
                    <a:cubicBezTo>
                      <a:pt x="986" y="2639"/>
                      <a:pt x="1006" y="2642"/>
                      <a:pt x="1025" y="2642"/>
                    </a:cubicBezTo>
                    <a:cubicBezTo>
                      <a:pt x="1103" y="2642"/>
                      <a:pt x="1162" y="2587"/>
                      <a:pt x="1191" y="2501"/>
                    </a:cubicBezTo>
                    <a:cubicBezTo>
                      <a:pt x="1227" y="2358"/>
                      <a:pt x="1298" y="2215"/>
                      <a:pt x="1346" y="2096"/>
                    </a:cubicBezTo>
                    <a:cubicBezTo>
                      <a:pt x="1381" y="2036"/>
                      <a:pt x="1381" y="1965"/>
                      <a:pt x="1346" y="1905"/>
                    </a:cubicBezTo>
                    <a:lnTo>
                      <a:pt x="1000" y="1369"/>
                    </a:lnTo>
                    <a:cubicBezTo>
                      <a:pt x="977" y="1346"/>
                      <a:pt x="977" y="1310"/>
                      <a:pt x="1012" y="1286"/>
                    </a:cubicBezTo>
                    <a:lnTo>
                      <a:pt x="1262" y="1024"/>
                    </a:lnTo>
                    <a:cubicBezTo>
                      <a:pt x="1283" y="1010"/>
                      <a:pt x="1300" y="1004"/>
                      <a:pt x="1318" y="1004"/>
                    </a:cubicBezTo>
                    <a:cubicBezTo>
                      <a:pt x="1330" y="1004"/>
                      <a:pt x="1343" y="1007"/>
                      <a:pt x="1358" y="1012"/>
                    </a:cubicBezTo>
                    <a:lnTo>
                      <a:pt x="1893" y="1369"/>
                    </a:lnTo>
                    <a:cubicBezTo>
                      <a:pt x="1923" y="1393"/>
                      <a:pt x="1956" y="1405"/>
                      <a:pt x="1989" y="1405"/>
                    </a:cubicBezTo>
                    <a:cubicBezTo>
                      <a:pt x="2021" y="1405"/>
                      <a:pt x="2054" y="1393"/>
                      <a:pt x="2084" y="1369"/>
                    </a:cubicBezTo>
                    <a:cubicBezTo>
                      <a:pt x="2215" y="1298"/>
                      <a:pt x="2346" y="1238"/>
                      <a:pt x="2489" y="1203"/>
                    </a:cubicBezTo>
                    <a:cubicBezTo>
                      <a:pt x="2548" y="1191"/>
                      <a:pt x="2608" y="1131"/>
                      <a:pt x="2620" y="1072"/>
                    </a:cubicBezTo>
                    <a:lnTo>
                      <a:pt x="2751" y="429"/>
                    </a:lnTo>
                    <a:cubicBezTo>
                      <a:pt x="2751" y="405"/>
                      <a:pt x="2786" y="369"/>
                      <a:pt x="2822" y="369"/>
                    </a:cubicBezTo>
                    <a:lnTo>
                      <a:pt x="3167" y="369"/>
                    </a:lnTo>
                    <a:cubicBezTo>
                      <a:pt x="3203" y="369"/>
                      <a:pt x="3227" y="405"/>
                      <a:pt x="3239" y="429"/>
                    </a:cubicBezTo>
                    <a:lnTo>
                      <a:pt x="3382" y="1072"/>
                    </a:lnTo>
                    <a:cubicBezTo>
                      <a:pt x="3394" y="1143"/>
                      <a:pt x="3429" y="1191"/>
                      <a:pt x="3513" y="1203"/>
                    </a:cubicBezTo>
                    <a:cubicBezTo>
                      <a:pt x="3656" y="1250"/>
                      <a:pt x="3786" y="1310"/>
                      <a:pt x="3917" y="1369"/>
                    </a:cubicBezTo>
                    <a:cubicBezTo>
                      <a:pt x="3947" y="1387"/>
                      <a:pt x="3980" y="1396"/>
                      <a:pt x="4013" y="1396"/>
                    </a:cubicBezTo>
                    <a:cubicBezTo>
                      <a:pt x="4045" y="1396"/>
                      <a:pt x="4078" y="1387"/>
                      <a:pt x="4108" y="1369"/>
                    </a:cubicBezTo>
                    <a:lnTo>
                      <a:pt x="4644" y="1012"/>
                    </a:lnTo>
                    <a:cubicBezTo>
                      <a:pt x="4654" y="1007"/>
                      <a:pt x="4665" y="1004"/>
                      <a:pt x="4678" y="1004"/>
                    </a:cubicBezTo>
                    <a:cubicBezTo>
                      <a:pt x="4695" y="1004"/>
                      <a:pt x="4713" y="1010"/>
                      <a:pt x="4727" y="1024"/>
                    </a:cubicBezTo>
                    <a:lnTo>
                      <a:pt x="4989" y="1286"/>
                    </a:lnTo>
                    <a:cubicBezTo>
                      <a:pt x="5013" y="1310"/>
                      <a:pt x="5013" y="1346"/>
                      <a:pt x="5001" y="1369"/>
                    </a:cubicBezTo>
                    <a:lnTo>
                      <a:pt x="4644" y="1905"/>
                    </a:lnTo>
                    <a:cubicBezTo>
                      <a:pt x="4596" y="1965"/>
                      <a:pt x="4596" y="2036"/>
                      <a:pt x="4644" y="2096"/>
                    </a:cubicBezTo>
                    <a:cubicBezTo>
                      <a:pt x="4715" y="2239"/>
                      <a:pt x="4775" y="2370"/>
                      <a:pt x="4810" y="2501"/>
                    </a:cubicBezTo>
                    <a:cubicBezTo>
                      <a:pt x="4822" y="2560"/>
                      <a:pt x="4882" y="2620"/>
                      <a:pt x="4941" y="2631"/>
                    </a:cubicBezTo>
                    <a:lnTo>
                      <a:pt x="5584" y="2774"/>
                    </a:lnTo>
                    <a:cubicBezTo>
                      <a:pt x="5608" y="2774"/>
                      <a:pt x="5644" y="2798"/>
                      <a:pt x="5644" y="2846"/>
                    </a:cubicBezTo>
                    <a:lnTo>
                      <a:pt x="5644" y="3191"/>
                    </a:lnTo>
                    <a:cubicBezTo>
                      <a:pt x="5644" y="3215"/>
                      <a:pt x="5608" y="3251"/>
                      <a:pt x="5584" y="3263"/>
                    </a:cubicBezTo>
                    <a:lnTo>
                      <a:pt x="4941" y="3393"/>
                    </a:lnTo>
                    <a:cubicBezTo>
                      <a:pt x="4870" y="3405"/>
                      <a:pt x="4822" y="3453"/>
                      <a:pt x="4810" y="3524"/>
                    </a:cubicBezTo>
                    <a:cubicBezTo>
                      <a:pt x="4763" y="3679"/>
                      <a:pt x="4703" y="3810"/>
                      <a:pt x="4644" y="3929"/>
                    </a:cubicBezTo>
                    <a:cubicBezTo>
                      <a:pt x="4608" y="3989"/>
                      <a:pt x="4608" y="4060"/>
                      <a:pt x="4644" y="4120"/>
                    </a:cubicBezTo>
                    <a:lnTo>
                      <a:pt x="5001" y="4656"/>
                    </a:lnTo>
                    <a:cubicBezTo>
                      <a:pt x="5013" y="4691"/>
                      <a:pt x="5013" y="4715"/>
                      <a:pt x="4989" y="4751"/>
                    </a:cubicBezTo>
                    <a:lnTo>
                      <a:pt x="4727" y="5001"/>
                    </a:lnTo>
                    <a:cubicBezTo>
                      <a:pt x="4714" y="5020"/>
                      <a:pt x="4697" y="5029"/>
                      <a:pt x="4681" y="5029"/>
                    </a:cubicBezTo>
                    <a:cubicBezTo>
                      <a:pt x="4668" y="5029"/>
                      <a:pt x="4654" y="5023"/>
                      <a:pt x="4644" y="5013"/>
                    </a:cubicBezTo>
                    <a:lnTo>
                      <a:pt x="4108" y="4656"/>
                    </a:lnTo>
                    <a:cubicBezTo>
                      <a:pt x="4078" y="4638"/>
                      <a:pt x="4045" y="4629"/>
                      <a:pt x="4013" y="4629"/>
                    </a:cubicBezTo>
                    <a:cubicBezTo>
                      <a:pt x="3980" y="4629"/>
                      <a:pt x="3947" y="4638"/>
                      <a:pt x="3917" y="4656"/>
                    </a:cubicBezTo>
                    <a:cubicBezTo>
                      <a:pt x="3775" y="4739"/>
                      <a:pt x="3644" y="4798"/>
                      <a:pt x="3513" y="4822"/>
                    </a:cubicBezTo>
                    <a:cubicBezTo>
                      <a:pt x="3453" y="4834"/>
                      <a:pt x="3394" y="4894"/>
                      <a:pt x="3382" y="4953"/>
                    </a:cubicBezTo>
                    <a:lnTo>
                      <a:pt x="3239" y="5596"/>
                    </a:lnTo>
                    <a:cubicBezTo>
                      <a:pt x="3239" y="5632"/>
                      <a:pt x="3215" y="5656"/>
                      <a:pt x="3167" y="5656"/>
                    </a:cubicBezTo>
                    <a:lnTo>
                      <a:pt x="2822" y="5656"/>
                    </a:lnTo>
                    <a:cubicBezTo>
                      <a:pt x="2798" y="5656"/>
                      <a:pt x="2763" y="5632"/>
                      <a:pt x="2751" y="5596"/>
                    </a:cubicBezTo>
                    <a:lnTo>
                      <a:pt x="2620" y="4953"/>
                    </a:lnTo>
                    <a:cubicBezTo>
                      <a:pt x="2608" y="4882"/>
                      <a:pt x="2560" y="4834"/>
                      <a:pt x="2489" y="4822"/>
                    </a:cubicBezTo>
                    <a:cubicBezTo>
                      <a:pt x="2334" y="4775"/>
                      <a:pt x="2203" y="4715"/>
                      <a:pt x="2084" y="4656"/>
                    </a:cubicBezTo>
                    <a:cubicBezTo>
                      <a:pt x="2054" y="4644"/>
                      <a:pt x="2021" y="4638"/>
                      <a:pt x="1989" y="4638"/>
                    </a:cubicBezTo>
                    <a:cubicBezTo>
                      <a:pt x="1956" y="4638"/>
                      <a:pt x="1923" y="4644"/>
                      <a:pt x="1893" y="4656"/>
                    </a:cubicBezTo>
                    <a:lnTo>
                      <a:pt x="1358" y="5013"/>
                    </a:lnTo>
                    <a:cubicBezTo>
                      <a:pt x="1342" y="5023"/>
                      <a:pt x="1328" y="5029"/>
                      <a:pt x="1314" y="5029"/>
                    </a:cubicBezTo>
                    <a:cubicBezTo>
                      <a:pt x="1298" y="5029"/>
                      <a:pt x="1282" y="5020"/>
                      <a:pt x="1262" y="5001"/>
                    </a:cubicBezTo>
                    <a:lnTo>
                      <a:pt x="1012" y="4751"/>
                    </a:lnTo>
                    <a:cubicBezTo>
                      <a:pt x="977" y="4715"/>
                      <a:pt x="977" y="4691"/>
                      <a:pt x="1000" y="4656"/>
                    </a:cubicBezTo>
                    <a:lnTo>
                      <a:pt x="1346" y="4120"/>
                    </a:lnTo>
                    <a:cubicBezTo>
                      <a:pt x="1393" y="4060"/>
                      <a:pt x="1393" y="3989"/>
                      <a:pt x="1346" y="3929"/>
                    </a:cubicBezTo>
                    <a:cubicBezTo>
                      <a:pt x="1274" y="3798"/>
                      <a:pt x="1215" y="3667"/>
                      <a:pt x="1191" y="3524"/>
                    </a:cubicBezTo>
                    <a:cubicBezTo>
                      <a:pt x="1167" y="3465"/>
                      <a:pt x="1108" y="3405"/>
                      <a:pt x="1048" y="3393"/>
                    </a:cubicBezTo>
                    <a:lnTo>
                      <a:pt x="417" y="3263"/>
                    </a:lnTo>
                    <a:cubicBezTo>
                      <a:pt x="381" y="3263"/>
                      <a:pt x="357" y="3227"/>
                      <a:pt x="357" y="3191"/>
                    </a:cubicBezTo>
                    <a:lnTo>
                      <a:pt x="357" y="2846"/>
                    </a:lnTo>
                    <a:cubicBezTo>
                      <a:pt x="357" y="2810"/>
                      <a:pt x="381" y="2786"/>
                      <a:pt x="417" y="2774"/>
                    </a:cubicBezTo>
                    <a:lnTo>
                      <a:pt x="453" y="2751"/>
                    </a:lnTo>
                    <a:cubicBezTo>
                      <a:pt x="560" y="2739"/>
                      <a:pt x="619" y="2631"/>
                      <a:pt x="608" y="2548"/>
                    </a:cubicBezTo>
                    <a:cubicBezTo>
                      <a:pt x="597" y="2450"/>
                      <a:pt x="506" y="2392"/>
                      <a:pt x="427" y="2392"/>
                    </a:cubicBezTo>
                    <a:cubicBezTo>
                      <a:pt x="419" y="2392"/>
                      <a:pt x="412" y="2392"/>
                      <a:pt x="405" y="2393"/>
                    </a:cubicBezTo>
                    <a:lnTo>
                      <a:pt x="357" y="2417"/>
                    </a:lnTo>
                    <a:cubicBezTo>
                      <a:pt x="143" y="2453"/>
                      <a:pt x="0" y="2631"/>
                      <a:pt x="0" y="2846"/>
                    </a:cubicBezTo>
                    <a:lnTo>
                      <a:pt x="0" y="3191"/>
                    </a:lnTo>
                    <a:cubicBezTo>
                      <a:pt x="0" y="3393"/>
                      <a:pt x="143" y="3572"/>
                      <a:pt x="357" y="3620"/>
                    </a:cubicBezTo>
                    <a:lnTo>
                      <a:pt x="893" y="3727"/>
                    </a:lnTo>
                    <a:cubicBezTo>
                      <a:pt x="917" y="3810"/>
                      <a:pt x="965" y="3917"/>
                      <a:pt x="1012" y="4001"/>
                    </a:cubicBezTo>
                    <a:lnTo>
                      <a:pt x="715" y="4453"/>
                    </a:lnTo>
                    <a:cubicBezTo>
                      <a:pt x="596" y="4632"/>
                      <a:pt x="619" y="4858"/>
                      <a:pt x="774" y="5001"/>
                    </a:cubicBezTo>
                    <a:lnTo>
                      <a:pt x="1024" y="5251"/>
                    </a:lnTo>
                    <a:cubicBezTo>
                      <a:pt x="1112" y="5339"/>
                      <a:pt x="1227" y="5381"/>
                      <a:pt x="1338" y="5381"/>
                    </a:cubicBezTo>
                    <a:cubicBezTo>
                      <a:pt x="1423" y="5381"/>
                      <a:pt x="1505" y="5357"/>
                      <a:pt x="1572" y="5310"/>
                    </a:cubicBezTo>
                    <a:lnTo>
                      <a:pt x="2024" y="5013"/>
                    </a:lnTo>
                    <a:cubicBezTo>
                      <a:pt x="2108" y="5060"/>
                      <a:pt x="2203" y="5108"/>
                      <a:pt x="2310" y="5132"/>
                    </a:cubicBezTo>
                    <a:lnTo>
                      <a:pt x="2405" y="5668"/>
                    </a:lnTo>
                    <a:cubicBezTo>
                      <a:pt x="2453" y="5882"/>
                      <a:pt x="2632" y="6025"/>
                      <a:pt x="2846" y="6025"/>
                    </a:cubicBezTo>
                    <a:lnTo>
                      <a:pt x="3179" y="6025"/>
                    </a:lnTo>
                    <a:cubicBezTo>
                      <a:pt x="3394" y="6025"/>
                      <a:pt x="3572" y="5882"/>
                      <a:pt x="3620" y="5668"/>
                    </a:cubicBezTo>
                    <a:lnTo>
                      <a:pt x="3715" y="5132"/>
                    </a:lnTo>
                    <a:cubicBezTo>
                      <a:pt x="3810" y="5108"/>
                      <a:pt x="3917" y="5060"/>
                      <a:pt x="4001" y="5013"/>
                    </a:cubicBezTo>
                    <a:lnTo>
                      <a:pt x="4453" y="5310"/>
                    </a:lnTo>
                    <a:cubicBezTo>
                      <a:pt x="4529" y="5361"/>
                      <a:pt x="4611" y="5386"/>
                      <a:pt x="4692" y="5386"/>
                    </a:cubicBezTo>
                    <a:cubicBezTo>
                      <a:pt x="4803" y="5386"/>
                      <a:pt x="4912" y="5340"/>
                      <a:pt x="5001" y="5251"/>
                    </a:cubicBezTo>
                    <a:lnTo>
                      <a:pt x="5251" y="5001"/>
                    </a:lnTo>
                    <a:cubicBezTo>
                      <a:pt x="5406" y="4858"/>
                      <a:pt x="5418" y="4620"/>
                      <a:pt x="5310" y="4453"/>
                    </a:cubicBezTo>
                    <a:lnTo>
                      <a:pt x="5013" y="4001"/>
                    </a:lnTo>
                    <a:cubicBezTo>
                      <a:pt x="5060" y="3917"/>
                      <a:pt x="5108" y="3822"/>
                      <a:pt x="5132" y="3727"/>
                    </a:cubicBezTo>
                    <a:lnTo>
                      <a:pt x="5668" y="3620"/>
                    </a:lnTo>
                    <a:cubicBezTo>
                      <a:pt x="5882" y="3572"/>
                      <a:pt x="6025" y="3393"/>
                      <a:pt x="6025" y="3191"/>
                    </a:cubicBezTo>
                    <a:lnTo>
                      <a:pt x="6025" y="2846"/>
                    </a:lnTo>
                    <a:cubicBezTo>
                      <a:pt x="6001" y="2631"/>
                      <a:pt x="5846" y="2453"/>
                      <a:pt x="5644" y="2417"/>
                    </a:cubicBezTo>
                    <a:lnTo>
                      <a:pt x="5108" y="2310"/>
                    </a:lnTo>
                    <a:cubicBezTo>
                      <a:pt x="5072" y="2215"/>
                      <a:pt x="5025" y="2120"/>
                      <a:pt x="4989" y="2024"/>
                    </a:cubicBezTo>
                    <a:lnTo>
                      <a:pt x="5287" y="1584"/>
                    </a:lnTo>
                    <a:cubicBezTo>
                      <a:pt x="5406" y="1405"/>
                      <a:pt x="5370" y="1179"/>
                      <a:pt x="5227" y="1024"/>
                    </a:cubicBezTo>
                    <a:lnTo>
                      <a:pt x="4965" y="774"/>
                    </a:lnTo>
                    <a:cubicBezTo>
                      <a:pt x="4882" y="691"/>
                      <a:pt x="4766" y="648"/>
                      <a:pt x="4651" y="648"/>
                    </a:cubicBezTo>
                    <a:cubicBezTo>
                      <a:pt x="4569" y="648"/>
                      <a:pt x="4487" y="670"/>
                      <a:pt x="4418" y="715"/>
                    </a:cubicBezTo>
                    <a:lnTo>
                      <a:pt x="3977" y="1012"/>
                    </a:lnTo>
                    <a:cubicBezTo>
                      <a:pt x="3882" y="965"/>
                      <a:pt x="3786" y="929"/>
                      <a:pt x="3691" y="893"/>
                    </a:cubicBezTo>
                    <a:lnTo>
                      <a:pt x="3584" y="357"/>
                    </a:lnTo>
                    <a:cubicBezTo>
                      <a:pt x="3536" y="155"/>
                      <a:pt x="3358" y="0"/>
                      <a:pt x="315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2738867" y="2986895"/>
                <a:ext cx="65066" cy="65066"/>
              </a:xfrm>
              <a:custGeom>
                <a:rect b="b" l="l" r="r" t="t"/>
                <a:pathLst>
                  <a:path extrusionOk="0" h="2049" w="2049">
                    <a:moveTo>
                      <a:pt x="1025" y="0"/>
                    </a:moveTo>
                    <a:cubicBezTo>
                      <a:pt x="453" y="0"/>
                      <a:pt x="1" y="453"/>
                      <a:pt x="1" y="1024"/>
                    </a:cubicBezTo>
                    <a:cubicBezTo>
                      <a:pt x="1" y="1584"/>
                      <a:pt x="453" y="2048"/>
                      <a:pt x="1025" y="2048"/>
                    </a:cubicBezTo>
                    <a:cubicBezTo>
                      <a:pt x="1251" y="2048"/>
                      <a:pt x="1465" y="1977"/>
                      <a:pt x="1644" y="1846"/>
                    </a:cubicBezTo>
                    <a:cubicBezTo>
                      <a:pt x="1727" y="1786"/>
                      <a:pt x="1739" y="1667"/>
                      <a:pt x="1680" y="1584"/>
                    </a:cubicBezTo>
                    <a:cubicBezTo>
                      <a:pt x="1646" y="1543"/>
                      <a:pt x="1593" y="1522"/>
                      <a:pt x="1540" y="1522"/>
                    </a:cubicBezTo>
                    <a:cubicBezTo>
                      <a:pt x="1500" y="1522"/>
                      <a:pt x="1461" y="1534"/>
                      <a:pt x="1430" y="1560"/>
                    </a:cubicBezTo>
                    <a:cubicBezTo>
                      <a:pt x="1311" y="1644"/>
                      <a:pt x="1168" y="1691"/>
                      <a:pt x="1025" y="1691"/>
                    </a:cubicBezTo>
                    <a:cubicBezTo>
                      <a:pt x="668" y="1691"/>
                      <a:pt x="370" y="1393"/>
                      <a:pt x="370" y="1036"/>
                    </a:cubicBezTo>
                    <a:cubicBezTo>
                      <a:pt x="382" y="655"/>
                      <a:pt x="680" y="370"/>
                      <a:pt x="1037" y="370"/>
                    </a:cubicBezTo>
                    <a:cubicBezTo>
                      <a:pt x="1394" y="370"/>
                      <a:pt x="1692" y="667"/>
                      <a:pt x="1692" y="1024"/>
                    </a:cubicBezTo>
                    <a:cubicBezTo>
                      <a:pt x="1692" y="1132"/>
                      <a:pt x="1775" y="1203"/>
                      <a:pt x="1870" y="1203"/>
                    </a:cubicBezTo>
                    <a:cubicBezTo>
                      <a:pt x="1965" y="1203"/>
                      <a:pt x="2049" y="1108"/>
                      <a:pt x="2049" y="1024"/>
                    </a:cubicBezTo>
                    <a:cubicBezTo>
                      <a:pt x="2049" y="453"/>
                      <a:pt x="1584" y="0"/>
                      <a:pt x="102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2604670" y="2851904"/>
                <a:ext cx="70718" cy="71131"/>
              </a:xfrm>
              <a:custGeom>
                <a:rect b="b" l="l" r="r" t="t"/>
                <a:pathLst>
                  <a:path extrusionOk="0" h="2240" w="2227">
                    <a:moveTo>
                      <a:pt x="1107" y="382"/>
                    </a:moveTo>
                    <a:cubicBezTo>
                      <a:pt x="1512" y="382"/>
                      <a:pt x="1858" y="715"/>
                      <a:pt x="1858" y="1120"/>
                    </a:cubicBezTo>
                    <a:cubicBezTo>
                      <a:pt x="1858" y="1525"/>
                      <a:pt x="1512" y="1870"/>
                      <a:pt x="1107" y="1870"/>
                    </a:cubicBezTo>
                    <a:cubicBezTo>
                      <a:pt x="691" y="1870"/>
                      <a:pt x="369" y="1525"/>
                      <a:pt x="369" y="1120"/>
                    </a:cubicBezTo>
                    <a:cubicBezTo>
                      <a:pt x="369" y="703"/>
                      <a:pt x="703" y="382"/>
                      <a:pt x="1107" y="382"/>
                    </a:cubicBezTo>
                    <a:close/>
                    <a:moveTo>
                      <a:pt x="1107" y="1"/>
                    </a:moveTo>
                    <a:cubicBezTo>
                      <a:pt x="500" y="1"/>
                      <a:pt x="0" y="513"/>
                      <a:pt x="0" y="1120"/>
                    </a:cubicBezTo>
                    <a:cubicBezTo>
                      <a:pt x="0" y="1727"/>
                      <a:pt x="500" y="2239"/>
                      <a:pt x="1107" y="2239"/>
                    </a:cubicBezTo>
                    <a:cubicBezTo>
                      <a:pt x="1727" y="2239"/>
                      <a:pt x="2227" y="1727"/>
                      <a:pt x="2227" y="1120"/>
                    </a:cubicBezTo>
                    <a:cubicBezTo>
                      <a:pt x="2227" y="513"/>
                      <a:pt x="1727" y="1"/>
                      <a:pt x="1107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9" name="Google Shape;139;p2"/>
            <p:cNvSpPr/>
            <p:nvPr/>
          </p:nvSpPr>
          <p:spPr>
            <a:xfrm>
              <a:off x="233709" y="4538491"/>
              <a:ext cx="344097" cy="340033"/>
            </a:xfrm>
            <a:custGeom>
              <a:rect b="b" l="l" r="r" t="t"/>
              <a:pathLst>
                <a:path extrusionOk="0" h="10708" w="10836">
                  <a:moveTo>
                    <a:pt x="7677" y="328"/>
                  </a:moveTo>
                  <a:cubicBezTo>
                    <a:pt x="7821" y="328"/>
                    <a:pt x="7960" y="378"/>
                    <a:pt x="8061" y="480"/>
                  </a:cubicBezTo>
                  <a:lnTo>
                    <a:pt x="10288" y="2706"/>
                  </a:lnTo>
                  <a:cubicBezTo>
                    <a:pt x="10502" y="2897"/>
                    <a:pt x="10490" y="3278"/>
                    <a:pt x="10252" y="3516"/>
                  </a:cubicBezTo>
                  <a:cubicBezTo>
                    <a:pt x="10125" y="3643"/>
                    <a:pt x="9961" y="3709"/>
                    <a:pt x="9802" y="3709"/>
                  </a:cubicBezTo>
                  <a:cubicBezTo>
                    <a:pt x="9661" y="3709"/>
                    <a:pt x="9524" y="3657"/>
                    <a:pt x="9418" y="3552"/>
                  </a:cubicBezTo>
                  <a:lnTo>
                    <a:pt x="8264" y="2385"/>
                  </a:lnTo>
                  <a:cubicBezTo>
                    <a:pt x="8234" y="2355"/>
                    <a:pt x="8195" y="2340"/>
                    <a:pt x="8156" y="2340"/>
                  </a:cubicBezTo>
                  <a:cubicBezTo>
                    <a:pt x="8118" y="2340"/>
                    <a:pt x="8079" y="2355"/>
                    <a:pt x="8049" y="2385"/>
                  </a:cubicBezTo>
                  <a:cubicBezTo>
                    <a:pt x="7990" y="2444"/>
                    <a:pt x="7990" y="2540"/>
                    <a:pt x="8049" y="2599"/>
                  </a:cubicBezTo>
                  <a:lnTo>
                    <a:pt x="8930" y="3480"/>
                  </a:lnTo>
                  <a:lnTo>
                    <a:pt x="7811" y="4587"/>
                  </a:lnTo>
                  <a:cubicBezTo>
                    <a:pt x="7549" y="4861"/>
                    <a:pt x="7382" y="5207"/>
                    <a:pt x="7335" y="5564"/>
                  </a:cubicBezTo>
                  <a:cubicBezTo>
                    <a:pt x="7287" y="5921"/>
                    <a:pt x="7371" y="6290"/>
                    <a:pt x="7561" y="6588"/>
                  </a:cubicBezTo>
                  <a:cubicBezTo>
                    <a:pt x="7930" y="7171"/>
                    <a:pt x="7859" y="7838"/>
                    <a:pt x="7728" y="8028"/>
                  </a:cubicBezTo>
                  <a:cubicBezTo>
                    <a:pt x="7644" y="8016"/>
                    <a:pt x="7406" y="7897"/>
                    <a:pt x="6751" y="7350"/>
                  </a:cubicBezTo>
                  <a:cubicBezTo>
                    <a:pt x="6335" y="6993"/>
                    <a:pt x="5835" y="6528"/>
                    <a:pt x="5311" y="6004"/>
                  </a:cubicBezTo>
                  <a:lnTo>
                    <a:pt x="5204" y="5897"/>
                  </a:lnTo>
                  <a:lnTo>
                    <a:pt x="5180" y="5873"/>
                  </a:lnTo>
                  <a:cubicBezTo>
                    <a:pt x="5085" y="5778"/>
                    <a:pt x="4977" y="5695"/>
                    <a:pt x="4894" y="5588"/>
                  </a:cubicBezTo>
                  <a:lnTo>
                    <a:pt x="4846" y="5540"/>
                  </a:lnTo>
                  <a:lnTo>
                    <a:pt x="4739" y="5445"/>
                  </a:lnTo>
                  <a:cubicBezTo>
                    <a:pt x="4239" y="4921"/>
                    <a:pt x="3763" y="4409"/>
                    <a:pt x="3406" y="3992"/>
                  </a:cubicBezTo>
                  <a:cubicBezTo>
                    <a:pt x="2858" y="3337"/>
                    <a:pt x="2751" y="3099"/>
                    <a:pt x="2715" y="3028"/>
                  </a:cubicBezTo>
                  <a:cubicBezTo>
                    <a:pt x="2805" y="2970"/>
                    <a:pt x="2986" y="2926"/>
                    <a:pt x="3210" y="2926"/>
                  </a:cubicBezTo>
                  <a:cubicBezTo>
                    <a:pt x="3492" y="2926"/>
                    <a:pt x="3843" y="2995"/>
                    <a:pt x="4168" y="3194"/>
                  </a:cubicBezTo>
                  <a:cubicBezTo>
                    <a:pt x="4416" y="3353"/>
                    <a:pt x="4715" y="3430"/>
                    <a:pt x="5014" y="3430"/>
                  </a:cubicBezTo>
                  <a:cubicBezTo>
                    <a:pt x="5073" y="3430"/>
                    <a:pt x="5133" y="3427"/>
                    <a:pt x="5192" y="3421"/>
                  </a:cubicBezTo>
                  <a:cubicBezTo>
                    <a:pt x="5549" y="3373"/>
                    <a:pt x="5894" y="3194"/>
                    <a:pt x="6156" y="2944"/>
                  </a:cubicBezTo>
                  <a:lnTo>
                    <a:pt x="7275" y="1825"/>
                  </a:lnTo>
                  <a:lnTo>
                    <a:pt x="7359" y="1909"/>
                  </a:lnTo>
                  <a:cubicBezTo>
                    <a:pt x="7394" y="1938"/>
                    <a:pt x="7433" y="1953"/>
                    <a:pt x="7470" y="1953"/>
                  </a:cubicBezTo>
                  <a:cubicBezTo>
                    <a:pt x="7507" y="1953"/>
                    <a:pt x="7543" y="1938"/>
                    <a:pt x="7573" y="1909"/>
                  </a:cubicBezTo>
                  <a:cubicBezTo>
                    <a:pt x="7633" y="1849"/>
                    <a:pt x="7633" y="1766"/>
                    <a:pt x="7573" y="1706"/>
                  </a:cubicBezTo>
                  <a:lnTo>
                    <a:pt x="7204" y="1337"/>
                  </a:lnTo>
                  <a:lnTo>
                    <a:pt x="7192" y="1313"/>
                  </a:lnTo>
                  <a:cubicBezTo>
                    <a:pt x="7025" y="1123"/>
                    <a:pt x="7013" y="837"/>
                    <a:pt x="7144" y="635"/>
                  </a:cubicBezTo>
                  <a:cubicBezTo>
                    <a:pt x="7168" y="587"/>
                    <a:pt x="7204" y="539"/>
                    <a:pt x="7228" y="516"/>
                  </a:cubicBezTo>
                  <a:cubicBezTo>
                    <a:pt x="7353" y="390"/>
                    <a:pt x="7518" y="328"/>
                    <a:pt x="7677" y="328"/>
                  </a:cubicBezTo>
                  <a:close/>
                  <a:moveTo>
                    <a:pt x="7667" y="0"/>
                  </a:moveTo>
                  <a:cubicBezTo>
                    <a:pt x="7428" y="0"/>
                    <a:pt x="7186" y="93"/>
                    <a:pt x="7001" y="277"/>
                  </a:cubicBezTo>
                  <a:cubicBezTo>
                    <a:pt x="6644" y="635"/>
                    <a:pt x="6632" y="1194"/>
                    <a:pt x="6978" y="1539"/>
                  </a:cubicBezTo>
                  <a:lnTo>
                    <a:pt x="7037" y="1599"/>
                  </a:lnTo>
                  <a:lnTo>
                    <a:pt x="5918" y="2718"/>
                  </a:lnTo>
                  <a:cubicBezTo>
                    <a:pt x="5651" y="2985"/>
                    <a:pt x="5292" y="3125"/>
                    <a:pt x="4942" y="3125"/>
                  </a:cubicBezTo>
                  <a:cubicBezTo>
                    <a:pt x="4715" y="3125"/>
                    <a:pt x="4491" y="3066"/>
                    <a:pt x="4299" y="2944"/>
                  </a:cubicBezTo>
                  <a:cubicBezTo>
                    <a:pt x="3965" y="2730"/>
                    <a:pt x="3596" y="2623"/>
                    <a:pt x="3215" y="2623"/>
                  </a:cubicBezTo>
                  <a:cubicBezTo>
                    <a:pt x="2882" y="2623"/>
                    <a:pt x="2584" y="2706"/>
                    <a:pt x="2453" y="2849"/>
                  </a:cubicBezTo>
                  <a:cubicBezTo>
                    <a:pt x="2322" y="2980"/>
                    <a:pt x="2418" y="3194"/>
                    <a:pt x="2525" y="3385"/>
                  </a:cubicBezTo>
                  <a:cubicBezTo>
                    <a:pt x="2632" y="3564"/>
                    <a:pt x="2810" y="3802"/>
                    <a:pt x="3049" y="4087"/>
                  </a:cubicBezTo>
                  <a:cubicBezTo>
                    <a:pt x="3394" y="4504"/>
                    <a:pt x="3846" y="5004"/>
                    <a:pt x="4370" y="5540"/>
                  </a:cubicBezTo>
                  <a:lnTo>
                    <a:pt x="3180" y="6731"/>
                  </a:lnTo>
                  <a:cubicBezTo>
                    <a:pt x="2763" y="7147"/>
                    <a:pt x="2346" y="7600"/>
                    <a:pt x="1965" y="8064"/>
                  </a:cubicBezTo>
                  <a:lnTo>
                    <a:pt x="84" y="10291"/>
                  </a:lnTo>
                  <a:cubicBezTo>
                    <a:pt x="1" y="10398"/>
                    <a:pt x="1" y="10541"/>
                    <a:pt x="84" y="10636"/>
                  </a:cubicBezTo>
                  <a:cubicBezTo>
                    <a:pt x="132" y="10683"/>
                    <a:pt x="191" y="10707"/>
                    <a:pt x="251" y="10707"/>
                  </a:cubicBezTo>
                  <a:cubicBezTo>
                    <a:pt x="310" y="10707"/>
                    <a:pt x="370" y="10683"/>
                    <a:pt x="429" y="10636"/>
                  </a:cubicBezTo>
                  <a:lnTo>
                    <a:pt x="2572" y="8850"/>
                  </a:lnTo>
                  <a:cubicBezTo>
                    <a:pt x="2632" y="8790"/>
                    <a:pt x="2644" y="8695"/>
                    <a:pt x="2584" y="8636"/>
                  </a:cubicBezTo>
                  <a:cubicBezTo>
                    <a:pt x="2552" y="8603"/>
                    <a:pt x="2512" y="8585"/>
                    <a:pt x="2472" y="8585"/>
                  </a:cubicBezTo>
                  <a:cubicBezTo>
                    <a:pt x="2440" y="8585"/>
                    <a:pt x="2409" y="8597"/>
                    <a:pt x="2382" y="8624"/>
                  </a:cubicBezTo>
                  <a:lnTo>
                    <a:pt x="739" y="9993"/>
                  </a:lnTo>
                  <a:lnTo>
                    <a:pt x="2191" y="8266"/>
                  </a:lnTo>
                  <a:cubicBezTo>
                    <a:pt x="2560" y="7826"/>
                    <a:pt x="2965" y="7374"/>
                    <a:pt x="3382" y="6957"/>
                  </a:cubicBezTo>
                  <a:lnTo>
                    <a:pt x="4573" y="5766"/>
                  </a:lnTo>
                  <a:lnTo>
                    <a:pt x="4585" y="5778"/>
                  </a:lnTo>
                  <a:lnTo>
                    <a:pt x="4763" y="5957"/>
                  </a:lnTo>
                  <a:lnTo>
                    <a:pt x="4942" y="6135"/>
                  </a:lnTo>
                  <a:lnTo>
                    <a:pt x="4954" y="6159"/>
                  </a:lnTo>
                  <a:lnTo>
                    <a:pt x="3763" y="7350"/>
                  </a:lnTo>
                  <a:cubicBezTo>
                    <a:pt x="3537" y="7564"/>
                    <a:pt x="3299" y="7790"/>
                    <a:pt x="3084" y="8005"/>
                  </a:cubicBezTo>
                  <a:cubicBezTo>
                    <a:pt x="3025" y="8064"/>
                    <a:pt x="3025" y="8147"/>
                    <a:pt x="3061" y="8207"/>
                  </a:cubicBezTo>
                  <a:cubicBezTo>
                    <a:pt x="3092" y="8238"/>
                    <a:pt x="3133" y="8253"/>
                    <a:pt x="3174" y="8253"/>
                  </a:cubicBezTo>
                  <a:cubicBezTo>
                    <a:pt x="3211" y="8253"/>
                    <a:pt x="3247" y="8241"/>
                    <a:pt x="3275" y="8219"/>
                  </a:cubicBezTo>
                  <a:cubicBezTo>
                    <a:pt x="3513" y="8005"/>
                    <a:pt x="3751" y="7778"/>
                    <a:pt x="3977" y="7552"/>
                  </a:cubicBezTo>
                  <a:lnTo>
                    <a:pt x="5168" y="6361"/>
                  </a:lnTo>
                  <a:cubicBezTo>
                    <a:pt x="5704" y="6885"/>
                    <a:pt x="6204" y="7350"/>
                    <a:pt x="6620" y="7683"/>
                  </a:cubicBezTo>
                  <a:cubicBezTo>
                    <a:pt x="6906" y="7921"/>
                    <a:pt x="7144" y="8088"/>
                    <a:pt x="7323" y="8207"/>
                  </a:cubicBezTo>
                  <a:cubicBezTo>
                    <a:pt x="7442" y="8278"/>
                    <a:pt x="7573" y="8362"/>
                    <a:pt x="7692" y="8362"/>
                  </a:cubicBezTo>
                  <a:cubicBezTo>
                    <a:pt x="7752" y="8362"/>
                    <a:pt x="7811" y="8338"/>
                    <a:pt x="7859" y="8302"/>
                  </a:cubicBezTo>
                  <a:cubicBezTo>
                    <a:pt x="7990" y="8159"/>
                    <a:pt x="8073" y="7862"/>
                    <a:pt x="8073" y="7540"/>
                  </a:cubicBezTo>
                  <a:cubicBezTo>
                    <a:pt x="8073" y="7171"/>
                    <a:pt x="7954" y="6778"/>
                    <a:pt x="7763" y="6457"/>
                  </a:cubicBezTo>
                  <a:cubicBezTo>
                    <a:pt x="7454" y="5957"/>
                    <a:pt x="7549" y="5278"/>
                    <a:pt x="7990" y="4826"/>
                  </a:cubicBezTo>
                  <a:lnTo>
                    <a:pt x="9109" y="3718"/>
                  </a:lnTo>
                  <a:lnTo>
                    <a:pt x="9168" y="3778"/>
                  </a:lnTo>
                  <a:lnTo>
                    <a:pt x="9192" y="3802"/>
                  </a:lnTo>
                  <a:lnTo>
                    <a:pt x="9216" y="3814"/>
                  </a:lnTo>
                  <a:cubicBezTo>
                    <a:pt x="9216" y="3814"/>
                    <a:pt x="9228" y="3837"/>
                    <a:pt x="9240" y="3837"/>
                  </a:cubicBezTo>
                  <a:cubicBezTo>
                    <a:pt x="9240" y="3837"/>
                    <a:pt x="9252" y="3837"/>
                    <a:pt x="9252" y="3849"/>
                  </a:cubicBezTo>
                  <a:lnTo>
                    <a:pt x="9264" y="3861"/>
                  </a:lnTo>
                  <a:cubicBezTo>
                    <a:pt x="9264" y="3861"/>
                    <a:pt x="9287" y="3861"/>
                    <a:pt x="9287" y="3873"/>
                  </a:cubicBezTo>
                  <a:lnTo>
                    <a:pt x="9299" y="3897"/>
                  </a:lnTo>
                  <a:cubicBezTo>
                    <a:pt x="9299" y="3897"/>
                    <a:pt x="9311" y="3897"/>
                    <a:pt x="9311" y="3909"/>
                  </a:cubicBezTo>
                  <a:lnTo>
                    <a:pt x="9323" y="3921"/>
                  </a:lnTo>
                  <a:cubicBezTo>
                    <a:pt x="9323" y="3921"/>
                    <a:pt x="9347" y="3921"/>
                    <a:pt x="9347" y="3933"/>
                  </a:cubicBezTo>
                  <a:lnTo>
                    <a:pt x="9359" y="3956"/>
                  </a:lnTo>
                  <a:cubicBezTo>
                    <a:pt x="9359" y="3956"/>
                    <a:pt x="9371" y="3956"/>
                    <a:pt x="9371" y="3968"/>
                  </a:cubicBezTo>
                  <a:cubicBezTo>
                    <a:pt x="9371" y="3968"/>
                    <a:pt x="9383" y="3968"/>
                    <a:pt x="9383" y="3980"/>
                  </a:cubicBezTo>
                  <a:cubicBezTo>
                    <a:pt x="9383" y="3980"/>
                    <a:pt x="9407" y="3980"/>
                    <a:pt x="9407" y="3992"/>
                  </a:cubicBezTo>
                  <a:cubicBezTo>
                    <a:pt x="9407" y="3992"/>
                    <a:pt x="9418" y="3992"/>
                    <a:pt x="9418" y="4016"/>
                  </a:cubicBezTo>
                  <a:lnTo>
                    <a:pt x="9430" y="4016"/>
                  </a:lnTo>
                  <a:cubicBezTo>
                    <a:pt x="9430" y="4016"/>
                    <a:pt x="9442" y="4016"/>
                    <a:pt x="9442" y="4028"/>
                  </a:cubicBezTo>
                  <a:lnTo>
                    <a:pt x="9942" y="4028"/>
                  </a:lnTo>
                  <a:cubicBezTo>
                    <a:pt x="9954" y="4028"/>
                    <a:pt x="9954" y="4028"/>
                    <a:pt x="9966" y="4016"/>
                  </a:cubicBezTo>
                  <a:lnTo>
                    <a:pt x="9978" y="4016"/>
                  </a:lnTo>
                  <a:cubicBezTo>
                    <a:pt x="10002" y="4016"/>
                    <a:pt x="10002" y="4016"/>
                    <a:pt x="10014" y="3992"/>
                  </a:cubicBezTo>
                  <a:lnTo>
                    <a:pt x="10026" y="3992"/>
                  </a:lnTo>
                  <a:cubicBezTo>
                    <a:pt x="10038" y="3992"/>
                    <a:pt x="10038" y="3992"/>
                    <a:pt x="10061" y="3980"/>
                  </a:cubicBezTo>
                  <a:cubicBezTo>
                    <a:pt x="10061" y="3980"/>
                    <a:pt x="10073" y="3980"/>
                    <a:pt x="10073" y="3968"/>
                  </a:cubicBezTo>
                  <a:cubicBezTo>
                    <a:pt x="10085" y="3968"/>
                    <a:pt x="10085" y="3956"/>
                    <a:pt x="10097" y="3956"/>
                  </a:cubicBezTo>
                  <a:cubicBezTo>
                    <a:pt x="10097" y="3956"/>
                    <a:pt x="10121" y="3956"/>
                    <a:pt x="10121" y="3933"/>
                  </a:cubicBezTo>
                  <a:cubicBezTo>
                    <a:pt x="10133" y="3933"/>
                    <a:pt x="10133" y="3921"/>
                    <a:pt x="10145" y="3921"/>
                  </a:cubicBezTo>
                  <a:cubicBezTo>
                    <a:pt x="10145" y="3921"/>
                    <a:pt x="10157" y="3921"/>
                    <a:pt x="10157" y="3909"/>
                  </a:cubicBezTo>
                  <a:cubicBezTo>
                    <a:pt x="10180" y="3909"/>
                    <a:pt x="10180" y="3897"/>
                    <a:pt x="10192" y="3897"/>
                  </a:cubicBezTo>
                  <a:cubicBezTo>
                    <a:pt x="10192" y="3897"/>
                    <a:pt x="10204" y="3897"/>
                    <a:pt x="10204" y="3873"/>
                  </a:cubicBezTo>
                  <a:cubicBezTo>
                    <a:pt x="10216" y="3873"/>
                    <a:pt x="10216" y="3861"/>
                    <a:pt x="10240" y="3861"/>
                  </a:cubicBezTo>
                  <a:cubicBezTo>
                    <a:pt x="10240" y="3861"/>
                    <a:pt x="10252" y="3861"/>
                    <a:pt x="10252" y="3849"/>
                  </a:cubicBezTo>
                  <a:cubicBezTo>
                    <a:pt x="10264" y="3849"/>
                    <a:pt x="10264" y="3837"/>
                    <a:pt x="10276" y="3837"/>
                  </a:cubicBezTo>
                  <a:cubicBezTo>
                    <a:pt x="10276" y="3837"/>
                    <a:pt x="10300" y="3837"/>
                    <a:pt x="10300" y="3814"/>
                  </a:cubicBezTo>
                  <a:cubicBezTo>
                    <a:pt x="10311" y="3814"/>
                    <a:pt x="10311" y="3802"/>
                    <a:pt x="10323" y="3802"/>
                  </a:cubicBezTo>
                  <a:cubicBezTo>
                    <a:pt x="10323" y="3802"/>
                    <a:pt x="10335" y="3802"/>
                    <a:pt x="10335" y="3790"/>
                  </a:cubicBezTo>
                  <a:cubicBezTo>
                    <a:pt x="10359" y="3778"/>
                    <a:pt x="10371" y="3778"/>
                    <a:pt x="10371" y="3754"/>
                  </a:cubicBezTo>
                  <a:cubicBezTo>
                    <a:pt x="10823" y="3373"/>
                    <a:pt x="10835" y="2802"/>
                    <a:pt x="10490" y="2468"/>
                  </a:cubicBezTo>
                  <a:lnTo>
                    <a:pt x="8275" y="242"/>
                  </a:lnTo>
                  <a:cubicBezTo>
                    <a:pt x="8109" y="81"/>
                    <a:pt x="7889" y="0"/>
                    <a:pt x="76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0" name="Google Shape;14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0567" y="5176250"/>
            <a:ext cx="2832682" cy="155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63056" y="5176250"/>
            <a:ext cx="2832677" cy="1556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3B71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133B71"/>
                </a:solidFill>
              </a:rPr>
              <a:t>The Domain Shift Problem</a:t>
            </a:r>
            <a:endParaRPr b="1">
              <a:solidFill>
                <a:srgbClr val="133B71"/>
              </a:solidFill>
            </a:endParaRPr>
          </a:p>
        </p:txBody>
      </p:sp>
      <p:sp>
        <p:nvSpPr>
          <p:cNvPr id="147" name="Google Shape;14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1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Domain shift occurs when visual conditions differ between source and target domains (weather, lighting, architecture, camera).</a:t>
            </a:r>
            <a:br>
              <a:rPr lang="en-US" sz="2000"/>
            </a:br>
            <a:r>
              <a:rPr b="1" lang="en-US" sz="2000"/>
              <a:t>Models trained on one domain often fail on another.</a:t>
            </a:r>
            <a:endParaRPr b="1" sz="2000"/>
          </a:p>
        </p:txBody>
      </p:sp>
      <p:pic>
        <p:nvPicPr>
          <p:cNvPr id="148" name="Google Shape;14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9521" y="1825625"/>
            <a:ext cx="7620000" cy="254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4bc63804a_0_1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3B71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133B71"/>
                </a:solidFill>
              </a:rPr>
              <a:t>The Domain Shift Problem</a:t>
            </a:r>
            <a:endParaRPr b="1">
              <a:solidFill>
                <a:srgbClr val="133B71"/>
              </a:solidFill>
            </a:endParaRPr>
          </a:p>
        </p:txBody>
      </p:sp>
      <p:sp>
        <p:nvSpPr>
          <p:cNvPr id="154" name="Google Shape;154;g3a4bc63804a_0_1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1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India Road</a:t>
            </a:r>
            <a:endParaRPr b="1" sz="2000"/>
          </a:p>
        </p:txBody>
      </p:sp>
      <p:pic>
        <p:nvPicPr>
          <p:cNvPr id="155" name="Google Shape;155;g3a4bc63804a_0_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8175" y="1690825"/>
            <a:ext cx="5014200" cy="2356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3a4bc63804a_0_1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9600" y="1688718"/>
            <a:ext cx="5014200" cy="236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3a4bc63804a_0_1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8900" y="4231767"/>
            <a:ext cx="5014200" cy="2360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/>
          <p:nvPr/>
        </p:nvSpPr>
        <p:spPr>
          <a:xfrm>
            <a:off x="-1" y="4081054"/>
            <a:ext cx="12192001" cy="1648413"/>
          </a:xfrm>
          <a:prstGeom prst="rightArrow">
            <a:avLst>
              <a:gd fmla="val 100000" name="adj1"/>
              <a:gd fmla="val 0" name="adj2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cxnSp>
        <p:nvCxnSpPr>
          <p:cNvPr id="163" name="Google Shape;163;p4"/>
          <p:cNvCxnSpPr>
            <a:stCxn id="162" idx="1"/>
            <a:endCxn id="162" idx="3"/>
          </p:cNvCxnSpPr>
          <p:nvPr/>
        </p:nvCxnSpPr>
        <p:spPr>
          <a:xfrm>
            <a:off x="-1" y="4905261"/>
            <a:ext cx="121920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4" name="Google Shape;16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3B71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133B71"/>
                </a:solidFill>
              </a:rPr>
              <a:t>Unsupervised Domain Adaptation (UDA)</a:t>
            </a:r>
            <a:endParaRPr b="1">
              <a:solidFill>
                <a:srgbClr val="133B71"/>
              </a:solidFill>
            </a:endParaRPr>
          </a:p>
        </p:txBody>
      </p:sp>
      <p:sp>
        <p:nvSpPr>
          <p:cNvPr id="165" name="Google Shape;165;p4"/>
          <p:cNvSpPr txBox="1"/>
          <p:nvPr>
            <p:ph idx="1" type="body"/>
          </p:nvPr>
        </p:nvSpPr>
        <p:spPr>
          <a:xfrm>
            <a:off x="838200" y="1805961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Unsupervised domain adaptation (UDA) refers to the machine learning challenge where a model is trained using labeled data from a source domain and adapted to perform effectively on a target domain for which no labeled data are available. </a:t>
            </a:r>
            <a:endParaRPr sz="2400"/>
          </a:p>
        </p:txBody>
      </p:sp>
      <p:grpSp>
        <p:nvGrpSpPr>
          <p:cNvPr id="166" name="Google Shape;166;p4"/>
          <p:cNvGrpSpPr/>
          <p:nvPr/>
        </p:nvGrpSpPr>
        <p:grpSpPr>
          <a:xfrm>
            <a:off x="1947634" y="4325109"/>
            <a:ext cx="8111662" cy="1160462"/>
            <a:chOff x="13956" y="896109"/>
            <a:chExt cx="8111662" cy="1160462"/>
          </a:xfrm>
        </p:grpSpPr>
        <p:sp>
          <p:nvSpPr>
            <p:cNvPr id="167" name="Google Shape;167;p4"/>
            <p:cNvSpPr/>
            <p:nvPr/>
          </p:nvSpPr>
          <p:spPr>
            <a:xfrm>
              <a:off x="13956" y="896109"/>
              <a:ext cx="2901156" cy="1160462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4"/>
            <p:cNvSpPr txBox="1"/>
            <p:nvPr/>
          </p:nvSpPr>
          <p:spPr>
            <a:xfrm>
              <a:off x="594187" y="896109"/>
              <a:ext cx="1740694" cy="11604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325" lIns="100000" spcFirstLastPara="1" rIns="33325" wrap="square" tIns="3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b="1" lang="en-US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Source Domain (Labeled</a:t>
              </a:r>
              <a:r>
                <a:rPr b="1" lang="en-US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1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2613421" y="896109"/>
              <a:ext cx="2901156" cy="1160462"/>
            </a:xfrm>
            <a:prstGeom prst="chevron">
              <a:avLst>
                <a:gd fmla="val 50000" name="adj"/>
              </a:avLst>
            </a:prstGeom>
            <a:solidFill>
              <a:schemeClr val="accent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4"/>
            <p:cNvSpPr txBox="1"/>
            <p:nvPr/>
          </p:nvSpPr>
          <p:spPr>
            <a:xfrm>
              <a:off x="3193652" y="896109"/>
              <a:ext cx="1740694" cy="11604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325" lIns="100000" spcFirstLastPara="1" rIns="33325" wrap="square" tIns="33325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b="1" lang="en-US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Adaptation Process</a:t>
              </a:r>
              <a:endParaRPr b="1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4"/>
            <p:cNvSpPr/>
            <p:nvPr/>
          </p:nvSpPr>
          <p:spPr>
            <a:xfrm>
              <a:off x="5224462" y="896109"/>
              <a:ext cx="2901156" cy="1160462"/>
            </a:xfrm>
            <a:prstGeom prst="chevron">
              <a:avLst>
                <a:gd fmla="val 50000" name="adj"/>
              </a:avLst>
            </a:prstGeom>
            <a:solidFill>
              <a:schemeClr val="accent4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 txBox="1"/>
            <p:nvPr/>
          </p:nvSpPr>
          <p:spPr>
            <a:xfrm>
              <a:off x="5804693" y="896109"/>
              <a:ext cx="1740694" cy="11604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325" lIns="100000" spcFirstLastPara="1" rIns="33325" wrap="square" tIns="3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b="1" lang="en-US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Target Domain (Unlabeled)</a:t>
              </a:r>
              <a:endParaRPr b="1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3B71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133B71"/>
                </a:solidFill>
              </a:rPr>
              <a:t>Research questions</a:t>
            </a:r>
            <a:endParaRPr b="1">
              <a:solidFill>
                <a:srgbClr val="133B71"/>
              </a:solidFill>
            </a:endParaRPr>
          </a:p>
        </p:txBody>
      </p:sp>
      <p:sp>
        <p:nvSpPr>
          <p:cNvPr id="178" name="Google Shape;178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How much does segmentation accuracy decline when transferring to a new domain, and can unsupervised domain adaptation improve it?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suggestions for further work: </a:t>
            </a:r>
            <a:endParaRPr b="1"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Does adaptation to one target improve generalization to a third domain?</a:t>
            </a:r>
            <a:endParaRPr sz="2400"/>
          </a:p>
          <a:p>
            <a:pPr indent="-266700" lvl="0" marL="2286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Which visual factors (night, rain, fog, camera angle) cause the largest degradation? </a:t>
            </a:r>
            <a:endParaRPr sz="2400"/>
          </a:p>
        </p:txBody>
      </p:sp>
      <p:grpSp>
        <p:nvGrpSpPr>
          <p:cNvPr id="179" name="Google Shape;179;p5"/>
          <p:cNvGrpSpPr/>
          <p:nvPr/>
        </p:nvGrpSpPr>
        <p:grpSpPr>
          <a:xfrm>
            <a:off x="10177255" y="4986337"/>
            <a:ext cx="1277866" cy="1325559"/>
            <a:chOff x="852385" y="1510916"/>
            <a:chExt cx="353145" cy="351997"/>
          </a:xfrm>
        </p:grpSpPr>
        <p:sp>
          <p:nvSpPr>
            <p:cNvPr id="180" name="Google Shape;180;p5"/>
            <p:cNvSpPr/>
            <p:nvPr/>
          </p:nvSpPr>
          <p:spPr>
            <a:xfrm>
              <a:off x="852385" y="1510916"/>
              <a:ext cx="353145" cy="187785"/>
            </a:xfrm>
            <a:custGeom>
              <a:rect b="b" l="l" r="r" t="t"/>
              <a:pathLst>
                <a:path extrusionOk="0" h="5895" w="11086">
                  <a:moveTo>
                    <a:pt x="6145" y="334"/>
                  </a:moveTo>
                  <a:lnTo>
                    <a:pt x="6145" y="703"/>
                  </a:lnTo>
                  <a:lnTo>
                    <a:pt x="4942" y="703"/>
                  </a:lnTo>
                  <a:lnTo>
                    <a:pt x="4942" y="334"/>
                  </a:lnTo>
                  <a:close/>
                  <a:moveTo>
                    <a:pt x="10764" y="1025"/>
                  </a:moveTo>
                  <a:lnTo>
                    <a:pt x="10764" y="1596"/>
                  </a:lnTo>
                  <a:lnTo>
                    <a:pt x="346" y="1596"/>
                  </a:lnTo>
                  <a:lnTo>
                    <a:pt x="346" y="1025"/>
                  </a:lnTo>
                  <a:close/>
                  <a:moveTo>
                    <a:pt x="4775" y="1"/>
                  </a:moveTo>
                  <a:cubicBezTo>
                    <a:pt x="4692" y="1"/>
                    <a:pt x="4621" y="84"/>
                    <a:pt x="4621" y="167"/>
                  </a:cubicBezTo>
                  <a:lnTo>
                    <a:pt x="4621" y="703"/>
                  </a:lnTo>
                  <a:lnTo>
                    <a:pt x="168" y="703"/>
                  </a:lnTo>
                  <a:cubicBezTo>
                    <a:pt x="72" y="703"/>
                    <a:pt x="1" y="775"/>
                    <a:pt x="1" y="870"/>
                  </a:cubicBezTo>
                  <a:lnTo>
                    <a:pt x="1" y="1751"/>
                  </a:lnTo>
                  <a:cubicBezTo>
                    <a:pt x="1" y="1834"/>
                    <a:pt x="72" y="1906"/>
                    <a:pt x="168" y="1906"/>
                  </a:cubicBezTo>
                  <a:lnTo>
                    <a:pt x="656" y="1906"/>
                  </a:lnTo>
                  <a:lnTo>
                    <a:pt x="656" y="2620"/>
                  </a:lnTo>
                  <a:cubicBezTo>
                    <a:pt x="656" y="2715"/>
                    <a:pt x="727" y="2787"/>
                    <a:pt x="822" y="2787"/>
                  </a:cubicBezTo>
                  <a:cubicBezTo>
                    <a:pt x="906" y="2787"/>
                    <a:pt x="989" y="2715"/>
                    <a:pt x="989" y="2620"/>
                  </a:cubicBezTo>
                  <a:lnTo>
                    <a:pt x="989" y="1906"/>
                  </a:lnTo>
                  <a:lnTo>
                    <a:pt x="10109" y="1906"/>
                  </a:lnTo>
                  <a:lnTo>
                    <a:pt x="10109" y="5740"/>
                  </a:lnTo>
                  <a:cubicBezTo>
                    <a:pt x="10109" y="5823"/>
                    <a:pt x="10181" y="5894"/>
                    <a:pt x="10276" y="5894"/>
                  </a:cubicBezTo>
                  <a:cubicBezTo>
                    <a:pt x="10359" y="5894"/>
                    <a:pt x="10431" y="5823"/>
                    <a:pt x="10431" y="5740"/>
                  </a:cubicBezTo>
                  <a:lnTo>
                    <a:pt x="10431" y="1918"/>
                  </a:lnTo>
                  <a:lnTo>
                    <a:pt x="10931" y="1918"/>
                  </a:lnTo>
                  <a:cubicBezTo>
                    <a:pt x="11014" y="1918"/>
                    <a:pt x="11086" y="1846"/>
                    <a:pt x="11086" y="1763"/>
                  </a:cubicBezTo>
                  <a:lnTo>
                    <a:pt x="11086" y="882"/>
                  </a:lnTo>
                  <a:cubicBezTo>
                    <a:pt x="11086" y="775"/>
                    <a:pt x="11014" y="703"/>
                    <a:pt x="10931" y="703"/>
                  </a:cubicBezTo>
                  <a:lnTo>
                    <a:pt x="6478" y="703"/>
                  </a:lnTo>
                  <a:lnTo>
                    <a:pt x="6478" y="167"/>
                  </a:lnTo>
                  <a:cubicBezTo>
                    <a:pt x="6478" y="84"/>
                    <a:pt x="6406" y="1"/>
                    <a:pt x="631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852385" y="1609921"/>
              <a:ext cx="353145" cy="252992"/>
            </a:xfrm>
            <a:custGeom>
              <a:rect b="b" l="l" r="r" t="t"/>
              <a:pathLst>
                <a:path extrusionOk="0" h="7942" w="11086">
                  <a:moveTo>
                    <a:pt x="10764" y="4382"/>
                  </a:moveTo>
                  <a:lnTo>
                    <a:pt x="10764" y="4953"/>
                  </a:lnTo>
                  <a:lnTo>
                    <a:pt x="346" y="4953"/>
                  </a:lnTo>
                  <a:lnTo>
                    <a:pt x="346" y="4382"/>
                  </a:lnTo>
                  <a:close/>
                  <a:moveTo>
                    <a:pt x="6406" y="5275"/>
                  </a:moveTo>
                  <a:lnTo>
                    <a:pt x="6895" y="6168"/>
                  </a:lnTo>
                  <a:lnTo>
                    <a:pt x="4228" y="6168"/>
                  </a:lnTo>
                  <a:lnTo>
                    <a:pt x="4716" y="5275"/>
                  </a:lnTo>
                  <a:close/>
                  <a:moveTo>
                    <a:pt x="4335" y="5275"/>
                  </a:moveTo>
                  <a:lnTo>
                    <a:pt x="3049" y="7608"/>
                  </a:lnTo>
                  <a:lnTo>
                    <a:pt x="2573" y="7608"/>
                  </a:lnTo>
                  <a:lnTo>
                    <a:pt x="3859" y="5275"/>
                  </a:lnTo>
                  <a:close/>
                  <a:moveTo>
                    <a:pt x="7240" y="5275"/>
                  </a:moveTo>
                  <a:lnTo>
                    <a:pt x="8514" y="7608"/>
                  </a:lnTo>
                  <a:lnTo>
                    <a:pt x="8038" y="7608"/>
                  </a:lnTo>
                  <a:lnTo>
                    <a:pt x="6764" y="5275"/>
                  </a:lnTo>
                  <a:close/>
                  <a:moveTo>
                    <a:pt x="822" y="0"/>
                  </a:moveTo>
                  <a:cubicBezTo>
                    <a:pt x="727" y="0"/>
                    <a:pt x="656" y="84"/>
                    <a:pt x="656" y="167"/>
                  </a:cubicBezTo>
                  <a:lnTo>
                    <a:pt x="656" y="4072"/>
                  </a:lnTo>
                  <a:lnTo>
                    <a:pt x="168" y="4072"/>
                  </a:lnTo>
                  <a:cubicBezTo>
                    <a:pt x="72" y="4072"/>
                    <a:pt x="1" y="4144"/>
                    <a:pt x="1" y="4239"/>
                  </a:cubicBezTo>
                  <a:lnTo>
                    <a:pt x="1" y="5108"/>
                  </a:lnTo>
                  <a:cubicBezTo>
                    <a:pt x="1" y="5203"/>
                    <a:pt x="72" y="5275"/>
                    <a:pt x="168" y="5275"/>
                  </a:cubicBezTo>
                  <a:lnTo>
                    <a:pt x="3489" y="5275"/>
                  </a:lnTo>
                  <a:lnTo>
                    <a:pt x="2144" y="7704"/>
                  </a:lnTo>
                  <a:cubicBezTo>
                    <a:pt x="2120" y="7751"/>
                    <a:pt x="2120" y="7811"/>
                    <a:pt x="2144" y="7870"/>
                  </a:cubicBezTo>
                  <a:cubicBezTo>
                    <a:pt x="2180" y="7906"/>
                    <a:pt x="2239" y="7942"/>
                    <a:pt x="2275" y="7942"/>
                  </a:cubicBezTo>
                  <a:lnTo>
                    <a:pt x="3132" y="7942"/>
                  </a:lnTo>
                  <a:cubicBezTo>
                    <a:pt x="3192" y="7942"/>
                    <a:pt x="3251" y="7906"/>
                    <a:pt x="3275" y="7846"/>
                  </a:cubicBezTo>
                  <a:lnTo>
                    <a:pt x="3644" y="7168"/>
                  </a:lnTo>
                  <a:lnTo>
                    <a:pt x="4644" y="7168"/>
                  </a:lnTo>
                  <a:cubicBezTo>
                    <a:pt x="4728" y="7168"/>
                    <a:pt x="4811" y="7096"/>
                    <a:pt x="4811" y="7001"/>
                  </a:cubicBezTo>
                  <a:cubicBezTo>
                    <a:pt x="4811" y="6906"/>
                    <a:pt x="4728" y="6834"/>
                    <a:pt x="4644" y="6834"/>
                  </a:cubicBezTo>
                  <a:lnTo>
                    <a:pt x="3823" y="6834"/>
                  </a:lnTo>
                  <a:lnTo>
                    <a:pt x="4037" y="6465"/>
                  </a:lnTo>
                  <a:lnTo>
                    <a:pt x="7061" y="6465"/>
                  </a:lnTo>
                  <a:lnTo>
                    <a:pt x="7252" y="6834"/>
                  </a:lnTo>
                  <a:lnTo>
                    <a:pt x="5299" y="6834"/>
                  </a:lnTo>
                  <a:cubicBezTo>
                    <a:pt x="5216" y="6834"/>
                    <a:pt x="5133" y="6906"/>
                    <a:pt x="5133" y="7001"/>
                  </a:cubicBezTo>
                  <a:cubicBezTo>
                    <a:pt x="5133" y="7096"/>
                    <a:pt x="5216" y="7168"/>
                    <a:pt x="5299" y="7168"/>
                  </a:cubicBezTo>
                  <a:lnTo>
                    <a:pt x="7430" y="7168"/>
                  </a:lnTo>
                  <a:lnTo>
                    <a:pt x="7800" y="7846"/>
                  </a:lnTo>
                  <a:cubicBezTo>
                    <a:pt x="7835" y="7894"/>
                    <a:pt x="7895" y="7942"/>
                    <a:pt x="7954" y="7942"/>
                  </a:cubicBezTo>
                  <a:lnTo>
                    <a:pt x="8800" y="7942"/>
                  </a:lnTo>
                  <a:cubicBezTo>
                    <a:pt x="8859" y="7942"/>
                    <a:pt x="8907" y="7906"/>
                    <a:pt x="8931" y="7870"/>
                  </a:cubicBezTo>
                  <a:cubicBezTo>
                    <a:pt x="8966" y="7823"/>
                    <a:pt x="8966" y="7763"/>
                    <a:pt x="8931" y="7704"/>
                  </a:cubicBezTo>
                  <a:lnTo>
                    <a:pt x="7597" y="5275"/>
                  </a:lnTo>
                  <a:lnTo>
                    <a:pt x="10931" y="5275"/>
                  </a:lnTo>
                  <a:cubicBezTo>
                    <a:pt x="11014" y="5275"/>
                    <a:pt x="11086" y="5203"/>
                    <a:pt x="11086" y="5108"/>
                  </a:cubicBezTo>
                  <a:lnTo>
                    <a:pt x="11086" y="4239"/>
                  </a:lnTo>
                  <a:cubicBezTo>
                    <a:pt x="11086" y="4144"/>
                    <a:pt x="11014" y="4072"/>
                    <a:pt x="10931" y="4072"/>
                  </a:cubicBezTo>
                  <a:lnTo>
                    <a:pt x="10431" y="4072"/>
                  </a:lnTo>
                  <a:lnTo>
                    <a:pt x="10431" y="3263"/>
                  </a:lnTo>
                  <a:cubicBezTo>
                    <a:pt x="10431" y="3179"/>
                    <a:pt x="10359" y="3108"/>
                    <a:pt x="10276" y="3108"/>
                  </a:cubicBezTo>
                  <a:cubicBezTo>
                    <a:pt x="10181" y="3108"/>
                    <a:pt x="10109" y="3179"/>
                    <a:pt x="10109" y="3263"/>
                  </a:cubicBezTo>
                  <a:lnTo>
                    <a:pt x="10109" y="4072"/>
                  </a:lnTo>
                  <a:lnTo>
                    <a:pt x="989" y="4072"/>
                  </a:lnTo>
                  <a:lnTo>
                    <a:pt x="989" y="167"/>
                  </a:lnTo>
                  <a:cubicBezTo>
                    <a:pt x="989" y="84"/>
                    <a:pt x="906" y="0"/>
                    <a:pt x="82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928264" y="1584501"/>
              <a:ext cx="198775" cy="140735"/>
            </a:xfrm>
            <a:custGeom>
              <a:rect b="b" l="l" r="r" t="t"/>
              <a:pathLst>
                <a:path extrusionOk="0" h="4418" w="6240">
                  <a:moveTo>
                    <a:pt x="5608" y="322"/>
                  </a:moveTo>
                  <a:cubicBezTo>
                    <a:pt x="5787" y="322"/>
                    <a:pt x="5929" y="465"/>
                    <a:pt x="5929" y="643"/>
                  </a:cubicBezTo>
                  <a:cubicBezTo>
                    <a:pt x="5929" y="798"/>
                    <a:pt x="5775" y="953"/>
                    <a:pt x="5608" y="953"/>
                  </a:cubicBezTo>
                  <a:cubicBezTo>
                    <a:pt x="5453" y="953"/>
                    <a:pt x="5298" y="822"/>
                    <a:pt x="5298" y="643"/>
                  </a:cubicBezTo>
                  <a:cubicBezTo>
                    <a:pt x="5298" y="477"/>
                    <a:pt x="5429" y="322"/>
                    <a:pt x="5608" y="322"/>
                  </a:cubicBezTo>
                  <a:close/>
                  <a:moveTo>
                    <a:pt x="2131" y="1334"/>
                  </a:moveTo>
                  <a:cubicBezTo>
                    <a:pt x="2310" y="1334"/>
                    <a:pt x="2441" y="1477"/>
                    <a:pt x="2441" y="1656"/>
                  </a:cubicBezTo>
                  <a:cubicBezTo>
                    <a:pt x="2441" y="1834"/>
                    <a:pt x="2310" y="1965"/>
                    <a:pt x="2131" y="1965"/>
                  </a:cubicBezTo>
                  <a:cubicBezTo>
                    <a:pt x="1965" y="1965"/>
                    <a:pt x="1822" y="1834"/>
                    <a:pt x="1822" y="1656"/>
                  </a:cubicBezTo>
                  <a:cubicBezTo>
                    <a:pt x="1822" y="1489"/>
                    <a:pt x="1953" y="1334"/>
                    <a:pt x="2131" y="1334"/>
                  </a:cubicBezTo>
                  <a:close/>
                  <a:moveTo>
                    <a:pt x="4036" y="2429"/>
                  </a:moveTo>
                  <a:cubicBezTo>
                    <a:pt x="4215" y="2429"/>
                    <a:pt x="4346" y="2560"/>
                    <a:pt x="4346" y="2739"/>
                  </a:cubicBezTo>
                  <a:cubicBezTo>
                    <a:pt x="4346" y="2918"/>
                    <a:pt x="4203" y="3049"/>
                    <a:pt x="4036" y="3049"/>
                  </a:cubicBezTo>
                  <a:cubicBezTo>
                    <a:pt x="3870" y="3049"/>
                    <a:pt x="3727" y="2918"/>
                    <a:pt x="3727" y="2739"/>
                  </a:cubicBezTo>
                  <a:cubicBezTo>
                    <a:pt x="3727" y="2572"/>
                    <a:pt x="3858" y="2429"/>
                    <a:pt x="4036" y="2429"/>
                  </a:cubicBezTo>
                  <a:close/>
                  <a:moveTo>
                    <a:pt x="595" y="3501"/>
                  </a:moveTo>
                  <a:cubicBezTo>
                    <a:pt x="774" y="3501"/>
                    <a:pt x="905" y="3632"/>
                    <a:pt x="905" y="3811"/>
                  </a:cubicBezTo>
                  <a:cubicBezTo>
                    <a:pt x="905" y="3989"/>
                    <a:pt x="762" y="4120"/>
                    <a:pt x="595" y="4120"/>
                  </a:cubicBezTo>
                  <a:cubicBezTo>
                    <a:pt x="429" y="4120"/>
                    <a:pt x="286" y="3989"/>
                    <a:pt x="286" y="3811"/>
                  </a:cubicBezTo>
                  <a:cubicBezTo>
                    <a:pt x="286" y="3644"/>
                    <a:pt x="417" y="3501"/>
                    <a:pt x="595" y="3501"/>
                  </a:cubicBezTo>
                  <a:close/>
                  <a:moveTo>
                    <a:pt x="5608" y="1"/>
                  </a:moveTo>
                  <a:cubicBezTo>
                    <a:pt x="5275" y="1"/>
                    <a:pt x="4989" y="286"/>
                    <a:pt x="4989" y="632"/>
                  </a:cubicBezTo>
                  <a:cubicBezTo>
                    <a:pt x="4989" y="786"/>
                    <a:pt x="5048" y="941"/>
                    <a:pt x="5156" y="1048"/>
                  </a:cubicBezTo>
                  <a:lnTo>
                    <a:pt x="4239" y="2132"/>
                  </a:lnTo>
                  <a:cubicBezTo>
                    <a:pt x="4179" y="2120"/>
                    <a:pt x="4108" y="2096"/>
                    <a:pt x="4048" y="2096"/>
                  </a:cubicBezTo>
                  <a:cubicBezTo>
                    <a:pt x="3858" y="2096"/>
                    <a:pt x="3679" y="2191"/>
                    <a:pt x="3560" y="2334"/>
                  </a:cubicBezTo>
                  <a:lnTo>
                    <a:pt x="2739" y="1882"/>
                  </a:lnTo>
                  <a:cubicBezTo>
                    <a:pt x="2774" y="1798"/>
                    <a:pt x="2786" y="1727"/>
                    <a:pt x="2786" y="1656"/>
                  </a:cubicBezTo>
                  <a:cubicBezTo>
                    <a:pt x="2786" y="1310"/>
                    <a:pt x="2500" y="1024"/>
                    <a:pt x="2155" y="1024"/>
                  </a:cubicBezTo>
                  <a:cubicBezTo>
                    <a:pt x="1822" y="1024"/>
                    <a:pt x="1536" y="1310"/>
                    <a:pt x="1536" y="1656"/>
                  </a:cubicBezTo>
                  <a:cubicBezTo>
                    <a:pt x="1536" y="1822"/>
                    <a:pt x="1596" y="1953"/>
                    <a:pt x="1703" y="2072"/>
                  </a:cubicBezTo>
                  <a:lnTo>
                    <a:pt x="834" y="3203"/>
                  </a:lnTo>
                  <a:cubicBezTo>
                    <a:pt x="774" y="3191"/>
                    <a:pt x="703" y="3168"/>
                    <a:pt x="631" y="3168"/>
                  </a:cubicBezTo>
                  <a:cubicBezTo>
                    <a:pt x="286" y="3168"/>
                    <a:pt x="0" y="3453"/>
                    <a:pt x="0" y="3799"/>
                  </a:cubicBezTo>
                  <a:cubicBezTo>
                    <a:pt x="0" y="4144"/>
                    <a:pt x="286" y="4418"/>
                    <a:pt x="631" y="4418"/>
                  </a:cubicBezTo>
                  <a:cubicBezTo>
                    <a:pt x="965" y="4418"/>
                    <a:pt x="1250" y="4144"/>
                    <a:pt x="1250" y="3799"/>
                  </a:cubicBezTo>
                  <a:cubicBezTo>
                    <a:pt x="1250" y="3632"/>
                    <a:pt x="1191" y="3501"/>
                    <a:pt x="1084" y="3382"/>
                  </a:cubicBezTo>
                  <a:lnTo>
                    <a:pt x="1953" y="2251"/>
                  </a:lnTo>
                  <a:cubicBezTo>
                    <a:pt x="2012" y="2263"/>
                    <a:pt x="2084" y="2275"/>
                    <a:pt x="2155" y="2275"/>
                  </a:cubicBezTo>
                  <a:cubicBezTo>
                    <a:pt x="2310" y="2275"/>
                    <a:pt x="2441" y="2215"/>
                    <a:pt x="2560" y="2144"/>
                  </a:cubicBezTo>
                  <a:lnTo>
                    <a:pt x="3441" y="2632"/>
                  </a:lnTo>
                  <a:cubicBezTo>
                    <a:pt x="3441" y="2668"/>
                    <a:pt x="3429" y="2691"/>
                    <a:pt x="3429" y="2739"/>
                  </a:cubicBezTo>
                  <a:cubicBezTo>
                    <a:pt x="3429" y="3084"/>
                    <a:pt x="3703" y="3370"/>
                    <a:pt x="4048" y="3370"/>
                  </a:cubicBezTo>
                  <a:cubicBezTo>
                    <a:pt x="4394" y="3370"/>
                    <a:pt x="4679" y="3084"/>
                    <a:pt x="4679" y="2739"/>
                  </a:cubicBezTo>
                  <a:cubicBezTo>
                    <a:pt x="4679" y="2572"/>
                    <a:pt x="4620" y="2429"/>
                    <a:pt x="4513" y="2322"/>
                  </a:cubicBezTo>
                  <a:lnTo>
                    <a:pt x="5418" y="1239"/>
                  </a:lnTo>
                  <a:cubicBezTo>
                    <a:pt x="5477" y="1251"/>
                    <a:pt x="5548" y="1263"/>
                    <a:pt x="5608" y="1263"/>
                  </a:cubicBezTo>
                  <a:cubicBezTo>
                    <a:pt x="5953" y="1263"/>
                    <a:pt x="6239" y="989"/>
                    <a:pt x="6239" y="643"/>
                  </a:cubicBezTo>
                  <a:cubicBezTo>
                    <a:pt x="6239" y="286"/>
                    <a:pt x="5953" y="1"/>
                    <a:pt x="560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"/>
          <p:cNvSpPr/>
          <p:nvPr/>
        </p:nvSpPr>
        <p:spPr>
          <a:xfrm>
            <a:off x="-1" y="2777924"/>
            <a:ext cx="12192001" cy="1655180"/>
          </a:xfrm>
          <a:prstGeom prst="rightArrow">
            <a:avLst>
              <a:gd fmla="val 100000" name="adj1"/>
              <a:gd fmla="val 0" name="adj2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cxnSp>
        <p:nvCxnSpPr>
          <p:cNvPr id="188" name="Google Shape;188;p6"/>
          <p:cNvCxnSpPr>
            <a:stCxn id="187" idx="1"/>
            <a:endCxn id="187" idx="3"/>
          </p:cNvCxnSpPr>
          <p:nvPr/>
        </p:nvCxnSpPr>
        <p:spPr>
          <a:xfrm>
            <a:off x="-1" y="3605514"/>
            <a:ext cx="121920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89" name="Google Shape;18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3B71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133B71"/>
                </a:solidFill>
              </a:rPr>
              <a:t>Methodology</a:t>
            </a:r>
            <a:endParaRPr b="1">
              <a:solidFill>
                <a:srgbClr val="133B71"/>
              </a:solidFill>
            </a:endParaRPr>
          </a:p>
        </p:txBody>
      </p:sp>
      <p:grpSp>
        <p:nvGrpSpPr>
          <p:cNvPr id="190" name="Google Shape;190;p6"/>
          <p:cNvGrpSpPr/>
          <p:nvPr/>
        </p:nvGrpSpPr>
        <p:grpSpPr>
          <a:xfrm>
            <a:off x="497702" y="3071166"/>
            <a:ext cx="11208946" cy="1068695"/>
            <a:chOff x="13724" y="2013953"/>
            <a:chExt cx="11208946" cy="1068695"/>
          </a:xfrm>
        </p:grpSpPr>
        <p:sp>
          <p:nvSpPr>
            <p:cNvPr id="191" name="Google Shape;191;p6"/>
            <p:cNvSpPr/>
            <p:nvPr/>
          </p:nvSpPr>
          <p:spPr>
            <a:xfrm>
              <a:off x="13724" y="2013953"/>
              <a:ext cx="2671738" cy="1068695"/>
            </a:xfrm>
            <a:prstGeom prst="homePlate">
              <a:avLst>
                <a:gd fmla="val 50000" name="adj"/>
              </a:avLst>
            </a:pr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6"/>
            <p:cNvSpPr txBox="1"/>
            <p:nvPr/>
          </p:nvSpPr>
          <p:spPr>
            <a:xfrm>
              <a:off x="13724" y="2013953"/>
              <a:ext cx="2404564" cy="10686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106675" spcFirstLastPara="1" rIns="26650" wrap="square" tIns="53325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b="1"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Source Dataset</a:t>
              </a:r>
              <a:endPara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2151114" y="2013953"/>
              <a:ext cx="2671738" cy="1068695"/>
            </a:xfrm>
            <a:prstGeom prst="chevron">
              <a:avLst>
                <a:gd fmla="val 50000" name="adj"/>
              </a:avLst>
            </a:prstGeom>
            <a:solidFill>
              <a:schemeClr val="accent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6"/>
            <p:cNvSpPr txBox="1"/>
            <p:nvPr/>
          </p:nvSpPr>
          <p:spPr>
            <a:xfrm>
              <a:off x="2685462" y="2013953"/>
              <a:ext cx="1603043" cy="10686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80000" spcFirstLastPara="1" rIns="26650" wrap="square" tIns="53325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b="1"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train baseline</a:t>
              </a:r>
              <a:endPara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4276151" y="2013953"/>
              <a:ext cx="2671738" cy="1068695"/>
            </a:xfrm>
            <a:prstGeom prst="chevron">
              <a:avLst>
                <a:gd fmla="val 50000" name="adj"/>
              </a:avLst>
            </a:prstGeom>
            <a:solidFill>
              <a:schemeClr val="accent3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6"/>
            <p:cNvSpPr txBox="1"/>
            <p:nvPr/>
          </p:nvSpPr>
          <p:spPr>
            <a:xfrm>
              <a:off x="4810499" y="2013953"/>
              <a:ext cx="1603043" cy="10686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8000" lIns="72000" spcFirstLastPara="1" rIns="24000" wrap="square" tIns="480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b="1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Baseline Segmentation Model</a:t>
              </a:r>
              <a:endParaRPr b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6413541" y="2013953"/>
              <a:ext cx="2671738" cy="1068695"/>
            </a:xfrm>
            <a:prstGeom prst="chevron">
              <a:avLst>
                <a:gd fmla="val 50000" name="adj"/>
              </a:avLst>
            </a:prstGeom>
            <a:solidFill>
              <a:schemeClr val="accent4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6"/>
            <p:cNvSpPr txBox="1"/>
            <p:nvPr/>
          </p:nvSpPr>
          <p:spPr>
            <a:xfrm>
              <a:off x="6947889" y="2013953"/>
              <a:ext cx="1603043" cy="10686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80000" spcFirstLastPara="1" rIns="26650" wrap="square" tIns="53325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b="1"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apply UDA</a:t>
              </a:r>
              <a:endPara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8550932" y="2013953"/>
              <a:ext cx="2671738" cy="1068695"/>
            </a:xfrm>
            <a:prstGeom prst="chevron">
              <a:avLst>
                <a:gd fmla="val 50000" name="adj"/>
              </a:avLst>
            </a:prstGeom>
            <a:solidFill>
              <a:schemeClr val="accent6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6"/>
            <p:cNvSpPr txBox="1"/>
            <p:nvPr/>
          </p:nvSpPr>
          <p:spPr>
            <a:xfrm>
              <a:off x="9085280" y="2013953"/>
              <a:ext cx="1603043" cy="10686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80000" spcFirstLastPara="1" rIns="26650" wrap="square" tIns="53325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b="1"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Target Dataset</a:t>
              </a:r>
              <a:endPara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"/>
          <p:cNvSpPr txBox="1"/>
          <p:nvPr>
            <p:ph type="title"/>
          </p:nvPr>
        </p:nvSpPr>
        <p:spPr>
          <a:xfrm>
            <a:off x="838200" y="3567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3B71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133B71"/>
                </a:solidFill>
              </a:rPr>
              <a:t>Datasets</a:t>
            </a:r>
            <a:endParaRPr b="1">
              <a:solidFill>
                <a:srgbClr val="133B71"/>
              </a:solidFill>
            </a:endParaRPr>
          </a:p>
        </p:txBody>
      </p:sp>
      <p:pic>
        <p:nvPicPr>
          <p:cNvPr descr="Back Home" id="207" name="Google Shape;207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6005" y="1339103"/>
            <a:ext cx="2693557" cy="49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7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49356" y="1015917"/>
            <a:ext cx="1706090" cy="911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61349" y="1015917"/>
            <a:ext cx="2148725" cy="842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nd Theft Auto V - Wikipedia" id="210" name="Google Shape;210;p7">
            <a:hlinkClick r:id="rId8"/>
          </p:cNvPr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57193" y="3864800"/>
            <a:ext cx="617368" cy="76301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7"/>
          <p:cNvSpPr/>
          <p:nvPr/>
        </p:nvSpPr>
        <p:spPr>
          <a:xfrm>
            <a:off x="959690" y="2052004"/>
            <a:ext cx="3206188" cy="161967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2D1E6"/>
              </a:gs>
              <a:gs pos="50000">
                <a:srgbClr val="B5C7E0"/>
              </a:gs>
              <a:gs pos="100000">
                <a:srgbClr val="A9BFDE"/>
              </a:gs>
            </a:gsLst>
            <a:lin ang="5400000" scaled="0"/>
          </a:gra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Cityscapes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Real, labeled</a:t>
            </a:r>
            <a:endParaRPr/>
          </a:p>
          <a:p>
            <a:pPr indent="-285750" lvl="0" marL="28575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German urban scenes</a:t>
            </a:r>
            <a:endParaRPr/>
          </a:p>
          <a:p>
            <a:pPr indent="-285750" lvl="0" marL="28575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domain</a:t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4399307" y="2052004"/>
            <a:ext cx="3206188" cy="161967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2D1E6"/>
              </a:gs>
              <a:gs pos="50000">
                <a:srgbClr val="B5C7E0"/>
              </a:gs>
              <a:gs pos="100000">
                <a:srgbClr val="A9BFDE"/>
              </a:gs>
            </a:gsLst>
            <a:lin ang="5400000" scaled="0"/>
          </a:gra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BDD100K</a:t>
            </a:r>
            <a:endParaRPr/>
          </a:p>
          <a:p>
            <a:pPr indent="-285750" lvl="0" marL="28575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Real, unlabeled</a:t>
            </a:r>
            <a:endParaRPr/>
          </a:p>
          <a:p>
            <a:pPr indent="-285750" lvl="0" marL="28575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Diverse U.S. driving scenes</a:t>
            </a:r>
            <a:endParaRPr/>
          </a:p>
          <a:p>
            <a:pPr indent="-285750" lvl="0" marL="28575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 domain</a:t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7838924" y="2052004"/>
            <a:ext cx="3206188" cy="161967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2D1E6"/>
              </a:gs>
              <a:gs pos="50000">
                <a:srgbClr val="B5C7E0"/>
              </a:gs>
              <a:gs pos="100000">
                <a:srgbClr val="A9BFDE"/>
              </a:gs>
            </a:gsLst>
            <a:lin ang="5400000" scaled="0"/>
          </a:gra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ACDC</a:t>
            </a:r>
            <a:endParaRPr/>
          </a:p>
          <a:p>
            <a:pPr indent="-285750" lvl="0" marL="28575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Real, unlabeled</a:t>
            </a:r>
            <a:endParaRPr/>
          </a:p>
          <a:p>
            <a:pPr indent="-285750" lvl="0" marL="28575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Adverse weather conditions</a:t>
            </a:r>
            <a:endParaRPr/>
          </a:p>
          <a:p>
            <a:pPr indent="-285750" lvl="0" marL="28575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Optional target</a:t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2562784" y="4676872"/>
            <a:ext cx="3206188" cy="161967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2D1E6"/>
              </a:gs>
              <a:gs pos="50000">
                <a:srgbClr val="B5C7E0"/>
              </a:gs>
              <a:gs pos="100000">
                <a:srgbClr val="A9BFDE"/>
              </a:gs>
            </a:gsLst>
            <a:lin ang="5400000" scaled="0"/>
          </a:gra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GTA5</a:t>
            </a:r>
            <a:endParaRPr/>
          </a:p>
          <a:p>
            <a:pPr indent="-285750" lvl="0" marL="28575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Synthetic, labeled</a:t>
            </a:r>
            <a:endParaRPr/>
          </a:p>
          <a:p>
            <a:pPr indent="-285750" lvl="0" marL="28575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Game-engine urban scenes</a:t>
            </a:r>
            <a:endParaRPr/>
          </a:p>
          <a:p>
            <a:pPr indent="-285750" lvl="0" marL="28575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source</a:t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6002401" y="4676872"/>
            <a:ext cx="3206188" cy="161967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2D1E6"/>
              </a:gs>
              <a:gs pos="50000">
                <a:srgbClr val="B5C7E0"/>
              </a:gs>
              <a:gs pos="100000">
                <a:srgbClr val="A9BFDE"/>
              </a:gs>
            </a:gsLst>
            <a:lin ang="5400000" scaled="0"/>
          </a:gra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Waymo Open</a:t>
            </a:r>
            <a:endParaRPr/>
          </a:p>
          <a:p>
            <a:pPr indent="-285750" lvl="0" marL="28575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Real, partially labeled</a:t>
            </a:r>
            <a:endParaRPr/>
          </a:p>
          <a:p>
            <a:pPr indent="-285750" lvl="0" marL="28575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Multi-city, camera + LiDAR</a:t>
            </a:r>
            <a:endParaRPr/>
          </a:p>
          <a:p>
            <a:pPr indent="-285750" lvl="0" marL="28575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Additional evaluation</a:t>
            </a:r>
            <a:endParaRPr/>
          </a:p>
        </p:txBody>
      </p:sp>
      <p:pic>
        <p:nvPicPr>
          <p:cNvPr id="216" name="Google Shape;216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39618" y="3949101"/>
            <a:ext cx="1531753" cy="594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4bc63804a_0_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a4bc63804a_0_3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4" name="Google Shape;224;g3a4bc63804a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3B71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133B71"/>
                </a:solidFill>
              </a:rPr>
              <a:t>Impact &amp; Contribution</a:t>
            </a:r>
            <a:endParaRPr b="1">
              <a:solidFill>
                <a:srgbClr val="133B71"/>
              </a:solidFill>
            </a:endParaRPr>
          </a:p>
        </p:txBody>
      </p:sp>
      <p:sp>
        <p:nvSpPr>
          <p:cNvPr id="230" name="Google Shape;230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Reduce the need to collect and manually annotate data when deploying models in new environments.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Improve model robustness when facing different visual conditions (new cities, weather, sensors).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Enable faster, more efficient and less expensive adaptation of perception systems to new domains.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955f04a97_0_5"/>
          <p:cNvSpPr txBox="1"/>
          <p:nvPr>
            <p:ph type="title"/>
          </p:nvPr>
        </p:nvSpPr>
        <p:spPr>
          <a:xfrm>
            <a:off x="838200" y="45449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3B71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133B71"/>
                </a:solidFill>
              </a:rPr>
              <a:t>Literature reivew</a:t>
            </a:r>
            <a:endParaRPr b="1">
              <a:solidFill>
                <a:srgbClr val="133B7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9a12b22c6_0_1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60">
                <a:solidFill>
                  <a:srgbClr val="434343"/>
                </a:solidFill>
              </a:rPr>
              <a:t>DAFormer: Domain Adaptation for Semantic Segmentation</a:t>
            </a:r>
            <a:endParaRPr b="1" sz="276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60">
                <a:solidFill>
                  <a:srgbClr val="434343"/>
                </a:solidFill>
              </a:rPr>
              <a:t>Lukas Hoyer, Dengxin Dai,  Luc Van Gool | March 2022</a:t>
            </a:r>
            <a:endParaRPr/>
          </a:p>
        </p:txBody>
      </p:sp>
      <p:sp>
        <p:nvSpPr>
          <p:cNvPr id="242" name="Google Shape;242;g3a9a12b22c6_0_1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Unsupervised Domain Adaptation (UDA) for semantic segmentation</a:t>
            </a:r>
            <a:endParaRPr/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Train on synthetic driving data, test on real street images</a:t>
            </a:r>
            <a:endParaRPr/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Handle domain shift without new manual labels on the target domain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9a12b22c6_0_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60">
                <a:solidFill>
                  <a:srgbClr val="434343"/>
                </a:solidFill>
              </a:rPr>
              <a:t>DAFormer: Domain Adaptation for Semantic Segmentation</a:t>
            </a:r>
            <a:endParaRPr b="1" sz="276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60">
                <a:solidFill>
                  <a:srgbClr val="434343"/>
                </a:solidFill>
              </a:rPr>
              <a:t>Lukas Hoyer, Dengxin Dai,  Luc Van Gool | March 2022</a:t>
            </a:r>
            <a:endParaRPr/>
          </a:p>
        </p:txBody>
      </p:sp>
      <p:sp>
        <p:nvSpPr>
          <p:cNvPr id="249" name="Google Shape;249;g3a9a12b22c6_0_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/>
              <a:t>DAFormer</a:t>
            </a:r>
            <a:endParaRPr b="1" sz="3000"/>
          </a:p>
          <a:p>
            <a:pPr indent="-3238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00"/>
              <a:buChar char="•"/>
            </a:pPr>
            <a:r>
              <a:rPr lang="en-US" sz="2500"/>
              <a:t>Combines a </a:t>
            </a:r>
            <a:r>
              <a:rPr b="1" lang="en-US" sz="2500"/>
              <a:t>transformer</a:t>
            </a:r>
            <a:r>
              <a:rPr lang="en-US" sz="2500"/>
              <a:t>-based encoder with a segmentation decoder</a:t>
            </a:r>
            <a:endParaRPr sz="2500"/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2500"/>
              <a:t>Uses teacher-student learning with </a:t>
            </a:r>
            <a:r>
              <a:rPr b="1" lang="en-US" sz="2500"/>
              <a:t>pseudo labels</a:t>
            </a:r>
            <a:r>
              <a:rPr lang="en-US" sz="2500"/>
              <a:t> on target images</a:t>
            </a:r>
            <a:endParaRPr sz="2500"/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2500"/>
              <a:t>Applies strong/weak </a:t>
            </a:r>
            <a:r>
              <a:rPr b="1" lang="en-US" sz="2500"/>
              <a:t>augmentations </a:t>
            </a:r>
            <a:r>
              <a:rPr lang="en-US" sz="2500"/>
              <a:t>and feature-distance regularization</a:t>
            </a:r>
            <a:endParaRPr sz="2500"/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2500"/>
              <a:t>Adds </a:t>
            </a:r>
            <a:r>
              <a:rPr b="1" lang="en-US" sz="2500"/>
              <a:t>rare-class sampling</a:t>
            </a:r>
            <a:r>
              <a:rPr lang="en-US" sz="2500"/>
              <a:t> to improve performance on less common classes</a:t>
            </a:r>
            <a:endParaRPr sz="25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pic>
        <p:nvPicPr>
          <p:cNvPr id="250" name="Google Shape;250;g3a9a12b22c6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4525" y="4388448"/>
            <a:ext cx="8362950" cy="19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9a12b22c6_0_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60">
                <a:solidFill>
                  <a:srgbClr val="434343"/>
                </a:solidFill>
              </a:rPr>
              <a:t>DAFormer: Domain Adaptation for Semantic Segmentation</a:t>
            </a:r>
            <a:endParaRPr b="1" sz="276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60">
                <a:solidFill>
                  <a:srgbClr val="434343"/>
                </a:solidFill>
              </a:rPr>
              <a:t>Lukas Hoyer, Dengxin Dai,  Luc Van Gool | March 2022</a:t>
            </a:r>
            <a:endParaRPr/>
          </a:p>
        </p:txBody>
      </p:sp>
      <p:sp>
        <p:nvSpPr>
          <p:cNvPr id="257" name="Google Shape;257;g3a9a12b22c6_0_2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900"/>
              <a:t>Experiments &amp; Evaluation</a:t>
            </a:r>
            <a:endParaRPr b="1" sz="2900"/>
          </a:p>
          <a:p>
            <a:pPr indent="-3810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Trained on </a:t>
            </a:r>
            <a:r>
              <a:rPr b="1" lang="en-US" sz="2400"/>
              <a:t>GTA5/SYNTHIA</a:t>
            </a:r>
            <a:r>
              <a:rPr lang="en-US" sz="2400"/>
              <a:t> and adapted to </a:t>
            </a:r>
            <a:r>
              <a:rPr b="1" lang="en-US" sz="2400"/>
              <a:t>Cityscapes</a:t>
            </a:r>
            <a:r>
              <a:rPr lang="en-US" sz="2400"/>
              <a:t> </a:t>
            </a:r>
            <a:endParaRPr sz="2400"/>
          </a:p>
          <a:p>
            <a:pPr indent="-3810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Shows </a:t>
            </a:r>
            <a:r>
              <a:rPr b="1" lang="en-US" sz="2400"/>
              <a:t>higher </a:t>
            </a:r>
            <a:r>
              <a:rPr lang="en-US" sz="2400"/>
              <a:t>accuracy than previous UDA methods</a:t>
            </a:r>
            <a:endParaRPr sz="2400"/>
          </a:p>
          <a:p>
            <a:pPr indent="-3810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/>
              <a:t>Main metric: </a:t>
            </a:r>
            <a:r>
              <a:rPr lang="en-US" sz="2400"/>
              <a:t>Mean Intersection-over-Union (</a:t>
            </a:r>
            <a:r>
              <a:rPr b="1" lang="en-US" sz="2400"/>
              <a:t>mIoU</a:t>
            </a:r>
            <a:r>
              <a:rPr lang="en-US" sz="2400"/>
              <a:t>) on Cityscapes (reported for source-only, DAFormer (UDA), and Fully supervised Cityscapes).</a:t>
            </a:r>
            <a:endParaRPr sz="2400"/>
          </a:p>
          <a:p>
            <a:pPr indent="-3810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/>
              <a:t>Other evaluation methods:</a:t>
            </a:r>
            <a:endParaRPr b="1" sz="2400"/>
          </a:p>
          <a:p>
            <a:pPr indent="-3810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UDA vs supervised performance on Cityscapes ratio</a:t>
            </a:r>
            <a:endParaRPr sz="2400"/>
          </a:p>
          <a:p>
            <a:pPr indent="-3810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IoU per class, with focus on rare classes (train, bus, truck, etc.)</a:t>
            </a:r>
            <a:endParaRPr sz="2400"/>
          </a:p>
          <a:p>
            <a:pPr indent="-3810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mIoU improvement over previous UDA methods</a:t>
            </a:r>
            <a:endParaRPr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9a12b22c6_0_3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60">
                <a:solidFill>
                  <a:srgbClr val="434343"/>
                </a:solidFill>
              </a:rPr>
              <a:t>DAFormer: Domain Adaptation for Semantic Segmentation</a:t>
            </a:r>
            <a:endParaRPr b="1" sz="276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60">
                <a:solidFill>
                  <a:srgbClr val="434343"/>
                </a:solidFill>
              </a:rPr>
              <a:t>Lukas Hoyer, Dengxin Dai,  Luc Van Gool | March 2022</a:t>
            </a:r>
            <a:endParaRPr/>
          </a:p>
        </p:txBody>
      </p:sp>
      <p:sp>
        <p:nvSpPr>
          <p:cNvPr id="264" name="Google Shape;264;g3a9a12b22c6_0_3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100"/>
              <a:t>Conclusions</a:t>
            </a:r>
            <a:endParaRPr b="1" sz="3100"/>
          </a:p>
          <a:p>
            <a:pPr indent="-3937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Combining a transformer encoder with simple training strategies improves UDA</a:t>
            </a:r>
            <a:endParaRPr sz="2600"/>
          </a:p>
          <a:p>
            <a:pPr indent="-3937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DAFormer produces more reliable pseudo labels and more stable adaptation</a:t>
            </a:r>
            <a:endParaRPr sz="2600"/>
          </a:p>
          <a:p>
            <a:pPr indent="-3937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Does not rely on heavy adversarial training, easier to use in practice</a:t>
            </a:r>
            <a:endParaRPr sz="2600"/>
          </a:p>
          <a:p>
            <a:pPr indent="-3937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Shows that models can handle domain shift without labeled data in the target domain, which is important for real driving systems</a:t>
            </a:r>
            <a:endParaRPr sz="2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9a12b22c6_0_6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60">
                <a:solidFill>
                  <a:srgbClr val="434343"/>
                </a:solidFill>
              </a:rPr>
              <a:t>DAFormer: Domain Adaptation for Semantic Segmentation</a:t>
            </a:r>
            <a:endParaRPr b="1" sz="276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60">
                <a:solidFill>
                  <a:srgbClr val="434343"/>
                </a:solidFill>
              </a:rPr>
              <a:t>Lukas Hoyer, Dengxin Dai,  Luc Van Gool | March 2022</a:t>
            </a:r>
            <a:endParaRPr/>
          </a:p>
        </p:txBody>
      </p:sp>
      <p:pic>
        <p:nvPicPr>
          <p:cNvPr id="271" name="Google Shape;271;g3a9a12b22c6_0_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5603" y="1690825"/>
            <a:ext cx="10160800" cy="422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a955f04a97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2760">
                <a:solidFill>
                  <a:srgbClr val="434343"/>
                </a:solidFill>
              </a:rPr>
              <a:t>Divide, Ensemble and Conquer: The Last Mile on Unsupervised Domain Adaptation for Semantic Segmentation</a:t>
            </a:r>
            <a:endParaRPr b="1" sz="276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1860">
                <a:solidFill>
                  <a:srgbClr val="434343"/>
                </a:solidFill>
              </a:rPr>
              <a:t>Tao Lian, Jose L. G´omez, and Antonio M. L´opez. | June </a:t>
            </a:r>
            <a:r>
              <a:rPr b="1" lang="en-US" sz="1860">
                <a:solidFill>
                  <a:srgbClr val="434343"/>
                </a:solidFill>
              </a:rPr>
              <a:t>2024</a:t>
            </a:r>
            <a:endParaRPr b="1" sz="1860">
              <a:solidFill>
                <a:srgbClr val="434343"/>
              </a:solidFill>
            </a:endParaRPr>
          </a:p>
        </p:txBody>
      </p:sp>
      <p:sp>
        <p:nvSpPr>
          <p:cNvPr id="277" name="Google Shape;277;g3a955f04a97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UDA for semantic segmentation is a challenge due to strong domain shift between </a:t>
            </a:r>
            <a:r>
              <a:rPr lang="en-US"/>
              <a:t>synthetic</a:t>
            </a:r>
            <a:r>
              <a:rPr lang="en-US"/>
              <a:t> images and real world data.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Models so far have tried using a single </a:t>
            </a:r>
            <a:r>
              <a:rPr lang="en-US"/>
              <a:t>synthetic</a:t>
            </a:r>
            <a:r>
              <a:rPr lang="en-US"/>
              <a:t> dataset to train, which limited their generalization. Using multiple synthetic sources is a challenge due to labeling </a:t>
            </a:r>
            <a:r>
              <a:rPr lang="en-US"/>
              <a:t>mismatch.</a:t>
            </a:r>
            <a:r>
              <a:rPr lang="en-US"/>
              <a:t>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model proposed (DEC) uses </a:t>
            </a:r>
            <a:r>
              <a:rPr lang="en-US"/>
              <a:t>Ensemble learning and divides the label space from multiple datasets.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Related works on Ensemble Learning and UDA for semantic segmentation.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955f04a97_0_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2760">
                <a:solidFill>
                  <a:srgbClr val="434343"/>
                </a:solidFill>
              </a:rPr>
              <a:t>Divide, Ensemble and Conquer: The Last Mile on Unsupervised Domain Adaptation for Semantic Segmentation</a:t>
            </a:r>
            <a:endParaRPr b="1" sz="276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1860">
                <a:solidFill>
                  <a:srgbClr val="434343"/>
                </a:solidFill>
              </a:rPr>
              <a:t>Tao Lian, Jose L. G´omez, and Antonio M. L´opez. </a:t>
            </a:r>
            <a:r>
              <a:rPr b="1" lang="en-US" sz="1860">
                <a:solidFill>
                  <a:srgbClr val="434343"/>
                </a:solidFill>
              </a:rPr>
              <a:t>| June 2024</a:t>
            </a:r>
            <a:endParaRPr b="1" sz="1860">
              <a:solidFill>
                <a:srgbClr val="434343"/>
              </a:solidFill>
            </a:endParaRPr>
          </a:p>
        </p:txBody>
      </p:sp>
      <p:pic>
        <p:nvPicPr>
          <p:cNvPr id="283" name="Google Shape;283;g3a955f04a97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400" y="1690825"/>
            <a:ext cx="6248400" cy="441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g3a955f04a97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6200" y="1843225"/>
            <a:ext cx="5373400" cy="2233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955f04a97_0_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2760">
                <a:solidFill>
                  <a:srgbClr val="434343"/>
                </a:solidFill>
              </a:rPr>
              <a:t>Divide, Ensemble and Conquer: The Last Mile on Unsupervised Domain Adaptation for Semantic Segmentation</a:t>
            </a:r>
            <a:endParaRPr b="1" sz="276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1860">
                <a:solidFill>
                  <a:srgbClr val="434343"/>
                </a:solidFill>
              </a:rPr>
              <a:t>Tao Lian, Jose L. G´omez, and Antonio M. L´opez. </a:t>
            </a:r>
            <a:r>
              <a:rPr b="1" lang="en-US" sz="1860">
                <a:solidFill>
                  <a:srgbClr val="434343"/>
                </a:solidFill>
              </a:rPr>
              <a:t>| June 2024</a:t>
            </a:r>
            <a:endParaRPr b="1" sz="1860">
              <a:solidFill>
                <a:srgbClr val="434343"/>
              </a:solidFill>
            </a:endParaRPr>
          </a:p>
        </p:txBody>
      </p:sp>
      <p:sp>
        <p:nvSpPr>
          <p:cNvPr id="290" name="Google Shape;290;g3a955f04a97_0_2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Divide - take all the labels from other datasets, turn into one of 4 general labels using ‘category models’ that are trained on multiple datasets.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Ensemble - take the output from the category models and combine them into a segmentation mask. Important: never deals with RGB images, </a:t>
            </a:r>
            <a:r>
              <a:rPr lang="en-US"/>
              <a:t>only</a:t>
            </a:r>
            <a:r>
              <a:rPr lang="en-US"/>
              <a:t> category masks, helps with generalization.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Conquer - </a:t>
            </a:r>
            <a:r>
              <a:rPr lang="en-US"/>
              <a:t>apply the trained models to real world data.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Metrics: mloU (Mean Intersection over Union), loU. Measures the general and per class accuracy.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a9657769a9_0_0"/>
          <p:cNvSpPr txBox="1"/>
          <p:nvPr>
            <p:ph type="title"/>
          </p:nvPr>
        </p:nvSpPr>
        <p:spPr>
          <a:xfrm>
            <a:off x="540750" y="365150"/>
            <a:ext cx="11110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2760">
                <a:solidFill>
                  <a:srgbClr val="434343"/>
                </a:solidFill>
              </a:rPr>
              <a:t>Multi-Target Unsupervised Domain Adaptation for Semantic Segmentation without External Data</a:t>
            </a:r>
            <a:endParaRPr b="1" sz="276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1860">
                <a:solidFill>
                  <a:srgbClr val="434343"/>
                </a:solidFill>
              </a:rPr>
              <a:t>Yonghao Xu, Pedram Ghamisi, Yannis Avrithis. | May 2024</a:t>
            </a:r>
            <a:endParaRPr b="1" sz="1860">
              <a:solidFill>
                <a:srgbClr val="434343"/>
              </a:solidFill>
            </a:endParaRPr>
          </a:p>
        </p:txBody>
      </p:sp>
      <p:sp>
        <p:nvSpPr>
          <p:cNvPr id="296" name="Google Shape;296;g3a9657769a9_0_0"/>
          <p:cNvSpPr txBox="1"/>
          <p:nvPr>
            <p:ph idx="1" type="body"/>
          </p:nvPr>
        </p:nvSpPr>
        <p:spPr>
          <a:xfrm>
            <a:off x="457200" y="1799400"/>
            <a:ext cx="10874400" cy="27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 Challenge: Moving from a synthetic domain to a real one.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 Problem: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Manual tagging is very expensive,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Beyond synthetic-real images,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 domain gap hurts performance.</a:t>
            </a:r>
            <a:endParaRPr/>
          </a:p>
        </p:txBody>
      </p:sp>
      <p:pic>
        <p:nvPicPr>
          <p:cNvPr id="297" name="Google Shape;297;g3a9657769a9_0_0" title="semantic-shif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0100" y="3946118"/>
            <a:ext cx="7107177" cy="2611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a9657769a9_0_5"/>
          <p:cNvSpPr txBox="1"/>
          <p:nvPr>
            <p:ph type="title"/>
          </p:nvPr>
        </p:nvSpPr>
        <p:spPr>
          <a:xfrm>
            <a:off x="540750" y="365150"/>
            <a:ext cx="11110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2760">
                <a:solidFill>
                  <a:srgbClr val="434343"/>
                </a:solidFill>
              </a:rPr>
              <a:t>Multi-Target Unsupervised Domain Adaptation for Semantic Segmentation without External Data</a:t>
            </a:r>
            <a:endParaRPr b="1" sz="276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1860">
                <a:solidFill>
                  <a:srgbClr val="434343"/>
                </a:solidFill>
              </a:rPr>
              <a:t>Yonghao Xu, Pedram Ghamisi, Yannis Avrithis. </a:t>
            </a:r>
            <a:r>
              <a:rPr b="1" lang="en-US" sz="1860">
                <a:solidFill>
                  <a:srgbClr val="434343"/>
                </a:solidFill>
              </a:rPr>
              <a:t>| May 2024</a:t>
            </a:r>
            <a:endParaRPr b="1" sz="1860">
              <a:solidFill>
                <a:srgbClr val="434343"/>
              </a:solidFill>
            </a:endParaRPr>
          </a:p>
        </p:txBody>
      </p:sp>
      <p:sp>
        <p:nvSpPr>
          <p:cNvPr id="303" name="Google Shape;303;g3a9657769a9_0_5"/>
          <p:cNvSpPr txBox="1"/>
          <p:nvPr>
            <p:ph idx="1" type="body"/>
          </p:nvPr>
        </p:nvSpPr>
        <p:spPr>
          <a:xfrm>
            <a:off x="457200" y="17863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 Solution: Perform the DEC steps:</a:t>
            </a:r>
            <a:endParaRPr/>
          </a:p>
          <a:p>
            <a:pPr indent="0" lvl="0" marL="2514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Divide → Train → Ensemble → Conquer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4" name="Google Shape;304;g3a9657769a9_0_5"/>
          <p:cNvPicPr preferRelativeResize="0"/>
          <p:nvPr/>
        </p:nvPicPr>
        <p:blipFill rotWithShape="1">
          <a:blip r:embed="rId3">
            <a:alphaModFix/>
          </a:blip>
          <a:srcRect b="0" l="0" r="0" t="5222"/>
          <a:stretch/>
        </p:blipFill>
        <p:spPr>
          <a:xfrm>
            <a:off x="1047575" y="2795926"/>
            <a:ext cx="10096849" cy="386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9657769a9_0_12"/>
          <p:cNvSpPr txBox="1"/>
          <p:nvPr>
            <p:ph type="title"/>
          </p:nvPr>
        </p:nvSpPr>
        <p:spPr>
          <a:xfrm>
            <a:off x="540750" y="365150"/>
            <a:ext cx="11110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2760">
                <a:solidFill>
                  <a:srgbClr val="434343"/>
                </a:solidFill>
              </a:rPr>
              <a:t>Multi-Target Unsupervised Domain Adaptation for Semantic Segmentation without External Data</a:t>
            </a:r>
            <a:endParaRPr b="1" sz="276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1860">
                <a:solidFill>
                  <a:srgbClr val="434343"/>
                </a:solidFill>
              </a:rPr>
              <a:t>Yonghao Xu, Pedram Ghamisi, Yannis Avrithis. </a:t>
            </a:r>
            <a:r>
              <a:rPr b="1" lang="en-US" sz="1860">
                <a:solidFill>
                  <a:srgbClr val="434343"/>
                </a:solidFill>
              </a:rPr>
              <a:t>| May 2024</a:t>
            </a:r>
            <a:endParaRPr b="1" sz="1860">
              <a:solidFill>
                <a:srgbClr val="434343"/>
              </a:solidFill>
            </a:endParaRPr>
          </a:p>
        </p:txBody>
      </p:sp>
      <p:sp>
        <p:nvSpPr>
          <p:cNvPr id="310" name="Google Shape;310;g3a9657769a9_0_12"/>
          <p:cNvSpPr txBox="1"/>
          <p:nvPr>
            <p:ph idx="1" type="body"/>
          </p:nvPr>
        </p:nvSpPr>
        <p:spPr>
          <a:xfrm>
            <a:off x="457200" y="1825625"/>
            <a:ext cx="11110500" cy="20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Conclusions: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Working on different models (Cityscapes, BDD100K, Mapillary Vistas, etc.),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Approaching supervised performance,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Can integrate with existing UDA methods.</a:t>
            </a:r>
            <a:endParaRPr/>
          </a:p>
        </p:txBody>
      </p:sp>
      <p:sp>
        <p:nvSpPr>
          <p:cNvPr id="311" name="Google Shape;311;g3a9657769a9_0_12"/>
          <p:cNvSpPr txBox="1"/>
          <p:nvPr/>
        </p:nvSpPr>
        <p:spPr>
          <a:xfrm>
            <a:off x="1103850" y="4058450"/>
            <a:ext cx="99843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Because UT-KD does not rely on external data at adaptation time, it is much more scalable and privacy-friendly and yet it still recovers close to 100% of the mIoU performance that the full external-data method (MT-KD) achieves.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cabe04751_0_6"/>
          <p:cNvSpPr txBox="1"/>
          <p:nvPr>
            <p:ph type="title"/>
          </p:nvPr>
        </p:nvSpPr>
        <p:spPr>
          <a:xfrm>
            <a:off x="838200" y="45449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3B71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133B71"/>
                </a:solidFill>
              </a:rPr>
              <a:t>Methodology</a:t>
            </a:r>
            <a:endParaRPr b="1">
              <a:solidFill>
                <a:srgbClr val="133B7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acabe04751_0_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60">
                <a:solidFill>
                  <a:srgbClr val="434343"/>
                </a:solidFill>
              </a:rPr>
              <a:t>Model Selection</a:t>
            </a:r>
            <a:endParaRPr/>
          </a:p>
        </p:txBody>
      </p:sp>
      <p:sp>
        <p:nvSpPr>
          <p:cNvPr id="323" name="Google Shape;323;g3acabe04751_0_18"/>
          <p:cNvSpPr txBox="1"/>
          <p:nvPr>
            <p:ph idx="1" type="body"/>
          </p:nvPr>
        </p:nvSpPr>
        <p:spPr>
          <a:xfrm>
            <a:off x="838200" y="1825625"/>
            <a:ext cx="4973100" cy="3791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DAFormer (Hoyer et al., 2022)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64285"/>
              <a:buChar char="●"/>
            </a:pPr>
            <a:r>
              <a:rPr lang="en-US"/>
              <a:t>Transformer-based encoder with a simple decoder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5"/>
              <a:buChar char="●"/>
            </a:pPr>
            <a:r>
              <a:rPr lang="en-US"/>
              <a:t>Teacher–student training with pseudo labels on target images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5"/>
              <a:buChar char="●"/>
            </a:pPr>
            <a:r>
              <a:rPr lang="en-US"/>
              <a:t>Strong / weak data augmentation for more robust adaptation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5"/>
              <a:buChar char="●"/>
            </a:pPr>
            <a:r>
              <a:rPr lang="en-US"/>
              <a:t>Rare-class sampling to improve under-represented classes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5"/>
              <a:buChar char="●"/>
            </a:pPr>
            <a:r>
              <a:rPr lang="en-US"/>
              <a:t>Achieves high mIoU on GTA5 → Cityscapes benchmarks</a:t>
            </a:r>
            <a:endParaRPr/>
          </a:p>
        </p:txBody>
      </p:sp>
      <p:sp>
        <p:nvSpPr>
          <p:cNvPr id="324" name="Google Shape;324;g3acabe04751_0_18"/>
          <p:cNvSpPr txBox="1"/>
          <p:nvPr>
            <p:ph idx="1" type="body"/>
          </p:nvPr>
        </p:nvSpPr>
        <p:spPr>
          <a:xfrm>
            <a:off x="6123250" y="1825625"/>
            <a:ext cx="4878600" cy="3791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rPr b="1" lang="en-US" sz="2140"/>
              <a:t>Multi-Target UDA (Xu et al., 2024)</a:t>
            </a:r>
            <a:endParaRPr b="1" sz="2140"/>
          </a:p>
          <a:p>
            <a:pPr indent="-329565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590"/>
              <a:buChar char="●"/>
            </a:pPr>
            <a:r>
              <a:rPr lang="en-US" sz="2140"/>
              <a:t>One model adapted to multiple target domains</a:t>
            </a:r>
            <a:endParaRPr sz="2140"/>
          </a:p>
          <a:p>
            <a:pPr indent="-32956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90"/>
              <a:buChar char="●"/>
            </a:pPr>
            <a:r>
              <a:rPr lang="en-US" sz="2140"/>
              <a:t>Uses knowledge distillation from source + previous targets</a:t>
            </a:r>
            <a:endParaRPr sz="2140"/>
          </a:p>
          <a:p>
            <a:pPr indent="-32956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90"/>
              <a:buChar char="●"/>
            </a:pPr>
            <a:r>
              <a:rPr lang="en-US" sz="2140"/>
              <a:t>Can adapt to a new target using only its unlabeled data</a:t>
            </a:r>
            <a:endParaRPr sz="2140"/>
          </a:p>
          <a:p>
            <a:pPr indent="-32956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90"/>
              <a:buChar char="●"/>
            </a:pPr>
            <a:r>
              <a:rPr lang="en-US" sz="2140"/>
              <a:t>Designed to be scalable and privacy-friendly (no external data at test time)</a:t>
            </a:r>
            <a:endParaRPr sz="2140"/>
          </a:p>
          <a:p>
            <a:pPr indent="-32956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90"/>
              <a:buChar char="●"/>
            </a:pPr>
            <a:r>
              <a:rPr lang="en-US" sz="2140"/>
              <a:t>Reaches mIoU close to fully supervised performance on several datasets</a:t>
            </a:r>
            <a:endParaRPr sz="2140"/>
          </a:p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214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b="1" sz="214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cabe04751_0_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60">
                <a:solidFill>
                  <a:srgbClr val="434343"/>
                </a:solidFill>
              </a:rPr>
              <a:t>Datasets and Workflow</a:t>
            </a:r>
            <a:endParaRPr/>
          </a:p>
        </p:txBody>
      </p:sp>
      <p:graphicFrame>
        <p:nvGraphicFramePr>
          <p:cNvPr id="331" name="Google Shape;331;g3acabe04751_0_35"/>
          <p:cNvGraphicFramePr/>
          <p:nvPr/>
        </p:nvGraphicFramePr>
        <p:xfrm>
          <a:off x="656150" y="270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{9B281D4F-7814-41DC-AEF5-D366FE16D3E2}</a:tableStyleId>
              </a:tblPr>
              <a:tblGrid>
                <a:gridCol w="2899925"/>
                <a:gridCol w="2299925"/>
                <a:gridCol w="2959925"/>
                <a:gridCol w="27199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Step</a:t>
                      </a:r>
                      <a:endParaRPr b="1"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 b="1"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 (UDA)</a:t>
                      </a:r>
                      <a:endParaRPr b="1"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Evaluation</a:t>
                      </a:r>
                      <a:endParaRPr b="1"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Pretraining</a:t>
                      </a:r>
                      <a:endParaRPr b="1"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GTA5 (labeled)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Cityscapes (unlabeled)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Cityscapes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Second adaptation</a:t>
                      </a:r>
                      <a:endParaRPr b="1"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Cityscapes model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ACDC (unlabeled)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ACDC (per weather)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cabe04751_0_5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2700">
                <a:solidFill>
                  <a:srgbClr val="434343"/>
                </a:solidFill>
              </a:rPr>
              <a:t>Experiments</a:t>
            </a:r>
            <a:endParaRPr b="1" sz="2700">
              <a:solidFill>
                <a:srgbClr val="434343"/>
              </a:solidFill>
            </a:endParaRPr>
          </a:p>
        </p:txBody>
      </p:sp>
      <p:sp>
        <p:nvSpPr>
          <p:cNvPr id="337" name="Google Shape;337;g3acabe04751_0_58"/>
          <p:cNvSpPr txBox="1"/>
          <p:nvPr>
            <p:ph idx="1" type="body"/>
          </p:nvPr>
        </p:nvSpPr>
        <p:spPr>
          <a:xfrm>
            <a:off x="838200" y="1825625"/>
            <a:ext cx="4929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b="1" lang="en-US" sz="2300"/>
              <a:t>Trained DAFormer with UDA from GTA5 to Cityscapes: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300"/>
              <a:t>Source</a:t>
            </a:r>
            <a:r>
              <a:rPr lang="en-US" sz="2300"/>
              <a:t> </a:t>
            </a:r>
            <a:r>
              <a:rPr b="1" lang="en-US" sz="2300"/>
              <a:t>(labeled):</a:t>
            </a:r>
            <a:r>
              <a:rPr lang="en-US" sz="2300"/>
              <a:t> GTA5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300"/>
              <a:t>Target (unlabeled):</a:t>
            </a:r>
            <a:r>
              <a:rPr lang="en-US" sz="2300"/>
              <a:t> Cityscapes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b="1" lang="en-US" sz="2300"/>
              <a:t>Evaluate the adapted model on: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300"/>
              <a:t>Cityscapes validation set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300"/>
              <a:t>ACDC (overall and per weather condition)</a:t>
            </a:r>
            <a:endParaRPr sz="2300"/>
          </a:p>
        </p:txBody>
      </p:sp>
      <p:sp>
        <p:nvSpPr>
          <p:cNvPr id="338" name="Google Shape;338;g3acabe04751_0_58"/>
          <p:cNvSpPr txBox="1"/>
          <p:nvPr>
            <p:ph idx="1" type="body"/>
          </p:nvPr>
        </p:nvSpPr>
        <p:spPr>
          <a:xfrm>
            <a:off x="6485700" y="1825625"/>
            <a:ext cx="4929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Start from the UDA-trained GTA5 to Cityscapes model.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-US" sz="2300"/>
              <a:t>Perform a second UDA step using ACDC as target: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300"/>
              <a:t>Initialization</a:t>
            </a:r>
            <a:r>
              <a:rPr lang="en-US" sz="2300"/>
              <a:t>: Cityscapes-adapted model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300"/>
              <a:t>Target (unlabeled):</a:t>
            </a:r>
            <a:r>
              <a:rPr lang="en-US" sz="2300"/>
              <a:t> ACDC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339" name="Google Shape;339;g3acabe04751_0_58"/>
          <p:cNvSpPr/>
          <p:nvPr/>
        </p:nvSpPr>
        <p:spPr>
          <a:xfrm>
            <a:off x="5441700" y="3052050"/>
            <a:ext cx="1044000" cy="753900"/>
          </a:xfrm>
          <a:prstGeom prst="rightArrow">
            <a:avLst>
              <a:gd fmla="val 50385" name="adj1"/>
              <a:gd fmla="val 9139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acabe04751_0_6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2700">
                <a:solidFill>
                  <a:srgbClr val="434343"/>
                </a:solidFill>
              </a:rPr>
              <a:t>Evaluation</a:t>
            </a:r>
            <a:endParaRPr b="1" sz="2700">
              <a:solidFill>
                <a:srgbClr val="434343"/>
              </a:solidFill>
            </a:endParaRPr>
          </a:p>
        </p:txBody>
      </p:sp>
      <p:sp>
        <p:nvSpPr>
          <p:cNvPr id="345" name="Google Shape;345;g3acabe04751_0_68"/>
          <p:cNvSpPr txBox="1"/>
          <p:nvPr>
            <p:ph idx="1" type="body"/>
          </p:nvPr>
        </p:nvSpPr>
        <p:spPr>
          <a:xfrm>
            <a:off x="838200" y="1825625"/>
            <a:ext cx="10033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Evaluate on ACDC using its ground-truth labels.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Here we focus on ACDC per weather condition:</a:t>
            </a:r>
            <a:endParaRPr sz="230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300"/>
              <a:t>ACDC subsets: </a:t>
            </a:r>
            <a:r>
              <a:rPr lang="en-US" sz="2300"/>
              <a:t>each weather condition is a separate subfolder containing its own images and ground-truth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graphicFrame>
        <p:nvGraphicFramePr>
          <p:cNvPr id="346" name="Google Shape;346;g3acabe04751_0_68"/>
          <p:cNvGraphicFramePr/>
          <p:nvPr/>
        </p:nvGraphicFramePr>
        <p:xfrm>
          <a:off x="1661938" y="3820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{9B281D4F-7814-41DC-AEF5-D366FE16D3E2}</a:tableStyleId>
              </a:tblPr>
              <a:tblGrid>
                <a:gridCol w="930075"/>
                <a:gridCol w="4198050"/>
                <a:gridCol w="30295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Subset</a:t>
                      </a:r>
                      <a:endParaRPr b="1"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b="1"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 Challenge</a:t>
                      </a:r>
                      <a:endParaRPr b="1"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fog</a:t>
                      </a:r>
                      <a:endParaRPr b="1"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Images with reduced visibility and contrast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hard to distinguish far objects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b="1"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 streaks and reflections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noisy textures, glare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snow</a:t>
                      </a:r>
                      <a:endParaRPr b="1"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White / overexposed scenes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 color contrast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night</a:t>
                      </a:r>
                      <a:endParaRPr b="1"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Low-light or artificial illumination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poor object visibility, noise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acabe04751_0_8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2700">
                <a:solidFill>
                  <a:srgbClr val="434343"/>
                </a:solidFill>
              </a:rPr>
              <a:t>Evaluation</a:t>
            </a:r>
            <a:endParaRPr b="1" sz="2700">
              <a:solidFill>
                <a:srgbClr val="434343"/>
              </a:solidFill>
            </a:endParaRPr>
          </a:p>
        </p:txBody>
      </p:sp>
      <p:sp>
        <p:nvSpPr>
          <p:cNvPr id="352" name="Google Shape;352;g3acabe04751_0_88"/>
          <p:cNvSpPr txBox="1"/>
          <p:nvPr>
            <p:ph idx="1" type="body"/>
          </p:nvPr>
        </p:nvSpPr>
        <p:spPr>
          <a:xfrm>
            <a:off x="838200" y="1825625"/>
            <a:ext cx="10033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300"/>
              <a:t>Compute mIoU for each subset for all three models: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Source-only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One-step UDA (GTA5→Cityscapes)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Two-step UDA (GTA5→Cityscapes→ACDC)</a:t>
            </a:r>
            <a:endParaRPr b="1" sz="26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353" name="Google Shape;353;g3acabe04751_0_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10" y="4083050"/>
            <a:ext cx="4528350" cy="209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g3acabe04751_0_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41941" y="3451000"/>
            <a:ext cx="2676525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g3acabe04751_0_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41766" y="3492157"/>
            <a:ext cx="1400175" cy="296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acabe04751_0_7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2700">
                <a:solidFill>
                  <a:srgbClr val="434343"/>
                </a:solidFill>
              </a:rPr>
              <a:t>Research Question</a:t>
            </a:r>
            <a:endParaRPr b="1" sz="2700">
              <a:solidFill>
                <a:srgbClr val="434343"/>
              </a:solidFill>
            </a:endParaRPr>
          </a:p>
        </p:txBody>
      </p:sp>
      <p:sp>
        <p:nvSpPr>
          <p:cNvPr id="361" name="Google Shape;361;g3acabe04751_0_77"/>
          <p:cNvSpPr txBox="1"/>
          <p:nvPr>
            <p:ph idx="1" type="body"/>
          </p:nvPr>
        </p:nvSpPr>
        <p:spPr>
          <a:xfrm>
            <a:off x="838200" y="1825625"/>
            <a:ext cx="10033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300"/>
              <a:t>This allows us to answer: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600"/>
              <a:t>Which weather conditions are hardest for UDA, and how much does the second adaptation step to ACDC help?</a:t>
            </a:r>
            <a:endParaRPr b="1" sz="26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acabe04751_0_9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2700">
                <a:solidFill>
                  <a:srgbClr val="434343"/>
                </a:solidFill>
              </a:rPr>
              <a:t>Related Work</a:t>
            </a:r>
            <a:endParaRPr b="1" sz="2700">
              <a:solidFill>
                <a:srgbClr val="434343"/>
              </a:solidFill>
            </a:endParaRPr>
          </a:p>
        </p:txBody>
      </p:sp>
      <p:sp>
        <p:nvSpPr>
          <p:cNvPr id="367" name="Google Shape;367;g3acabe04751_0_94"/>
          <p:cNvSpPr txBox="1"/>
          <p:nvPr>
            <p:ph idx="1" type="body"/>
          </p:nvPr>
        </p:nvSpPr>
        <p:spPr>
          <a:xfrm>
            <a:off x="838200" y="1825625"/>
            <a:ext cx="10033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300"/>
              <a:t>What existing works do: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b="1" lang="en-US" sz="2300"/>
              <a:t>CISS, CoDA, ControlUDA, etc.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300"/>
              <a:t>Mostly do </a:t>
            </a:r>
            <a:r>
              <a:rPr b="1" lang="en-US" sz="2300"/>
              <a:t>one step</a:t>
            </a:r>
            <a:r>
              <a:rPr lang="en-US" sz="2300"/>
              <a:t> UDA from Cityscapes directly to ACDC (normal to adverse).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b="1" lang="en-US" sz="2300"/>
              <a:t>Yang et al. (AAAI 2024)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300"/>
              <a:t>Do sequential </a:t>
            </a:r>
            <a:r>
              <a:rPr b="1" lang="en-US" sz="2300"/>
              <a:t>multi-target UDA</a:t>
            </a:r>
            <a:r>
              <a:rPr lang="en-US" sz="2300"/>
              <a:t>, but always with Cityscapes as the original labeled source and ACDC splits (night, rain, fog, snow) as sequential targets.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300"/>
              <a:t>They study how to avoid forgetting when adapting across multiple ACDC weathers.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300"/>
              <a:t>They don’t start from a synthetic to Cityscapes UDA model.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300"/>
              <a:t>There’s no explicit “second adaptation step to ACDC after synthetic to Cityscapes”.</a:t>
            </a:r>
            <a:endParaRPr b="1" sz="23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acabe04751_0_10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2700">
                <a:solidFill>
                  <a:srgbClr val="434343"/>
                </a:solidFill>
              </a:rPr>
              <a:t>Related Work</a:t>
            </a:r>
            <a:endParaRPr b="1" sz="2700">
              <a:solidFill>
                <a:srgbClr val="434343"/>
              </a:solidFill>
            </a:endParaRPr>
          </a:p>
        </p:txBody>
      </p:sp>
      <p:sp>
        <p:nvSpPr>
          <p:cNvPr id="373" name="Google Shape;373;g3acabe04751_0_105"/>
          <p:cNvSpPr txBox="1"/>
          <p:nvPr>
            <p:ph idx="1" type="body"/>
          </p:nvPr>
        </p:nvSpPr>
        <p:spPr>
          <a:xfrm>
            <a:off x="838200" y="1811125"/>
            <a:ext cx="10033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ACDC dataset introduces four adverse conditions – fog, rain, snow, night – and shows a </a:t>
            </a:r>
            <a:r>
              <a:rPr b="1" lang="en-US" sz="2300"/>
              <a:t>strong drop in segmentation accuracy</a:t>
            </a:r>
            <a:r>
              <a:rPr lang="en-US" sz="2300"/>
              <a:t> under these conditions compared to normal weather.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Recent UDA methods (Cityscapes to ACDC) report per-weather mIoU and consistently find that night and dense fog are the hardest conditions, while rain and snow are easier.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-US" sz="2300"/>
              <a:t>Multi-target</a:t>
            </a:r>
            <a:r>
              <a:rPr lang="en-US" sz="2300"/>
              <a:t> / </a:t>
            </a:r>
            <a:r>
              <a:rPr b="1" lang="en-US" sz="2300"/>
              <a:t>sequential UDA</a:t>
            </a:r>
            <a:r>
              <a:rPr lang="en-US" sz="2300"/>
              <a:t> approaches adapt a model across several ACDC weather domains and study forgetting and knowledge retention when moving from one weather condition to another.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-US" sz="2300"/>
              <a:t>Forgetting and knowledge retention</a:t>
            </a:r>
            <a:r>
              <a:rPr lang="en-US" sz="2300"/>
              <a:t> refer to how much a model loses or preserves its performance on earlier weather conditions after being further adapted to new ones.</a:t>
            </a:r>
            <a:endParaRPr sz="23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acabe04751_0_10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2700">
                <a:solidFill>
                  <a:srgbClr val="434343"/>
                </a:solidFill>
              </a:rPr>
              <a:t>Our </a:t>
            </a:r>
            <a:r>
              <a:rPr b="1" lang="en-US" sz="2700">
                <a:solidFill>
                  <a:srgbClr val="434343"/>
                </a:solidFill>
              </a:rPr>
              <a:t>Work</a:t>
            </a:r>
            <a:endParaRPr b="1" sz="2700">
              <a:solidFill>
                <a:srgbClr val="434343"/>
              </a:solidFill>
            </a:endParaRPr>
          </a:p>
        </p:txBody>
      </p:sp>
      <p:sp>
        <p:nvSpPr>
          <p:cNvPr id="379" name="Google Shape;379;g3acabe04751_0_100"/>
          <p:cNvSpPr txBox="1"/>
          <p:nvPr>
            <p:ph idx="1" type="body"/>
          </p:nvPr>
        </p:nvSpPr>
        <p:spPr>
          <a:xfrm>
            <a:off x="838200" y="1825625"/>
            <a:ext cx="10033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Starts from a synthetic to Cityscapes UDA model (matching the standard DAFormer setup).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Adds a second UDA stage to ACDC and compares performance per weather before vs after this stage.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300"/>
              <a:t>Focuses on: 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How much extra benefit do we get from adapting a Cityscapes-UDA model to ACDC?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Which ACDC conditions remain the hardest even after this second step?</a:t>
            </a:r>
            <a:endParaRPr sz="23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Papers</a:t>
            </a:r>
            <a:endParaRPr/>
          </a:p>
        </p:txBody>
      </p:sp>
      <p:sp>
        <p:nvSpPr>
          <p:cNvPr id="385" name="Google Shape;385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https://openaccess.thecvf.com/content_CVPRW_2019/papers/WAD/Biasetton_Unsupervised_Domain_Adaptation_for_Semantic_Segmentation_of_Urban_Scenes_CVPRW_2019_paper.pdf?utm_source=chatgpt.com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https://arxiv.org/pdf/2111.14887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https://ieeexplore.ieee.org/stamp/stamp.jsp?arnumber=10973315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>
                <a:solidFill>
                  <a:schemeClr val="hlink"/>
                </a:solidFill>
                <a:hlinkClick r:id="rId6"/>
              </a:rPr>
              <a:t>https://arxiv.org/pdf/2406.18809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>
                <a:solidFill>
                  <a:schemeClr val="hlink"/>
                </a:solidFill>
                <a:hlinkClick r:id="rId7"/>
              </a:rPr>
              <a:t>https://arxiv.org/pdf/2307.09676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>
                <a:solidFill>
                  <a:schemeClr val="hlink"/>
                </a:solidFill>
                <a:hlinkClick r:id="rId8"/>
              </a:rPr>
              <a:t>https://repositorio.unesp.br/server/api/core/bitstreams/46f72f98-aaec-4b99-aca9-fcf55790fda2/content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>
                <a:solidFill>
                  <a:schemeClr val="hlink"/>
                </a:solidFill>
                <a:hlinkClick r:id="rId9"/>
              </a:rPr>
              <a:t>https://arxiv.org/pdf/2405.06502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>
                <a:solidFill>
                  <a:schemeClr val="hlink"/>
                </a:solidFill>
                <a:hlinkClick r:id="rId10"/>
              </a:rPr>
              <a:t>https://ieeexplore.ieee.org/stamp/stamp.jsp?arnumber=10839383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a4bc63804a_0_52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3B71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133B71"/>
                </a:solidFill>
              </a:rPr>
              <a:t>Thank you for listening</a:t>
            </a:r>
            <a:endParaRPr b="1">
              <a:solidFill>
                <a:srgbClr val="133B71"/>
              </a:solidFill>
            </a:endParaRPr>
          </a:p>
        </p:txBody>
      </p:sp>
      <p:sp>
        <p:nvSpPr>
          <p:cNvPr id="391" name="Google Shape;391;g3a4bc63804a_0_52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Questions?</a:t>
            </a:r>
            <a:endParaRPr/>
          </a:p>
        </p:txBody>
      </p:sp>
      <p:sp>
        <p:nvSpPr>
          <p:cNvPr id="392" name="Google Shape;392;g3a4bc63804a_0_52"/>
          <p:cNvSpPr/>
          <p:nvPr/>
        </p:nvSpPr>
        <p:spPr>
          <a:xfrm>
            <a:off x="9980991" y="6229"/>
            <a:ext cx="1372055" cy="6844425"/>
          </a:xfrm>
          <a:custGeom>
            <a:rect b="b" l="l" r="r" t="t"/>
            <a:pathLst>
              <a:path extrusionOk="0" h="13688850" w="2102766">
                <a:moveTo>
                  <a:pt x="1032801" y="13205436"/>
                </a:moveTo>
                <a:lnTo>
                  <a:pt x="1097456" y="13205436"/>
                </a:lnTo>
                <a:lnTo>
                  <a:pt x="1097456" y="13688850"/>
                </a:lnTo>
                <a:lnTo>
                  <a:pt x="1032801" y="13688850"/>
                </a:lnTo>
                <a:close/>
                <a:moveTo>
                  <a:pt x="1032801" y="12190016"/>
                </a:moveTo>
                <a:lnTo>
                  <a:pt x="1097456" y="12190016"/>
                </a:lnTo>
                <a:lnTo>
                  <a:pt x="1097456" y="12698349"/>
                </a:lnTo>
                <a:lnTo>
                  <a:pt x="1032801" y="12698349"/>
                </a:lnTo>
                <a:close/>
                <a:moveTo>
                  <a:pt x="1032801" y="11173351"/>
                </a:moveTo>
                <a:lnTo>
                  <a:pt x="1097456" y="11173351"/>
                </a:lnTo>
                <a:lnTo>
                  <a:pt x="1097456" y="11681684"/>
                </a:lnTo>
                <a:lnTo>
                  <a:pt x="1032801" y="11681684"/>
                </a:lnTo>
                <a:close/>
                <a:moveTo>
                  <a:pt x="1032801" y="10157932"/>
                </a:moveTo>
                <a:lnTo>
                  <a:pt x="1097456" y="10157932"/>
                </a:lnTo>
                <a:lnTo>
                  <a:pt x="1097456" y="10666264"/>
                </a:lnTo>
                <a:lnTo>
                  <a:pt x="1032801" y="10666264"/>
                </a:lnTo>
                <a:close/>
                <a:moveTo>
                  <a:pt x="1032801" y="9142512"/>
                </a:moveTo>
                <a:lnTo>
                  <a:pt x="1097456" y="9142512"/>
                </a:lnTo>
                <a:lnTo>
                  <a:pt x="1097456" y="9649599"/>
                </a:lnTo>
                <a:lnTo>
                  <a:pt x="1032801" y="9649599"/>
                </a:lnTo>
                <a:close/>
                <a:moveTo>
                  <a:pt x="1032801" y="8125847"/>
                </a:moveTo>
                <a:lnTo>
                  <a:pt x="1097456" y="8125847"/>
                </a:lnTo>
                <a:lnTo>
                  <a:pt x="1097456" y="8634180"/>
                </a:lnTo>
                <a:lnTo>
                  <a:pt x="1032801" y="8634180"/>
                </a:lnTo>
                <a:close/>
                <a:moveTo>
                  <a:pt x="1032801" y="7110428"/>
                </a:moveTo>
                <a:lnTo>
                  <a:pt x="1097456" y="7110428"/>
                </a:lnTo>
                <a:lnTo>
                  <a:pt x="1097456" y="7618760"/>
                </a:lnTo>
                <a:lnTo>
                  <a:pt x="1032801" y="7618760"/>
                </a:lnTo>
                <a:close/>
                <a:moveTo>
                  <a:pt x="1032801" y="6096255"/>
                </a:moveTo>
                <a:lnTo>
                  <a:pt x="1097456" y="6096255"/>
                </a:lnTo>
                <a:lnTo>
                  <a:pt x="1097456" y="6603341"/>
                </a:lnTo>
                <a:lnTo>
                  <a:pt x="1032801" y="6603341"/>
                </a:lnTo>
                <a:close/>
                <a:moveTo>
                  <a:pt x="1032801" y="5079589"/>
                </a:moveTo>
                <a:lnTo>
                  <a:pt x="1097456" y="5079589"/>
                </a:lnTo>
                <a:lnTo>
                  <a:pt x="1097456" y="5587922"/>
                </a:lnTo>
                <a:lnTo>
                  <a:pt x="1032801" y="5587922"/>
                </a:lnTo>
                <a:close/>
                <a:moveTo>
                  <a:pt x="1032801" y="4064170"/>
                </a:moveTo>
                <a:lnTo>
                  <a:pt x="1097456" y="4064170"/>
                </a:lnTo>
                <a:lnTo>
                  <a:pt x="1097456" y="4572502"/>
                </a:lnTo>
                <a:lnTo>
                  <a:pt x="1032801" y="4572502"/>
                </a:lnTo>
                <a:close/>
                <a:moveTo>
                  <a:pt x="1032801" y="3048751"/>
                </a:moveTo>
                <a:lnTo>
                  <a:pt x="1097456" y="3048751"/>
                </a:lnTo>
                <a:lnTo>
                  <a:pt x="1097456" y="3555837"/>
                </a:lnTo>
                <a:lnTo>
                  <a:pt x="1032801" y="3555837"/>
                </a:lnTo>
                <a:close/>
                <a:moveTo>
                  <a:pt x="1032801" y="2032085"/>
                </a:moveTo>
                <a:lnTo>
                  <a:pt x="1097456" y="2032085"/>
                </a:lnTo>
                <a:lnTo>
                  <a:pt x="1097456" y="2540418"/>
                </a:lnTo>
                <a:lnTo>
                  <a:pt x="1032801" y="2540418"/>
                </a:lnTo>
                <a:close/>
                <a:moveTo>
                  <a:pt x="1032801" y="1016666"/>
                </a:moveTo>
                <a:lnTo>
                  <a:pt x="1097456" y="1016666"/>
                </a:lnTo>
                <a:lnTo>
                  <a:pt x="1097456" y="1523752"/>
                </a:lnTo>
                <a:lnTo>
                  <a:pt x="1032801" y="1523752"/>
                </a:lnTo>
                <a:close/>
                <a:moveTo>
                  <a:pt x="1032801" y="0"/>
                </a:moveTo>
                <a:lnTo>
                  <a:pt x="1097456" y="0"/>
                </a:lnTo>
                <a:lnTo>
                  <a:pt x="1097456" y="508333"/>
                </a:lnTo>
                <a:lnTo>
                  <a:pt x="1032801" y="508333"/>
                </a:lnTo>
                <a:close/>
                <a:moveTo>
                  <a:pt x="0" y="0"/>
                </a:moveTo>
                <a:lnTo>
                  <a:pt x="64655" y="0"/>
                </a:lnTo>
                <a:lnTo>
                  <a:pt x="64655" y="13688850"/>
                </a:lnTo>
                <a:lnTo>
                  <a:pt x="0" y="13688850"/>
                </a:lnTo>
                <a:close/>
                <a:moveTo>
                  <a:pt x="2038135" y="0"/>
                </a:moveTo>
                <a:lnTo>
                  <a:pt x="2102766" y="0"/>
                </a:lnTo>
                <a:lnTo>
                  <a:pt x="2102766" y="13688850"/>
                </a:lnTo>
                <a:lnTo>
                  <a:pt x="2038135" y="136888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7F7F7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grpSp>
        <p:nvGrpSpPr>
          <p:cNvPr id="393" name="Google Shape;393;g3a4bc63804a_0_52"/>
          <p:cNvGrpSpPr/>
          <p:nvPr/>
        </p:nvGrpSpPr>
        <p:grpSpPr>
          <a:xfrm rot="-5400000">
            <a:off x="5341123" y="-155153"/>
            <a:ext cx="1500287" cy="12220033"/>
            <a:chOff x="457190" y="735"/>
            <a:chExt cx="954077" cy="5142029"/>
          </a:xfrm>
        </p:grpSpPr>
        <p:sp>
          <p:nvSpPr>
            <p:cNvPr id="394" name="Google Shape;394;g3a4bc63804a_0_52"/>
            <p:cNvSpPr/>
            <p:nvPr/>
          </p:nvSpPr>
          <p:spPr>
            <a:xfrm>
              <a:off x="457190" y="735"/>
              <a:ext cx="954077" cy="5142029"/>
            </a:xfrm>
            <a:custGeom>
              <a:rect b="b" l="l" r="r" t="t"/>
              <a:pathLst>
                <a:path extrusionOk="0" h="11008" w="2040">
                  <a:moveTo>
                    <a:pt x="0" y="0"/>
                  </a:moveTo>
                  <a:lnTo>
                    <a:pt x="2039" y="0"/>
                  </a:lnTo>
                  <a:lnTo>
                    <a:pt x="2039" y="11007"/>
                  </a:lnTo>
                  <a:lnTo>
                    <a:pt x="0" y="11007"/>
                  </a:lnTo>
                  <a:lnTo>
                    <a:pt x="0" y="0"/>
                  </a:lnTo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7F7F7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95" name="Google Shape;395;g3a4bc63804a_0_52"/>
            <p:cNvSpPr/>
            <p:nvPr/>
          </p:nvSpPr>
          <p:spPr>
            <a:xfrm>
              <a:off x="539614" y="4855"/>
              <a:ext cx="788537" cy="5133319"/>
            </a:xfrm>
            <a:custGeom>
              <a:rect b="b" l="l" r="r" t="t"/>
              <a:pathLst>
                <a:path extrusionOk="0" h="13688850" w="2102766">
                  <a:moveTo>
                    <a:pt x="1032801" y="13205436"/>
                  </a:moveTo>
                  <a:lnTo>
                    <a:pt x="1097456" y="13205436"/>
                  </a:lnTo>
                  <a:lnTo>
                    <a:pt x="1097456" y="13688850"/>
                  </a:lnTo>
                  <a:lnTo>
                    <a:pt x="1032801" y="13688850"/>
                  </a:lnTo>
                  <a:close/>
                  <a:moveTo>
                    <a:pt x="1032801" y="12190016"/>
                  </a:moveTo>
                  <a:lnTo>
                    <a:pt x="1097456" y="12190016"/>
                  </a:lnTo>
                  <a:lnTo>
                    <a:pt x="1097456" y="12698349"/>
                  </a:lnTo>
                  <a:lnTo>
                    <a:pt x="1032801" y="12698349"/>
                  </a:lnTo>
                  <a:close/>
                  <a:moveTo>
                    <a:pt x="1032801" y="11173351"/>
                  </a:moveTo>
                  <a:lnTo>
                    <a:pt x="1097456" y="11173351"/>
                  </a:lnTo>
                  <a:lnTo>
                    <a:pt x="1097456" y="11681684"/>
                  </a:lnTo>
                  <a:lnTo>
                    <a:pt x="1032801" y="11681684"/>
                  </a:lnTo>
                  <a:close/>
                  <a:moveTo>
                    <a:pt x="1032801" y="10157932"/>
                  </a:moveTo>
                  <a:lnTo>
                    <a:pt x="1097456" y="10157932"/>
                  </a:lnTo>
                  <a:lnTo>
                    <a:pt x="1097456" y="10666264"/>
                  </a:lnTo>
                  <a:lnTo>
                    <a:pt x="1032801" y="10666264"/>
                  </a:lnTo>
                  <a:close/>
                  <a:moveTo>
                    <a:pt x="1032801" y="9142512"/>
                  </a:moveTo>
                  <a:lnTo>
                    <a:pt x="1097456" y="9142512"/>
                  </a:lnTo>
                  <a:lnTo>
                    <a:pt x="1097456" y="9649599"/>
                  </a:lnTo>
                  <a:lnTo>
                    <a:pt x="1032801" y="9649599"/>
                  </a:lnTo>
                  <a:close/>
                  <a:moveTo>
                    <a:pt x="1032801" y="8125847"/>
                  </a:moveTo>
                  <a:lnTo>
                    <a:pt x="1097456" y="8125847"/>
                  </a:lnTo>
                  <a:lnTo>
                    <a:pt x="1097456" y="8634180"/>
                  </a:lnTo>
                  <a:lnTo>
                    <a:pt x="1032801" y="8634180"/>
                  </a:lnTo>
                  <a:close/>
                  <a:moveTo>
                    <a:pt x="1032801" y="7110428"/>
                  </a:moveTo>
                  <a:lnTo>
                    <a:pt x="1097456" y="7110428"/>
                  </a:lnTo>
                  <a:lnTo>
                    <a:pt x="1097456" y="7618760"/>
                  </a:lnTo>
                  <a:lnTo>
                    <a:pt x="1032801" y="7618760"/>
                  </a:lnTo>
                  <a:close/>
                  <a:moveTo>
                    <a:pt x="1032801" y="6096255"/>
                  </a:moveTo>
                  <a:lnTo>
                    <a:pt x="1097456" y="6096255"/>
                  </a:lnTo>
                  <a:lnTo>
                    <a:pt x="1097456" y="6603341"/>
                  </a:lnTo>
                  <a:lnTo>
                    <a:pt x="1032801" y="6603341"/>
                  </a:lnTo>
                  <a:close/>
                  <a:moveTo>
                    <a:pt x="1032801" y="5079589"/>
                  </a:moveTo>
                  <a:lnTo>
                    <a:pt x="1097456" y="5079589"/>
                  </a:lnTo>
                  <a:lnTo>
                    <a:pt x="1097456" y="5587922"/>
                  </a:lnTo>
                  <a:lnTo>
                    <a:pt x="1032801" y="5587922"/>
                  </a:lnTo>
                  <a:close/>
                  <a:moveTo>
                    <a:pt x="1032801" y="4064170"/>
                  </a:moveTo>
                  <a:lnTo>
                    <a:pt x="1097456" y="4064170"/>
                  </a:lnTo>
                  <a:lnTo>
                    <a:pt x="1097456" y="4572502"/>
                  </a:lnTo>
                  <a:lnTo>
                    <a:pt x="1032801" y="4572502"/>
                  </a:lnTo>
                  <a:close/>
                  <a:moveTo>
                    <a:pt x="1032801" y="3048751"/>
                  </a:moveTo>
                  <a:lnTo>
                    <a:pt x="1097456" y="3048751"/>
                  </a:lnTo>
                  <a:lnTo>
                    <a:pt x="1097456" y="3555837"/>
                  </a:lnTo>
                  <a:lnTo>
                    <a:pt x="1032801" y="3555837"/>
                  </a:lnTo>
                  <a:close/>
                  <a:moveTo>
                    <a:pt x="1032801" y="2032085"/>
                  </a:moveTo>
                  <a:lnTo>
                    <a:pt x="1097456" y="2032085"/>
                  </a:lnTo>
                  <a:lnTo>
                    <a:pt x="1097456" y="2540418"/>
                  </a:lnTo>
                  <a:lnTo>
                    <a:pt x="1032801" y="2540418"/>
                  </a:lnTo>
                  <a:close/>
                  <a:moveTo>
                    <a:pt x="1032801" y="1016666"/>
                  </a:moveTo>
                  <a:lnTo>
                    <a:pt x="1097456" y="1016666"/>
                  </a:lnTo>
                  <a:lnTo>
                    <a:pt x="1097456" y="1523752"/>
                  </a:lnTo>
                  <a:lnTo>
                    <a:pt x="1032801" y="1523752"/>
                  </a:lnTo>
                  <a:close/>
                  <a:moveTo>
                    <a:pt x="1032801" y="0"/>
                  </a:moveTo>
                  <a:lnTo>
                    <a:pt x="1097456" y="0"/>
                  </a:lnTo>
                  <a:lnTo>
                    <a:pt x="1097456" y="508333"/>
                  </a:lnTo>
                  <a:lnTo>
                    <a:pt x="1032801" y="508333"/>
                  </a:lnTo>
                  <a:close/>
                  <a:moveTo>
                    <a:pt x="0" y="0"/>
                  </a:moveTo>
                  <a:lnTo>
                    <a:pt x="64655" y="0"/>
                  </a:lnTo>
                  <a:lnTo>
                    <a:pt x="64655" y="13688850"/>
                  </a:lnTo>
                  <a:lnTo>
                    <a:pt x="0" y="13688850"/>
                  </a:lnTo>
                  <a:close/>
                  <a:moveTo>
                    <a:pt x="2038135" y="0"/>
                  </a:moveTo>
                  <a:lnTo>
                    <a:pt x="2102766" y="0"/>
                  </a:lnTo>
                  <a:lnTo>
                    <a:pt x="2102766" y="13688850"/>
                  </a:lnTo>
                  <a:lnTo>
                    <a:pt x="2038135" y="136888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7F7F7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929292"/>
      </a:dk2>
      <a:lt2>
        <a:srgbClr val="E0E0E0"/>
      </a:lt2>
      <a:accent1>
        <a:srgbClr val="83A5CE"/>
      </a:accent1>
      <a:accent2>
        <a:srgbClr val="4A81CE"/>
      </a:accent2>
      <a:accent3>
        <a:srgbClr val="1A4F97"/>
      </a:accent3>
      <a:accent4>
        <a:srgbClr val="8F87C0"/>
      </a:accent4>
      <a:accent5>
        <a:srgbClr val="7752C9"/>
      </a:accent5>
      <a:accent6>
        <a:srgbClr val="33116D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2025-11-11T18:19:03Z</dcterms:created>
  <dc:creator>Gal Benita</dc:creator>
</cp:coreProperties>
</file>