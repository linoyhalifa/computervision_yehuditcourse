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Century Gothic Paneuropean Bold" charset="1" panose="020B0702020202020204"/>
      <p:regular r:id="rId37"/>
    </p:embeddedFont>
    <p:embeddedFont>
      <p:font typeface="Century Gothic Paneuropean" charset="1" panose="020B0502020202020204"/>
      <p:regular r:id="rId38"/>
    </p:embeddedFont>
    <p:embeddedFont>
      <p:font typeface="Open Sans Bold" charset="1" panose="020B0806030504020204"/>
      <p:regular r:id="rId39"/>
    </p:embeddedFont>
    <p:embeddedFont>
      <p:font typeface="Arimo Bold" charset="1" panose="020B0704020202020204"/>
      <p:regular r:id="rId40"/>
    </p:embeddedFont>
    <p:embeddedFont>
      <p:font typeface="Open Sans" charset="1" panose="020B0606030504020204"/>
      <p:regular r:id="rId41"/>
    </p:embeddedFont>
    <p:embeddedFont>
      <p:font typeface="Arimo" charset="1" panose="020B0604020202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huggingface.co/stable-diffusion-v1-5/stable-diffusion-v1-5" TargetMode="External" Type="http://schemas.openxmlformats.org/officeDocument/2006/relationships/hyperlink"/><Relationship Id="rId5" Target="https://huggingface.co/stabilityai/stable-diffusion-xl-base-1.0" TargetMode="External" Type="http://schemas.openxmlformats.org/officeDocument/2006/relationships/hyperlink"/><Relationship Id="rId6" Target="https://huggingface.co/kandinsky-community/kandinsky-2-2-decoder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huggingface.co/stable-diffusion-v1-5/stable-diffusion-v1-5" TargetMode="External" Type="http://schemas.openxmlformats.org/officeDocument/2006/relationships/hyperlink"/><Relationship Id="rId11" Target="https://huggingface.co/stabilityai/stable-diffusion-xl-base-1.0" TargetMode="External" Type="http://schemas.openxmlformats.org/officeDocument/2006/relationships/hyperlink"/><Relationship Id="rId12" Target="https://huggingface.co/stabilityai/stable-diffusion-xl-base-1.0" TargetMode="External" Type="http://schemas.openxmlformats.org/officeDocument/2006/relationships/hyperlink"/><Relationship Id="rId13" Target="https://huggingface.co/kandinsky-community/kandinsky-2-2-decoder" TargetMode="External" Type="http://schemas.openxmlformats.org/officeDocument/2006/relationships/hyperlink"/><Relationship Id="rId14" Target="https://huggingface.co/kandinsky-community/kandinsky-2-2-decoder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huggingface.co/stable-diffusion-v1-5/stable-diffusion-v1-5" TargetMode="External" Type="http://schemas.openxmlformats.org/officeDocument/2006/relationships/hyperlink"/><Relationship Id="rId5" Target="https://huggingface.co/stabilityai/stable-diffusion-xl-base-1.0" TargetMode="External" Type="http://schemas.openxmlformats.org/officeDocument/2006/relationships/hyperlink"/><Relationship Id="rId6" Target="https://huggingface.co/stabilityai/stable-diffusion-xl-base-1.0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https://huggingface.co/stable-diffusion-v1-5/stable-diffusion-v1-5" TargetMode="External" Type="http://schemas.openxmlformats.org/officeDocument/2006/relationships/hyperlink"/><Relationship Id="rId16" Target="https://huggingface.co/stable-diffusion-v1-5/stable-diffusion-v1-5" TargetMode="External" Type="http://schemas.openxmlformats.org/officeDocument/2006/relationships/hyperlink"/><Relationship Id="rId17" Target="https://huggingface.co/stabilityai/stable-diffusion-xl-base-1.0" TargetMode="External" Type="http://schemas.openxmlformats.org/officeDocument/2006/relationships/hyperlink"/><Relationship Id="rId18" Target="https://huggingface.co/stabilityai/stable-diffusion-xl-base-1.0" TargetMode="External" Type="http://schemas.openxmlformats.org/officeDocument/2006/relationships/hyperlink"/><Relationship Id="rId19" Target="https://huggingface.co/stabilityai/stable-diffusion-xl-base-1.0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8942" y="2663615"/>
            <a:ext cx="14980001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FALL DETECTION - METHODLOGY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67867" y="6583730"/>
            <a:ext cx="8522150" cy="215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Eden Amram and Ziv Shamli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46590" y="1413294"/>
            <a:ext cx="10194820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</a:t>
            </a: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GY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6614" y="3059873"/>
            <a:ext cx="12454772" cy="604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study consists of two main phases:</a:t>
            </a:r>
          </a:p>
          <a:p>
            <a:pPr algn="l">
              <a:lnSpc>
                <a:spcPts val="3976"/>
              </a:lnSpc>
            </a:pP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Phase 1- Evaluation of generative models &amp; synthetic data creation</a:t>
            </a:r>
          </a:p>
          <a:p>
            <a:pPr algn="l" marL="1226433" indent="-408811" lvl="2">
              <a:lnSpc>
                <a:spcPts val="3976"/>
              </a:lnSpc>
              <a:buFont typeface="Arial"/>
              <a:buChar char="⚬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Evaluate generative models for producing realistic images of public spaces.</a:t>
            </a:r>
          </a:p>
          <a:p>
            <a:pPr algn="l" marL="1226433" indent="-408811" lvl="2">
              <a:lnSpc>
                <a:spcPts val="3976"/>
              </a:lnSpc>
              <a:buFont typeface="Arial"/>
              <a:buChar char="⚬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Create synthetic fall data using the best-performing models for the fall-detection stage.</a:t>
            </a:r>
          </a:p>
          <a:p>
            <a:pPr algn="l">
              <a:lnSpc>
                <a:spcPts val="3976"/>
              </a:lnSpc>
            </a:pPr>
          </a:p>
          <a:p>
            <a:pPr algn="l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Phase 2 - Real-time fall detection with LBFD-Net :</a:t>
            </a:r>
          </a:p>
          <a:p>
            <a:pPr algn="l" marL="1226433" indent="-408811" lvl="2">
              <a:lnSpc>
                <a:spcPts val="3976"/>
              </a:lnSpc>
              <a:buFont typeface="Arial"/>
              <a:buChar char="⚬"/>
            </a:pPr>
            <a:r>
              <a:rPr lang="en-US" sz="28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Assess the contribution of the synthetic data to improving detection accuracy and generalization to new environments.</a:t>
            </a:r>
          </a:p>
          <a:p>
            <a:pPr algn="l">
              <a:lnSpc>
                <a:spcPts val="397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87109" y="1413294"/>
            <a:ext cx="15972191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PHASE 1: EVALUATIN</a:t>
            </a: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 GENERATIVE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3037548"/>
            <a:ext cx="13339640" cy="477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Two comparison tracks:</a:t>
            </a:r>
          </a:p>
          <a:p>
            <a:pPr algn="l">
              <a:lnSpc>
                <a:spcPts val="4258"/>
              </a:lnSpc>
            </a:pP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Track A - Text-to-Image models</a:t>
            </a:r>
          </a:p>
          <a:p>
            <a:pPr algn="l">
              <a:lnSpc>
                <a:spcPts val="4258"/>
              </a:lnSpc>
            </a:pP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Track B - Image-to-Image (img2img) models</a:t>
            </a:r>
          </a:p>
          <a:p>
            <a:pPr algn="l">
              <a:lnSpc>
                <a:spcPts val="4258"/>
              </a:lnSpc>
            </a:pPr>
          </a:p>
          <a:p>
            <a:pPr algn="l">
              <a:lnSpc>
                <a:spcPts val="4258"/>
              </a:lnSpc>
            </a:pPr>
            <a:r>
              <a:rPr lang="en-US" sz="3042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Purpose: Identify the most realistic and stable models for public-space image generation.</a:t>
            </a:r>
          </a:p>
          <a:p>
            <a:pPr algn="l">
              <a:lnSpc>
                <a:spcPts val="425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45146"/>
            <a:ext cx="15972191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TRACK A: T</a:t>
            </a: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EXT-TO-IMAGE SETUP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3037548"/>
            <a:ext cx="13339640" cy="637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042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Public-Space Fall Generation</a:t>
            </a:r>
          </a:p>
          <a:p>
            <a:pPr algn="l">
              <a:lnSpc>
                <a:spcPts val="4258"/>
              </a:lnSpc>
            </a:pPr>
          </a:p>
          <a:p>
            <a:pPr algn="l">
              <a:lnSpc>
                <a:spcPts val="4258"/>
              </a:lnSpc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Track A, each generative model produced:</a:t>
            </a: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 images</a:t>
            </a: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Based on the same textual description of a fall event occurring in a public space</a:t>
            </a:r>
          </a:p>
          <a:p>
            <a:pPr algn="l">
              <a:lnSpc>
                <a:spcPts val="4258"/>
              </a:lnSpc>
            </a:pPr>
          </a:p>
          <a:p>
            <a:pPr algn="l">
              <a:lnSpc>
                <a:spcPts val="4258"/>
              </a:lnSpc>
            </a:pPr>
            <a:r>
              <a:rPr lang="en-US" sz="3042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Objective:</a:t>
            </a: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Evaluate the ability of text-to-image models to generate physically coherent and structurally consistent fall scenarios suitable for synthetic dataset creation.</a:t>
            </a:r>
          </a:p>
          <a:p>
            <a:pPr algn="l">
              <a:lnSpc>
                <a:spcPts val="425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45146"/>
            <a:ext cx="15972191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TRACK A: EVALUA</a:t>
            </a: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TION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3037548"/>
            <a:ext cx="13339640" cy="477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</a:p>
          <a:p>
            <a:pPr algn="l">
              <a:lnSpc>
                <a:spcPts val="4258"/>
              </a:lnSpc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</a:t>
            </a: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enerated images were evaluated using a combination of:</a:t>
            </a:r>
          </a:p>
          <a:p>
            <a:pPr algn="l">
              <a:lnSpc>
                <a:spcPts val="4258"/>
              </a:lnSpc>
            </a:pP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b="true" sz="304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Physical consistency metrics (primary focus)</a:t>
            </a:r>
          </a:p>
          <a:p>
            <a:pPr algn="l" marL="656784" indent="-328392" lvl="1">
              <a:lnSpc>
                <a:spcPts val="4258"/>
              </a:lnSpc>
              <a:buFont typeface="Arial"/>
              <a:buChar char="•"/>
            </a:pPr>
            <a:r>
              <a:rPr lang="en-US" b="true" sz="304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</a:t>
            </a:r>
            <a:r>
              <a:rPr lang="en-US" b="true" sz="304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erceptual quality metrics (secondary focus)</a:t>
            </a:r>
          </a:p>
          <a:p>
            <a:pPr algn="l">
              <a:lnSpc>
                <a:spcPts val="4258"/>
              </a:lnSpc>
            </a:pPr>
          </a:p>
          <a:p>
            <a:pPr algn="l">
              <a:lnSpc>
                <a:spcPts val="4258"/>
              </a:lnSpc>
            </a:pPr>
            <a:r>
              <a:rPr lang="en-US" sz="304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prioritization reflects the importance of physical realism when synthetic data is intended for training fall detection models.</a:t>
            </a:r>
          </a:p>
          <a:p>
            <a:pPr algn="l">
              <a:lnSpc>
                <a:spcPts val="425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45146"/>
            <a:ext cx="15972191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 A: PHYSICAL ME</a:t>
            </a:r>
            <a:r>
              <a:rPr lang="en-US" b="true" sz="52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TRICS (HIGH PRIORITY)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3047073"/>
            <a:ext cx="13339640" cy="56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</a:t>
            </a:r>
            <a:r>
              <a:rPr lang="en-US" sz="2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 following physics-based metrics were used: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Depth Consistency</a:t>
            </a:r>
            <a:r>
              <a:rPr lang="en-US" sz="2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Measures spatial coherence of scene depth, ensuring correct relative positioning of the human body, background, and surrounding objects.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Shading Consistency</a:t>
            </a:r>
            <a:r>
              <a:rPr lang="en-US" sz="2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Evaluates alignment of shadows with scene lighting, including direction, intensity, and placement. Detects inconsistencies such as shadows that do not match body pose or light source.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Surface Normals Consistency (Normals)</a:t>
            </a:r>
            <a:r>
              <a:rPr lang="en-US" sz="2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Assesses the consistency of surface orientations, ensuring geometrically plausible objects and human figures without distortions.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 A: PERCEPTUAL ME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TRICS (SECONDARY PRIORITY)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3599022"/>
            <a:ext cx="13339640" cy="4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Reference-Free Quality Assessment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After physical consistency evaluation, images were further assessed using:</a:t>
            </a:r>
          </a:p>
          <a:p>
            <a:pPr algn="l">
              <a:lnSpc>
                <a:spcPts val="4199"/>
              </a:lnSpc>
            </a:pP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NIQE </a:t>
            </a:r>
            <a:r>
              <a:rPr lang="en-US" sz="2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Naturalness based on statistical image properties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BRISQUE </a:t>
            </a:r>
            <a:r>
              <a:rPr lang="en-US" sz="2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Local spatial distortion and image quality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 Score</a:t>
            </a:r>
            <a:r>
              <a:rPr lang="en-US" sz="2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Aesthetic quality and visual composition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 A: EVALUA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TION HIERARCHY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2388314"/>
            <a:ext cx="13339640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Metric Prioritization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Physical consistency metrics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Depth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Shading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Normals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NIQE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BRISQUE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 Score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Rationale: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Physical and structural fidelity is critical for reliable fall detection training data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Perceptual and aesthetic quality is considered only after physical plausibility is ensured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 B: IMAGE-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TO-IMAGE SETUP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4180" y="2388314"/>
            <a:ext cx="13339640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Reference-Guided Generation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Track B: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model generated </a:t>
            </a:r>
            <a:r>
              <a:rPr lang="en-US" b="true" sz="2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10 images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Based on</a:t>
            </a:r>
            <a:r>
              <a:rPr lang="en-US" b="true" sz="2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reference</a:t>
            </a: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images depicting a person falling or not falling in public spaces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Evaluate realism and physical consistency when models are guided by visual input.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LIMITA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TIONS OF REFERENCE-BASED 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4293" y="2397839"/>
            <a:ext cx="14029527" cy="665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Why PSNR, SSIM, and KID Were Excluded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Although commonly used, reference-based metrics such as: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PSNR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SSIM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KID</a:t>
            </a:r>
          </a:p>
          <a:p>
            <a:pPr algn="l">
              <a:lnSpc>
                <a:spcPts val="4122"/>
              </a:lnSpc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were not suitable for this task.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Reason: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Generated images introduce new and significant scene content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Low scores reflect legitimate variation, not poor quality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These metrics penalize diversity rather than rewarding realism</a:t>
            </a:r>
          </a:p>
          <a:p>
            <a:pPr algn="l">
              <a:lnSpc>
                <a:spcPts val="412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B: PHYSICAL METRICS (HIGH PRIORITY)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4293" y="2397839"/>
            <a:ext cx="14029527" cy="665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Physics-Based Realism Evaluation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same physics-aware metrics were prioritized:</a:t>
            </a:r>
          </a:p>
          <a:p>
            <a:pPr algn="l">
              <a:lnSpc>
                <a:spcPts val="4122"/>
              </a:lnSpc>
            </a:pP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b="true" sz="294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Depth Consistency</a:t>
            </a: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-Ensures logical 3D integration of body pose, fall dynamics, and scene layout.</a:t>
            </a:r>
          </a:p>
          <a:p>
            <a:pPr algn="l">
              <a:lnSpc>
                <a:spcPts val="4122"/>
              </a:lnSpc>
            </a:pP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b="true" sz="294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Shading Consistency</a:t>
            </a: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Validates correct interaction between lighting and geometry.</a:t>
            </a:r>
          </a:p>
          <a:p>
            <a:pPr algn="l">
              <a:lnSpc>
                <a:spcPts val="4122"/>
              </a:lnSpc>
            </a:pP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b="true" sz="294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Surface Normals Consistency (Normals)</a:t>
            </a: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Confirms geometric plausibility and absence of structural distortions.</a:t>
            </a:r>
          </a:p>
          <a:p>
            <a:pPr algn="l">
              <a:lnSpc>
                <a:spcPts val="412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B: SECONDARY PERCEPTUAL METRIC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9236" y="3501829"/>
            <a:ext cx="14029527" cy="305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Overall Visual Quality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b="true" sz="294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NIQE</a:t>
            </a: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 Used as a reference-free perceptual metric to ensure generated images maintain natural image statistics.</a:t>
            </a:r>
          </a:p>
          <a:p>
            <a:pPr algn="l">
              <a:lnSpc>
                <a:spcPts val="412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7904" y="1154671"/>
            <a:ext cx="15972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TRACK</a:t>
            </a:r>
            <a:r>
              <a:rPr lang="en-US" b="true" sz="4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B: EVALUATION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9236" y="3037548"/>
            <a:ext cx="14029527" cy="563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Design Principles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evaluation framework: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Emphasizes realism and physical plausibility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Avoids misleading reference-based fidelity metrics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Maintains perceptual quality without sacrificing structural correctness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Outcome:</a:t>
            </a:r>
          </a:p>
          <a:p>
            <a:pPr algn="l" marL="635787" indent="-317894" lvl="1">
              <a:lnSpc>
                <a:spcPts val="4122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Provides a reliable basis for selecting generative models suitable for Image-to-Image fall detection dataset generation.</a:t>
            </a:r>
          </a:p>
          <a:p>
            <a:pPr algn="l">
              <a:lnSpc>
                <a:spcPts val="412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105529" y="805410"/>
          <a:ext cx="13540009" cy="8676179"/>
        </p:xfrm>
        <a:graphic>
          <a:graphicData uri="http://schemas.openxmlformats.org/drawingml/2006/table">
            <a:tbl>
              <a:tblPr/>
              <a:tblGrid>
                <a:gridCol w="2354304"/>
                <a:gridCol w="1814421"/>
                <a:gridCol w="1887378"/>
                <a:gridCol w="1916561"/>
                <a:gridCol w="1478818"/>
                <a:gridCol w="1960335"/>
                <a:gridCol w="2128192"/>
              </a:tblGrid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↓NIQE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↓BRISQUE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Normals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Shading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Depth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↑MA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4" tooltip="https://huggingface.co/stable-diffusion-v1-5/stable-diffusion-v1-5"/>
                        </a:rPr>
                        <a:t>Stable Diffusion v1.5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3.271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17.474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5.862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Stable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Diffusion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3.824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33.675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0.0298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5.864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5" tooltip="https://huggingface.co/stabilityai/stable-diffusion-xl-base-1.0"/>
                        </a:rPr>
                        <a:t>Stable Diffusion XL</a:t>
                      </a: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3.764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15.504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5.789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6" tooltip="https://huggingface.co/kandinsky-community/kandinsky-2-2-decoder"/>
                        </a:rPr>
                        <a:t>Kandinsky 2.2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4.495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36.117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6.094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0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Nano Banana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2.686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22.225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0.514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5.778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21456" y="346115"/>
            <a:ext cx="7923573" cy="9362084"/>
            <a:chOff x="0" y="0"/>
            <a:chExt cx="10564765" cy="124827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70484" y="910113"/>
              <a:ext cx="3251669" cy="3251669"/>
            </a:xfrm>
            <a:custGeom>
              <a:avLst/>
              <a:gdLst/>
              <a:ahLst/>
              <a:cxnLst/>
              <a:rect r="r" b="b" t="t" l="l"/>
              <a:pathLst>
                <a:path h="3251669" w="3251669">
                  <a:moveTo>
                    <a:pt x="0" y="0"/>
                  </a:moveTo>
                  <a:lnTo>
                    <a:pt x="3251669" y="0"/>
                  </a:lnTo>
                  <a:lnTo>
                    <a:pt x="3251669" y="3251670"/>
                  </a:lnTo>
                  <a:lnTo>
                    <a:pt x="0" y="3251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177292" y="910113"/>
              <a:ext cx="3387473" cy="3387473"/>
            </a:xfrm>
            <a:custGeom>
              <a:avLst/>
              <a:gdLst/>
              <a:ahLst/>
              <a:cxnLst/>
              <a:rect r="r" b="b" t="t" l="l"/>
              <a:pathLst>
                <a:path h="3387473" w="3387473">
                  <a:moveTo>
                    <a:pt x="0" y="0"/>
                  </a:moveTo>
                  <a:lnTo>
                    <a:pt x="3387473" y="0"/>
                  </a:lnTo>
                  <a:lnTo>
                    <a:pt x="3387473" y="3387473"/>
                  </a:lnTo>
                  <a:lnTo>
                    <a:pt x="0" y="3387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5438281"/>
              <a:ext cx="3098339" cy="3098339"/>
            </a:xfrm>
            <a:custGeom>
              <a:avLst/>
              <a:gdLst/>
              <a:ahLst/>
              <a:cxnLst/>
              <a:rect r="r" b="b" t="t" l="l"/>
              <a:pathLst>
                <a:path h="3098339" w="3098339">
                  <a:moveTo>
                    <a:pt x="0" y="0"/>
                  </a:moveTo>
                  <a:lnTo>
                    <a:pt x="3098339" y="0"/>
                  </a:lnTo>
                  <a:lnTo>
                    <a:pt x="3098339" y="3098339"/>
                  </a:lnTo>
                  <a:lnTo>
                    <a:pt x="0" y="309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177292" y="5289110"/>
              <a:ext cx="3247510" cy="3247510"/>
            </a:xfrm>
            <a:custGeom>
              <a:avLst/>
              <a:gdLst/>
              <a:ahLst/>
              <a:cxnLst/>
              <a:rect r="r" b="b" t="t" l="l"/>
              <a:pathLst>
                <a:path h="3247510" w="3247510">
                  <a:moveTo>
                    <a:pt x="0" y="0"/>
                  </a:moveTo>
                  <a:lnTo>
                    <a:pt x="3247510" y="0"/>
                  </a:lnTo>
                  <a:lnTo>
                    <a:pt x="3247510" y="3247510"/>
                  </a:lnTo>
                  <a:lnTo>
                    <a:pt x="0" y="3247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9250511"/>
              <a:ext cx="3232269" cy="3232269"/>
            </a:xfrm>
            <a:custGeom>
              <a:avLst/>
              <a:gdLst/>
              <a:ahLst/>
              <a:cxnLst/>
              <a:rect r="r" b="b" t="t" l="l"/>
              <a:pathLst>
                <a:path h="3232269" w="3232269">
                  <a:moveTo>
                    <a:pt x="0" y="0"/>
                  </a:moveTo>
                  <a:lnTo>
                    <a:pt x="3232269" y="0"/>
                  </a:lnTo>
                  <a:lnTo>
                    <a:pt x="3232269" y="3232268"/>
                  </a:lnTo>
                  <a:lnTo>
                    <a:pt x="0" y="323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184913" y="9250511"/>
              <a:ext cx="3232269" cy="3232269"/>
            </a:xfrm>
            <a:custGeom>
              <a:avLst/>
              <a:gdLst/>
              <a:ahLst/>
              <a:cxnLst/>
              <a:rect r="r" b="b" t="t" l="l"/>
              <a:pathLst>
                <a:path h="3232269" w="3232269">
                  <a:moveTo>
                    <a:pt x="0" y="0"/>
                  </a:moveTo>
                  <a:lnTo>
                    <a:pt x="3232268" y="0"/>
                  </a:lnTo>
                  <a:lnTo>
                    <a:pt x="3232268" y="3232268"/>
                  </a:lnTo>
                  <a:lnTo>
                    <a:pt x="0" y="323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3816158" y="-38100"/>
              <a:ext cx="336113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659"/>
                </a:lnSpc>
                <a:spcBef>
                  <a:spcPct val="0"/>
                </a:spcBef>
              </a:pPr>
              <a:r>
                <a:rPr lang="ar-EG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rtl val="true"/>
                </a:rPr>
                <a:t> </a:t>
              </a: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0" tooltip="https://huggingface.co/stable-diffusion-v1-5/stable-diffusion-v1-5"/>
                </a:rPr>
                <a:t>Stable Diffusion v1.5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6158" y="4724068"/>
              <a:ext cx="3199209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659"/>
                </a:lnSpc>
                <a:spcBef>
                  <a:spcPct val="0"/>
                </a:spcBef>
              </a:pPr>
              <a:r>
                <a:rPr lang="ar-EG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rtl val="true"/>
                </a:rPr>
                <a:t> </a:t>
              </a: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1" tooltip="https://huggingface.co/stabilityai/stable-diffusion-xl-base-1.0"/>
                </a:rPr>
                <a:t>Stable Diffusion XL</a:t>
              </a:r>
              <a:r>
                <a:rPr lang="ar-EG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2" tooltip="https://huggingface.co/stabilityai/stable-diffusion-xl-base-1.0"/>
                  <a:rtl val="true"/>
                </a:rPr>
                <a:t>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816158" y="8677053"/>
              <a:ext cx="221734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3" tooltip="https://huggingface.co/kandinsky-community/kandinsky-2-2-decoder"/>
                </a:rPr>
                <a:t>K</a:t>
              </a: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4" tooltip="https://huggingface.co/kandinsky-community/kandinsky-2-2-decoder"/>
                </a:rPr>
                <a:t>andinsky 2.2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492060" y="5851574"/>
            <a:ext cx="5800372" cy="3161203"/>
          </a:xfrm>
          <a:custGeom>
            <a:avLst/>
            <a:gdLst/>
            <a:ahLst/>
            <a:cxnLst/>
            <a:rect r="r" b="b" t="t" l="l"/>
            <a:pathLst>
              <a:path h="3161203" w="5800372">
                <a:moveTo>
                  <a:pt x="0" y="0"/>
                </a:moveTo>
                <a:lnTo>
                  <a:pt x="5800373" y="0"/>
                </a:lnTo>
                <a:lnTo>
                  <a:pt x="5800373" y="3161203"/>
                </a:lnTo>
                <a:lnTo>
                  <a:pt x="0" y="3161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44650" y="5851574"/>
            <a:ext cx="6051290" cy="3297953"/>
          </a:xfrm>
          <a:custGeom>
            <a:avLst/>
            <a:gdLst/>
            <a:ahLst/>
            <a:cxnLst/>
            <a:rect r="r" b="b" t="t" l="l"/>
            <a:pathLst>
              <a:path h="3297953" w="6051290">
                <a:moveTo>
                  <a:pt x="0" y="0"/>
                </a:moveTo>
                <a:lnTo>
                  <a:pt x="6051290" y="0"/>
                </a:lnTo>
                <a:lnTo>
                  <a:pt x="6051290" y="3297953"/>
                </a:lnTo>
                <a:lnTo>
                  <a:pt x="0" y="3297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44460" y="6003974"/>
            <a:ext cx="5800372" cy="3161203"/>
          </a:xfrm>
          <a:custGeom>
            <a:avLst/>
            <a:gdLst/>
            <a:ahLst/>
            <a:cxnLst/>
            <a:rect r="r" b="b" t="t" l="l"/>
            <a:pathLst>
              <a:path h="3161203" w="5800372">
                <a:moveTo>
                  <a:pt x="0" y="0"/>
                </a:moveTo>
                <a:lnTo>
                  <a:pt x="5800373" y="0"/>
                </a:lnTo>
                <a:lnTo>
                  <a:pt x="5800373" y="3161203"/>
                </a:lnTo>
                <a:lnTo>
                  <a:pt x="0" y="3161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97050" y="6003974"/>
            <a:ext cx="6051290" cy="3297953"/>
          </a:xfrm>
          <a:custGeom>
            <a:avLst/>
            <a:gdLst/>
            <a:ahLst/>
            <a:cxnLst/>
            <a:rect r="r" b="b" t="t" l="l"/>
            <a:pathLst>
              <a:path h="3297953" w="6051290">
                <a:moveTo>
                  <a:pt x="0" y="0"/>
                </a:moveTo>
                <a:lnTo>
                  <a:pt x="6051290" y="0"/>
                </a:lnTo>
                <a:lnTo>
                  <a:pt x="6051290" y="3297953"/>
                </a:lnTo>
                <a:lnTo>
                  <a:pt x="0" y="3297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73109" y="4862448"/>
            <a:ext cx="252085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Nano Banana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441059" y="488672"/>
            <a:ext cx="11052677" cy="3731999"/>
            <a:chOff x="0" y="0"/>
            <a:chExt cx="14736903" cy="49759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80153"/>
              <a:ext cx="4595845" cy="4595845"/>
            </a:xfrm>
            <a:custGeom>
              <a:avLst/>
              <a:gdLst/>
              <a:ahLst/>
              <a:cxnLst/>
              <a:rect r="r" b="b" t="t" l="l"/>
              <a:pathLst>
                <a:path h="4595845" w="4595845">
                  <a:moveTo>
                    <a:pt x="0" y="0"/>
                  </a:moveTo>
                  <a:lnTo>
                    <a:pt x="4595845" y="0"/>
                  </a:lnTo>
                  <a:lnTo>
                    <a:pt x="4595845" y="4595845"/>
                  </a:lnTo>
                  <a:lnTo>
                    <a:pt x="0" y="4595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141058" y="380153"/>
              <a:ext cx="4595845" cy="4595845"/>
            </a:xfrm>
            <a:custGeom>
              <a:avLst/>
              <a:gdLst/>
              <a:ahLst/>
              <a:cxnLst/>
              <a:rect r="r" b="b" t="t" l="l"/>
              <a:pathLst>
                <a:path h="4595845" w="4595845">
                  <a:moveTo>
                    <a:pt x="0" y="0"/>
                  </a:moveTo>
                  <a:lnTo>
                    <a:pt x="4595845" y="0"/>
                  </a:lnTo>
                  <a:lnTo>
                    <a:pt x="4595845" y="4595845"/>
                  </a:lnTo>
                  <a:lnTo>
                    <a:pt x="0" y="4595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763390" y="-38100"/>
              <a:ext cx="336113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Stable Diffusion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1651164" y="5880871"/>
            <a:ext cx="391093" cy="322076"/>
            <a:chOff x="0" y="0"/>
            <a:chExt cx="6477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08615" y="1668403"/>
            <a:ext cx="1407077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</a:t>
            </a: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RACK B: IMAGE-TO-IMAGE (IMG2IMG)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20727" y="3156843"/>
            <a:ext cx="12026612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model generates 10 images based on one reference image.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379362" y="4967455"/>
            <a:ext cx="12026612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Images are evaluated without a reference using: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KID - Kernel Inception Distance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PSNR - Signal-to-noise fidelity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SSIM - Structural similarity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20727" y="8016597"/>
            <a:ext cx="13416107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</a:t>
            </a:r>
            <a:r>
              <a:rPr lang="en-US" b="true" sz="3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best-performing models</a:t>
            </a: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are selected for the next phase.</a:t>
            </a:r>
          </a:p>
        </p:txBody>
      </p:sp>
      <p:grpSp>
        <p:nvGrpSpPr>
          <p:cNvPr name="Group 20" id="20"/>
          <p:cNvGrpSpPr/>
          <p:nvPr/>
        </p:nvGrpSpPr>
        <p:grpSpPr>
          <a:xfrm rot="5400000">
            <a:off x="11072960" y="6386119"/>
            <a:ext cx="391093" cy="322076"/>
            <a:chOff x="0" y="0"/>
            <a:chExt cx="6477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3253639" y="857657"/>
          <a:ext cx="11780723" cy="8394896"/>
        </p:xfrm>
        <a:graphic>
          <a:graphicData uri="http://schemas.openxmlformats.org/drawingml/2006/table">
            <a:tbl>
              <a:tblPr/>
              <a:tblGrid>
                <a:gridCol w="2934503"/>
                <a:gridCol w="2261570"/>
                <a:gridCol w="2352507"/>
                <a:gridCol w="2388882"/>
                <a:gridCol w="1843261"/>
              </a:tblGrid>
              <a:tr h="11104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↓NIQE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Normals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Shading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Depth 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01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b="true" sz="2299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4" tooltip="https://huggingface.co/stable-diffusion-v1-5/stable-diffusion-v1-5"/>
                        </a:rPr>
                        <a:t>Stable Diffusion v1.5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2.372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0.479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</a:t>
                      </a:r>
                      <a:r>
                        <a:rPr lang="en-US" b="true" sz="2299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5" tooltip="https://huggingface.co/stabilityai/stable-diffusion-xl-base-1.0"/>
                        </a:rPr>
                        <a:t>Stable Diffusion XL</a:t>
                      </a: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+ VAE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6.431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Masked </a:t>
                      </a:r>
                      <a:r>
                        <a:rPr lang="en-US" b="true" sz="2299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  <a:hlinkClick r:id="rId6" tooltip="https://huggingface.co/stabilityai/stable-diffusion-xl-base-1.0"/>
                        </a:rPr>
                        <a:t>Stable Diffusion XL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5.903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ChatGPT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4.945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Nano Banana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2.536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 0.491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inpaint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3.158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0.031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0.497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0.363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33406" y="2023530"/>
            <a:ext cx="15654091" cy="6068796"/>
            <a:chOff x="0" y="0"/>
            <a:chExt cx="20872121" cy="8091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895366" y="714915"/>
              <a:ext cx="2921525" cy="2921525"/>
            </a:xfrm>
            <a:custGeom>
              <a:avLst/>
              <a:gdLst/>
              <a:ahLst/>
              <a:cxnLst/>
              <a:rect r="r" b="b" t="t" l="l"/>
              <a:pathLst>
                <a:path h="2921525" w="2921525">
                  <a:moveTo>
                    <a:pt x="0" y="0"/>
                  </a:moveTo>
                  <a:lnTo>
                    <a:pt x="2921525" y="0"/>
                  </a:lnTo>
                  <a:lnTo>
                    <a:pt x="2921525" y="2921525"/>
                  </a:lnTo>
                  <a:lnTo>
                    <a:pt x="0" y="2921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714915"/>
              <a:ext cx="3895366" cy="2921525"/>
            </a:xfrm>
            <a:custGeom>
              <a:avLst/>
              <a:gdLst/>
              <a:ahLst/>
              <a:cxnLst/>
              <a:rect r="r" b="b" t="t" l="l"/>
              <a:pathLst>
                <a:path h="2921525" w="3895366">
                  <a:moveTo>
                    <a:pt x="0" y="0"/>
                  </a:moveTo>
                  <a:lnTo>
                    <a:pt x="3895366" y="0"/>
                  </a:lnTo>
                  <a:lnTo>
                    <a:pt x="3895366" y="2921525"/>
                  </a:lnTo>
                  <a:lnTo>
                    <a:pt x="0" y="2921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811980" y="714915"/>
              <a:ext cx="2935479" cy="2935479"/>
            </a:xfrm>
            <a:custGeom>
              <a:avLst/>
              <a:gdLst/>
              <a:ahLst/>
              <a:cxnLst/>
              <a:rect r="r" b="b" t="t" l="l"/>
              <a:pathLst>
                <a:path h="2935479" w="2935479">
                  <a:moveTo>
                    <a:pt x="0" y="0"/>
                  </a:moveTo>
                  <a:lnTo>
                    <a:pt x="2935479" y="0"/>
                  </a:lnTo>
                  <a:lnTo>
                    <a:pt x="2935479" y="2935479"/>
                  </a:lnTo>
                  <a:lnTo>
                    <a:pt x="0" y="2935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955398" y="728870"/>
              <a:ext cx="3072906" cy="2921525"/>
            </a:xfrm>
            <a:custGeom>
              <a:avLst/>
              <a:gdLst/>
              <a:ahLst/>
              <a:cxnLst/>
              <a:rect r="r" b="b" t="t" l="l"/>
              <a:pathLst>
                <a:path h="2921525" w="3072906">
                  <a:moveTo>
                    <a:pt x="0" y="0"/>
                  </a:moveTo>
                  <a:lnTo>
                    <a:pt x="3072906" y="0"/>
                  </a:lnTo>
                  <a:lnTo>
                    <a:pt x="3072906" y="2921524"/>
                  </a:lnTo>
                  <a:lnTo>
                    <a:pt x="0" y="2921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90" r="0" b="-259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747459" y="978339"/>
              <a:ext cx="3207939" cy="2644133"/>
            </a:xfrm>
            <a:custGeom>
              <a:avLst/>
              <a:gdLst/>
              <a:ahLst/>
              <a:cxnLst/>
              <a:rect r="r" b="b" t="t" l="l"/>
              <a:pathLst>
                <a:path h="2644133" w="3207939">
                  <a:moveTo>
                    <a:pt x="0" y="0"/>
                  </a:moveTo>
                  <a:lnTo>
                    <a:pt x="3207939" y="0"/>
                  </a:lnTo>
                  <a:lnTo>
                    <a:pt x="3207939" y="2644132"/>
                  </a:lnTo>
                  <a:lnTo>
                    <a:pt x="0" y="264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899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028304" y="742824"/>
              <a:ext cx="4364083" cy="2907570"/>
            </a:xfrm>
            <a:custGeom>
              <a:avLst/>
              <a:gdLst/>
              <a:ahLst/>
              <a:cxnLst/>
              <a:rect r="r" b="b" t="t" l="l"/>
              <a:pathLst>
                <a:path h="2907570" w="4364083">
                  <a:moveTo>
                    <a:pt x="0" y="0"/>
                  </a:moveTo>
                  <a:lnTo>
                    <a:pt x="4364083" y="0"/>
                  </a:lnTo>
                  <a:lnTo>
                    <a:pt x="4364083" y="2907570"/>
                  </a:lnTo>
                  <a:lnTo>
                    <a:pt x="0" y="2907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904042"/>
              <a:ext cx="3895366" cy="2921525"/>
            </a:xfrm>
            <a:custGeom>
              <a:avLst/>
              <a:gdLst/>
              <a:ahLst/>
              <a:cxnLst/>
              <a:rect r="r" b="b" t="t" l="l"/>
              <a:pathLst>
                <a:path h="2921525" w="3895366">
                  <a:moveTo>
                    <a:pt x="0" y="0"/>
                  </a:moveTo>
                  <a:lnTo>
                    <a:pt x="3895366" y="0"/>
                  </a:lnTo>
                  <a:lnTo>
                    <a:pt x="3895366" y="2921525"/>
                  </a:lnTo>
                  <a:lnTo>
                    <a:pt x="0" y="2921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895366" y="4952207"/>
              <a:ext cx="2897442" cy="2873359"/>
            </a:xfrm>
            <a:custGeom>
              <a:avLst/>
              <a:gdLst/>
              <a:ahLst/>
              <a:cxnLst/>
              <a:rect r="r" b="b" t="t" l="l"/>
              <a:pathLst>
                <a:path h="2873359" w="2897442">
                  <a:moveTo>
                    <a:pt x="0" y="0"/>
                  </a:moveTo>
                  <a:lnTo>
                    <a:pt x="2897442" y="0"/>
                  </a:lnTo>
                  <a:lnTo>
                    <a:pt x="2897442" y="2873360"/>
                  </a:lnTo>
                  <a:lnTo>
                    <a:pt x="0" y="287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9" r="0" b="-419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11980" y="4928125"/>
              <a:ext cx="2921525" cy="2921525"/>
            </a:xfrm>
            <a:custGeom>
              <a:avLst/>
              <a:gdLst/>
              <a:ahLst/>
              <a:cxnLst/>
              <a:rect r="r" b="b" t="t" l="l"/>
              <a:pathLst>
                <a:path h="2921525" w="2921525">
                  <a:moveTo>
                    <a:pt x="0" y="0"/>
                  </a:moveTo>
                  <a:lnTo>
                    <a:pt x="2921524" y="0"/>
                  </a:lnTo>
                  <a:lnTo>
                    <a:pt x="2921524" y="2921524"/>
                  </a:lnTo>
                  <a:lnTo>
                    <a:pt x="0" y="2921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758904" y="4952207"/>
              <a:ext cx="2897442" cy="2897442"/>
            </a:xfrm>
            <a:custGeom>
              <a:avLst/>
              <a:gdLst/>
              <a:ahLst/>
              <a:cxnLst/>
              <a:rect r="r" b="b" t="t" l="l"/>
              <a:pathLst>
                <a:path h="2897442" w="2897442">
                  <a:moveTo>
                    <a:pt x="0" y="0"/>
                  </a:moveTo>
                  <a:lnTo>
                    <a:pt x="2897442" y="0"/>
                  </a:lnTo>
                  <a:lnTo>
                    <a:pt x="2897442" y="2897442"/>
                  </a:lnTo>
                  <a:lnTo>
                    <a:pt x="0" y="289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6666" t="0" r="-16666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955398" y="4864535"/>
              <a:ext cx="3072906" cy="3193045"/>
            </a:xfrm>
            <a:custGeom>
              <a:avLst/>
              <a:gdLst/>
              <a:ahLst/>
              <a:cxnLst/>
              <a:rect r="r" b="b" t="t" l="l"/>
              <a:pathLst>
                <a:path h="3193045" w="3072906">
                  <a:moveTo>
                    <a:pt x="0" y="0"/>
                  </a:moveTo>
                  <a:lnTo>
                    <a:pt x="3072906" y="0"/>
                  </a:lnTo>
                  <a:lnTo>
                    <a:pt x="3072906" y="3193044"/>
                  </a:lnTo>
                  <a:lnTo>
                    <a:pt x="0" y="3193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390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053704" y="4864535"/>
              <a:ext cx="4818417" cy="3227193"/>
            </a:xfrm>
            <a:custGeom>
              <a:avLst/>
              <a:gdLst/>
              <a:ahLst/>
              <a:cxnLst/>
              <a:rect r="r" b="b" t="t" l="l"/>
              <a:pathLst>
                <a:path h="3227193" w="4818417">
                  <a:moveTo>
                    <a:pt x="0" y="0"/>
                  </a:moveTo>
                  <a:lnTo>
                    <a:pt x="4818417" y="0"/>
                  </a:lnTo>
                  <a:lnTo>
                    <a:pt x="4818417" y="3227193"/>
                  </a:lnTo>
                  <a:lnTo>
                    <a:pt x="0" y="322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527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4056698" y="-22637"/>
              <a:ext cx="2488406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5" tooltip="https://huggingface.co/stable-diffusion-v1-5/stable-diffusion-v1-5"/>
                </a:rPr>
                <a:t>Stabl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6" tooltip="https://huggingface.co/stable-diffusion-v1-5/stable-diffusion-v1-5"/>
                </a:rPr>
                <a:t>e Diffusion v1.5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105862" y="-28575"/>
              <a:ext cx="2347714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7" tooltip="https://huggingface.co/stabilityai/stable-diffusion-xl-base-1.0"/>
                </a:rPr>
                <a:t>Stabl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8" tooltip="https://huggingface.co/stabilityai/stable-diffusion-xl-base-1.0"/>
                </a:rPr>
                <a:t>e Diffusion XL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1038890" y="-28575"/>
              <a:ext cx="625078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Mask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2955398" y="-28575"/>
              <a:ext cx="3193045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Masked </a:t>
              </a: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9" tooltip="https://huggingface.co/stabilityai/stable-diffusion-xl-base-1.0"/>
                </a:rPr>
                <a:t>Stable Diffusion XL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6613823" y="-22637"/>
              <a:ext cx="319304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ChatGPT 5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294168" y="1994955"/>
            <a:ext cx="28932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64750" y="911500"/>
            <a:ext cx="10558499" cy="4232000"/>
            <a:chOff x="0" y="0"/>
            <a:chExt cx="14077999" cy="56426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123862" y="974702"/>
              <a:ext cx="6954137" cy="4667965"/>
            </a:xfrm>
            <a:custGeom>
              <a:avLst/>
              <a:gdLst/>
              <a:ahLst/>
              <a:cxnLst/>
              <a:rect r="r" b="b" t="t" l="l"/>
              <a:pathLst>
                <a:path h="4667965" w="6954137">
                  <a:moveTo>
                    <a:pt x="0" y="0"/>
                  </a:moveTo>
                  <a:lnTo>
                    <a:pt x="6954137" y="0"/>
                  </a:lnTo>
                  <a:lnTo>
                    <a:pt x="6954137" y="4667964"/>
                  </a:lnTo>
                  <a:lnTo>
                    <a:pt x="0" y="4667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974702"/>
              <a:ext cx="6255229" cy="4667965"/>
            </a:xfrm>
            <a:custGeom>
              <a:avLst/>
              <a:gdLst/>
              <a:ahLst/>
              <a:cxnLst/>
              <a:rect r="r" b="b" t="t" l="l"/>
              <a:pathLst>
                <a:path h="4667965" w="6255229">
                  <a:moveTo>
                    <a:pt x="0" y="0"/>
                  </a:moveTo>
                  <a:lnTo>
                    <a:pt x="6255229" y="0"/>
                  </a:lnTo>
                  <a:lnTo>
                    <a:pt x="6255229" y="4667964"/>
                  </a:lnTo>
                  <a:lnTo>
                    <a:pt x="0" y="4667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342965" y="-28575"/>
              <a:ext cx="2700924" cy="334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Nano Banana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25841" y="5648325"/>
            <a:ext cx="12213166" cy="3844549"/>
            <a:chOff x="0" y="0"/>
            <a:chExt cx="16284222" cy="5126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88094"/>
              <a:ext cx="4687018" cy="3925206"/>
            </a:xfrm>
            <a:custGeom>
              <a:avLst/>
              <a:gdLst/>
              <a:ahLst/>
              <a:cxnLst/>
              <a:rect r="r" b="b" t="t" l="l"/>
              <a:pathLst>
                <a:path h="3925206" w="4687018">
                  <a:moveTo>
                    <a:pt x="0" y="0"/>
                  </a:moveTo>
                  <a:lnTo>
                    <a:pt x="4687018" y="0"/>
                  </a:lnTo>
                  <a:lnTo>
                    <a:pt x="4687018" y="3925206"/>
                  </a:lnTo>
                  <a:lnTo>
                    <a:pt x="0" y="3925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661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114226" y="1492688"/>
              <a:ext cx="4973267" cy="3320612"/>
            </a:xfrm>
            <a:custGeom>
              <a:avLst/>
              <a:gdLst/>
              <a:ahLst/>
              <a:cxnLst/>
              <a:rect r="r" b="b" t="t" l="l"/>
              <a:pathLst>
                <a:path h="3320612" w="4973267">
                  <a:moveTo>
                    <a:pt x="0" y="0"/>
                  </a:moveTo>
                  <a:lnTo>
                    <a:pt x="4973267" y="0"/>
                  </a:lnTo>
                  <a:lnTo>
                    <a:pt x="4973267" y="3320612"/>
                  </a:lnTo>
                  <a:lnTo>
                    <a:pt x="0" y="332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2872654" y="888094"/>
              <a:ext cx="3411568" cy="4237972"/>
            </a:xfrm>
            <a:custGeom>
              <a:avLst/>
              <a:gdLst/>
              <a:ahLst/>
              <a:cxnLst/>
              <a:rect r="r" b="b" t="t" l="l"/>
              <a:pathLst>
                <a:path h="4237972" w="3411568">
                  <a:moveTo>
                    <a:pt x="0" y="0"/>
                  </a:moveTo>
                  <a:lnTo>
                    <a:pt x="3411568" y="0"/>
                  </a:lnTo>
                  <a:lnTo>
                    <a:pt x="3411568" y="4237972"/>
                  </a:lnTo>
                  <a:lnTo>
                    <a:pt x="0" y="423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994844" y="-28575"/>
              <a:ext cx="2700924" cy="334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inpaint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645207" y="3124419"/>
              <a:ext cx="2700924" cy="334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589687" y="3124419"/>
              <a:ext cx="2700924" cy="334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=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37831" y="648222"/>
            <a:ext cx="11812338" cy="309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SELECTION &amp; S</a:t>
            </a:r>
            <a:r>
              <a:rPr lang="en-US" b="true" sz="5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YNTHETIC DATASET CREATION</a:t>
            </a:r>
          </a:p>
          <a:p>
            <a:pPr algn="ctr">
              <a:lnSpc>
                <a:spcPts val="82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16614" y="3103633"/>
            <a:ext cx="12454772" cy="615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b="true" sz="29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Top Text-to-Image</a:t>
            </a: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model selected from Track A</a:t>
            </a:r>
          </a:p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b="true" sz="29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Top Image-to-Image</a:t>
            </a: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models selected from Track B</a:t>
            </a:r>
          </a:p>
          <a:p>
            <a:pPr algn="l">
              <a:lnSpc>
                <a:spcPts val="4116"/>
              </a:lnSpc>
            </a:pPr>
          </a:p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Using these models(from each ):</a:t>
            </a:r>
          </a:p>
          <a:p>
            <a:pPr algn="l">
              <a:lnSpc>
                <a:spcPts val="4116"/>
              </a:lnSpc>
            </a:pPr>
          </a:p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b="true" sz="29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Generate 300-350 synthetic images</a:t>
            </a: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including</a:t>
            </a:r>
            <a:r>
              <a:rPr lang="en-US" b="true" sz="29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falls and non-falls</a:t>
            </a:r>
          </a:p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b="true" sz="29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Label each image</a:t>
            </a: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accordingly for fall-detection training</a:t>
            </a:r>
          </a:p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Scenes reflect public spaces: streets, sidewalks, parks, crowds, and variable lighting</a:t>
            </a:r>
          </a:p>
          <a:p>
            <a:pPr algn="l" marL="634806" indent="-317403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Images serve as the synthetic dataset for the fall-detection stage</a:t>
            </a:r>
          </a:p>
          <a:p>
            <a:pPr algn="l">
              <a:lnSpc>
                <a:spcPts val="411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93352" y="1303998"/>
            <a:ext cx="12841654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PHASE</a:t>
            </a: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2: FALL DETECTION USING LBFD-NET</a:t>
            </a:r>
          </a:p>
          <a:p>
            <a:pPr algn="ctr">
              <a:lnSpc>
                <a:spcPts val="7080"/>
              </a:lnSpc>
            </a:pPr>
          </a:p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69540" y="3661934"/>
            <a:ext cx="14089277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Afte</a:t>
            </a:r>
            <a:r>
              <a:rPr lang="en-US" sz="3500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 generating the synthetic dataset, the second phase focuses on evaluating LBFD-Net under different training conditions.</a:t>
            </a: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b="true" sz="3500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Goal:</a:t>
            </a: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Assess how different training datasets affect performance on both laboratory and synthetic public-space environments.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93352" y="1081190"/>
            <a:ext cx="1284165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DATASET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9540" y="2673143"/>
            <a:ext cx="14089277" cy="7551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3"/>
              </a:lnSpc>
            </a:pPr>
            <a:r>
              <a:rPr lang="en-US" sz="31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LBFD-Net Training Data Composition</a:t>
            </a:r>
          </a:p>
          <a:p>
            <a:pPr algn="l">
              <a:lnSpc>
                <a:spcPts val="5053"/>
              </a:lnSpc>
            </a:pPr>
          </a:p>
          <a:p>
            <a:pPr algn="l">
              <a:lnSpc>
                <a:spcPts val="5053"/>
              </a:lnSpc>
            </a:pPr>
            <a:r>
              <a:rPr lang="en-US" sz="3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Four different training datasets were used to evaluate the impact of real versus synthetic data on fall detection performance:</a:t>
            </a:r>
          </a:p>
          <a:p>
            <a:pPr algn="l" marL="669293" indent="-334646" lvl="1">
              <a:lnSpc>
                <a:spcPts val="5053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One real laboratory dataset</a:t>
            </a:r>
          </a:p>
          <a:p>
            <a:pPr algn="l" marL="669293" indent="-334646" lvl="1">
              <a:lnSpc>
                <a:spcPts val="5053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Three independent synthetic datasets generated using different generative models</a:t>
            </a:r>
          </a:p>
          <a:p>
            <a:pPr algn="l" marL="669293" indent="-334646" lvl="1">
              <a:lnSpc>
                <a:spcPts val="5053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300- 350 manually labeled images per dataset</a:t>
            </a:r>
          </a:p>
          <a:p>
            <a:pPr algn="l">
              <a:lnSpc>
                <a:spcPts val="5053"/>
              </a:lnSpc>
            </a:pPr>
          </a:p>
          <a:p>
            <a:pPr algn="l">
              <a:lnSpc>
                <a:spcPts val="5053"/>
              </a:lnSpc>
            </a:pPr>
            <a:r>
              <a:rPr lang="en-US" sz="3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dataset was used to train a separate LBFD-Net model.</a:t>
            </a:r>
          </a:p>
          <a:p>
            <a:pPr algn="l">
              <a:lnSpc>
                <a:spcPts val="4727"/>
              </a:lnSpc>
            </a:pPr>
          </a:p>
          <a:p>
            <a:pPr algn="l" marL="0" indent="0" lvl="0">
              <a:lnSpc>
                <a:spcPts val="47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93352" y="1081190"/>
            <a:ext cx="1284165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LABORATORY-ONLY </a:t>
            </a: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9540" y="2323212"/>
            <a:ext cx="14089277" cy="796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 Controlled Environment Data</a:t>
            </a:r>
          </a:p>
          <a:p>
            <a:pPr algn="l">
              <a:lnSpc>
                <a:spcPts val="4238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dataset contains only real fall and non-fall images captured under controlled laboratory conditions.</a:t>
            </a:r>
          </a:p>
          <a:p>
            <a:pPr algn="l">
              <a:lnSpc>
                <a:spcPts val="4238"/>
              </a:lnSpc>
            </a:pPr>
          </a:p>
          <a:p>
            <a:pPr algn="l">
              <a:lnSpc>
                <a:spcPts val="4238"/>
              </a:lnSpc>
            </a:pPr>
            <a:r>
              <a:rPr lang="en-US" sz="2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Characteristics: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Stable and uniform lighting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Fixed camera positions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Simple, uncluttered indoor backgrounds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crowds or outdoor elements</a:t>
            </a:r>
          </a:p>
          <a:p>
            <a:pPr algn="l">
              <a:lnSpc>
                <a:spcPts val="4238"/>
              </a:lnSpc>
            </a:pPr>
          </a:p>
          <a:p>
            <a:pPr algn="l">
              <a:lnSpc>
                <a:spcPts val="4238"/>
              </a:lnSpc>
            </a:pPr>
            <a:r>
              <a:rPr lang="en-US" sz="2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Purpose: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Represents the traditional experimental setup commonly used in fall detection research</a:t>
            </a:r>
          </a:p>
          <a:p>
            <a:pPr algn="l" marL="561345" indent="-280673" lvl="1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Serves as a baseline for in-domain performance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77463" y="1251829"/>
            <a:ext cx="1473307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DATASETS 2-4: SYNTHETIC </a:t>
            </a: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SETS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9540" y="2942298"/>
            <a:ext cx="14089277" cy="588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sz="31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Generative Model–Ba</a:t>
            </a:r>
            <a:r>
              <a:rPr lang="en-US" sz="31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sed Datasets</a:t>
            </a:r>
          </a:p>
          <a:p>
            <a:pPr algn="l">
              <a:lnSpc>
                <a:spcPts val="5215"/>
              </a:lnSpc>
            </a:pP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generative model selected in Phase 1 produced an independent synthetic dataset.</a:t>
            </a:r>
          </a:p>
          <a:p>
            <a:pPr algn="l">
              <a:lnSpc>
                <a:spcPts val="5215"/>
              </a:lnSpc>
            </a:pPr>
          </a:p>
          <a:p>
            <a:pPr algn="l">
              <a:lnSpc>
                <a:spcPts val="5215"/>
              </a:lnSpc>
            </a:pPr>
            <a:r>
              <a:rPr lang="en-US" sz="31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</a:t>
            </a:r>
            <a:r>
              <a:rPr lang="en-US" sz="31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ataset Details:</a:t>
            </a:r>
          </a:p>
          <a:p>
            <a:pPr algn="l" marL="690877" indent="-345439" lvl="1">
              <a:lnSpc>
                <a:spcPts val="521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300–350</a:t>
            </a: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manually labeled synthetic images per dataset</a:t>
            </a:r>
          </a:p>
          <a:p>
            <a:pPr algn="l" marL="690877" indent="-345439" lvl="1">
              <a:lnSpc>
                <a:spcPts val="521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</a:t>
            </a: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 dataset per generative model</a:t>
            </a:r>
          </a:p>
          <a:p>
            <a:pPr algn="l" marL="690877" indent="-345439" lvl="1">
              <a:lnSpc>
                <a:spcPts val="521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Fall and non-fall scenarios included</a:t>
            </a:r>
          </a:p>
          <a:p>
            <a:pPr algn="l" marL="0" indent="0" lvl="0">
              <a:lnSpc>
                <a:spcPts val="52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71458" y="1119290"/>
            <a:ext cx="15147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CHARACTERISTICS OF SYNTHETIC D</a:t>
            </a: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ATASETS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9361" y="2621866"/>
            <a:ext cx="14089277" cy="716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6"/>
              </a:lnSpc>
            </a:pPr>
            <a:r>
              <a:rPr lang="en-US" sz="28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Simulat</a:t>
            </a:r>
            <a:r>
              <a:rPr lang="en-US" sz="28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ed Public-Space Conditions</a:t>
            </a:r>
          </a:p>
          <a:p>
            <a:pPr algn="l">
              <a:lnSpc>
                <a:spcPts val="4726"/>
              </a:lnSpc>
            </a:pPr>
          </a:p>
          <a:p>
            <a:pPr algn="l">
              <a:lnSpc>
                <a:spcPts val="4726"/>
              </a:lnSpc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synthetic dataset includes:</a:t>
            </a:r>
          </a:p>
          <a:p>
            <a:pPr algn="l" marL="626109" indent="-313054" lvl="1">
              <a:lnSpc>
                <a:spcPts val="472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Diverse indoor and outdoor backgrounds</a:t>
            </a:r>
          </a:p>
          <a:p>
            <a:pPr algn="l" marL="626109" indent="-313054" lvl="1">
              <a:lnSpc>
                <a:spcPts val="472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Variable and non-uniform lighting conditions</a:t>
            </a:r>
          </a:p>
          <a:p>
            <a:pPr algn="l" marL="626109" indent="-313054" lvl="1">
              <a:lnSpc>
                <a:spcPts val="472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Multiple people present in the background</a:t>
            </a:r>
          </a:p>
          <a:p>
            <a:pPr algn="l" marL="626109" indent="-313054" lvl="1">
              <a:lnSpc>
                <a:spcPts val="472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Naturalistic and unconstrained fall poses</a:t>
            </a:r>
          </a:p>
          <a:p>
            <a:pPr algn="l">
              <a:lnSpc>
                <a:spcPts val="4726"/>
              </a:lnSpc>
            </a:pPr>
          </a:p>
          <a:p>
            <a:pPr algn="l">
              <a:lnSpc>
                <a:spcPts val="4726"/>
              </a:lnSpc>
            </a:pPr>
            <a:r>
              <a:rPr lang="en-US" sz="28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Motivation:</a:t>
            </a:r>
          </a:p>
          <a:p>
            <a:pPr algn="l" marL="626109" indent="-313054" lvl="1">
              <a:lnSpc>
                <a:spcPts val="472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</a:t>
            </a: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mulates uncontrolled public environments</a:t>
            </a:r>
          </a:p>
          <a:p>
            <a:pPr algn="l" marL="626109" indent="-313054" lvl="1">
              <a:lnSpc>
                <a:spcPts val="4726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Addresses the impracticality and ethical challenges of collecting real fall images in public spaces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71458" y="1119290"/>
            <a:ext cx="15147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UNIFIED TEST S</a:t>
            </a: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1074" y="3163489"/>
            <a:ext cx="14089277" cy="522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6"/>
              </a:lnSpc>
            </a:pP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Consist</a:t>
            </a: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 Evaluation Across Models</a:t>
            </a:r>
          </a:p>
          <a:p>
            <a:pPr algn="l">
              <a:lnSpc>
                <a:spcPts val="5216"/>
              </a:lnSpc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All four LBFD-Net models were evaluated using a single unified test set.</a:t>
            </a:r>
          </a:p>
          <a:p>
            <a:pPr algn="l">
              <a:lnSpc>
                <a:spcPts val="5216"/>
              </a:lnSpc>
            </a:pPr>
          </a:p>
          <a:p>
            <a:pPr algn="l">
              <a:lnSpc>
                <a:spcPts val="5216"/>
              </a:lnSpc>
            </a:pP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Construction Principles: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Images sourced from both laboratory and synthetic datasets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nly 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mages not used during training were included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Ensures fair and consistent comparison between models</a:t>
            </a:r>
          </a:p>
          <a:p>
            <a:pPr algn="l">
              <a:lnSpc>
                <a:spcPts val="52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71458" y="1119290"/>
            <a:ext cx="15147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TEST S</a:t>
            </a: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 COMPOSITION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1074" y="2717927"/>
            <a:ext cx="14089277" cy="654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6"/>
              </a:lnSpc>
            </a:pP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Evaluation Scenarios</a:t>
            </a:r>
          </a:p>
          <a:p>
            <a:pPr algn="l">
              <a:lnSpc>
                <a:spcPts val="5216"/>
              </a:lnSpc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 unified test set consists of two subsets:</a:t>
            </a:r>
          </a:p>
          <a:p>
            <a:pPr algn="l" marL="690881" indent="-345440" lvl="1">
              <a:lnSpc>
                <a:spcPts val="5216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 Laboratory Test Images</a:t>
            </a:r>
          </a:p>
          <a:p>
            <a:pPr algn="l" marL="1381761" indent="-460587" lvl="2">
              <a:lnSpc>
                <a:spcPts val="5216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Unsee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 real indoor 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mages</a:t>
            </a:r>
          </a:p>
          <a:p>
            <a:pPr algn="l" marL="1381761" indent="-460587" lvl="2">
              <a:lnSpc>
                <a:spcPts val="5216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Used to evaluate in-domain and controlled-environment performance</a:t>
            </a:r>
          </a:p>
          <a:p>
            <a:pPr algn="l" marL="690881" indent="-345440" lvl="1">
              <a:lnSpc>
                <a:spcPts val="5216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Synthetic Public-Space Test Images</a:t>
            </a:r>
          </a:p>
          <a:p>
            <a:pPr algn="l" marL="1381761" indent="-460587" lvl="2">
              <a:lnSpc>
                <a:spcPts val="5216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Unseen synthetic images</a:t>
            </a:r>
          </a:p>
          <a:p>
            <a:pPr algn="l" marL="1381761" indent="-460587" lvl="2">
              <a:lnSpc>
                <a:spcPts val="5216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Designed to mimic real-world public environments</a:t>
            </a:r>
          </a:p>
          <a:p>
            <a:pPr algn="l">
              <a:lnSpc>
                <a:spcPts val="52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71458" y="1119290"/>
            <a:ext cx="15147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EVALUATION OBJ</a:t>
            </a:r>
            <a:r>
              <a:rPr lang="en-US" b="true" sz="5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9361" y="2942298"/>
            <a:ext cx="14089277" cy="58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6"/>
              </a:lnSpc>
            </a:pP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Assessing Generalization Capability</a:t>
            </a:r>
          </a:p>
          <a:p>
            <a:pPr algn="l">
              <a:lnSpc>
                <a:spcPts val="5216"/>
              </a:lnSpc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 evaluation setup enables: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Dir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ect comparison of model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trained on d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iff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erent data types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Analysis of domain shift between laboratory and public-space environments</a:t>
            </a:r>
          </a:p>
          <a:p>
            <a:pPr algn="l" marL="690881" indent="-345440" lvl="1">
              <a:lnSpc>
                <a:spcPts val="52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Mea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surement of how synthetic data influences the generalization performance of LBFD-Net</a:t>
            </a:r>
          </a:p>
          <a:p>
            <a:pPr algn="l">
              <a:lnSpc>
                <a:spcPts val="5216"/>
              </a:lnSpc>
            </a:pPr>
          </a:p>
          <a:p>
            <a:pPr algn="l">
              <a:lnSpc>
                <a:spcPts val="52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93352" y="1081190"/>
            <a:ext cx="1284165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EV</a:t>
            </a: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ALUATION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1074" y="2442033"/>
            <a:ext cx="14089277" cy="596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7"/>
              </a:lnSpc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trained model is evaluated using:</a:t>
            </a:r>
          </a:p>
          <a:p>
            <a:pPr algn="l">
              <a:lnSpc>
                <a:spcPts val="4727"/>
              </a:lnSpc>
            </a:pPr>
          </a:p>
          <a:p>
            <a:pPr algn="l">
              <a:lnSpc>
                <a:spcPts val="4727"/>
              </a:lnSpc>
            </a:pPr>
            <a:r>
              <a:rPr lang="en-US" sz="29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</a:t>
            </a:r>
            <a:r>
              <a:rPr lang="en-US" sz="29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lassification Metrics</a:t>
            </a:r>
          </a:p>
          <a:p>
            <a:pPr algn="l" marL="626111" indent="-313055" lvl="1">
              <a:lnSpc>
                <a:spcPts val="4727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Accuracy</a:t>
            </a:r>
          </a:p>
          <a:p>
            <a:pPr algn="l" marL="626111" indent="-313055" lvl="1">
              <a:lnSpc>
                <a:spcPts val="4727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Precision</a:t>
            </a:r>
          </a:p>
          <a:p>
            <a:pPr algn="l" marL="626111" indent="-313055" lvl="1">
              <a:lnSpc>
                <a:spcPts val="4727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F1-Score</a:t>
            </a:r>
          </a:p>
          <a:p>
            <a:pPr algn="l">
              <a:lnSpc>
                <a:spcPts val="4727"/>
              </a:lnSpc>
            </a:pPr>
          </a:p>
          <a:p>
            <a:pPr algn="l">
              <a:lnSpc>
                <a:spcPts val="4727"/>
              </a:lnSpc>
            </a:pPr>
            <a:r>
              <a:rPr lang="en-US" sz="29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Curve-Based Metrics</a:t>
            </a:r>
          </a:p>
          <a:p>
            <a:pPr algn="l" marL="626111" indent="-313055" lvl="1">
              <a:lnSpc>
                <a:spcPts val="4727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ROC</a:t>
            </a: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Curve</a:t>
            </a:r>
          </a:p>
          <a:p>
            <a:pPr algn="l" marL="626111" indent="-313055" lvl="1">
              <a:lnSpc>
                <a:spcPts val="4727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AUC Score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3658118" y="1967015"/>
          <a:ext cx="10971764" cy="7236499"/>
        </p:xfrm>
        <a:graphic>
          <a:graphicData uri="http://schemas.openxmlformats.org/drawingml/2006/table">
            <a:tbl>
              <a:tblPr/>
              <a:tblGrid>
                <a:gridCol w="2742941"/>
                <a:gridCol w="2742941"/>
                <a:gridCol w="2742941"/>
                <a:gridCol w="2742941"/>
              </a:tblGrid>
              <a:tr h="1447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447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LBFD Net - Lab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(Dataset1)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7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LBFD Net - Dataset2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7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LBFD Net - Dataset3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7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LBFD Net - Dataset4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DAG5VnGzwYc</dc:identifier>
  <dcterms:modified xsi:type="dcterms:W3CDTF">2011-08-01T06:04:30Z</dcterms:modified>
  <cp:revision>1</cp:revision>
  <dc:title>עותק של עותק של Presentation</dc:title>
</cp:coreProperties>
</file>